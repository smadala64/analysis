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the official Delta Dental of Michigan logo in the clear area at the top left. Set expectations in the first sentence: a member-scope check does exist, it is real, and it is not yet a gate. This version is corrected against a code read; an earlier draft of these diagrams overstated the control and should not be circulated.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replaces the earlier claim of a universal deterministic gate. Be straightforward: the design intent is right, the implementation covers one tool. Statement 3 is the one security will care about most, because the prompt actively steers the common question to the unchecked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router first: no verified member in state means identity proofing runs before anything is served, and the original request only resumes once the verified member and patient set is written — so an unverified caller cannot reach a capability at all. Then the three capabilities: the two benefit paths refuse an unverified patient, and the enrollment path matches the patient and builds its request from saved state, but on a miss it calls anyway and leans on the service to refuse. That is the amber box — a narrow fail-open, not a missing check. The structural point is that all of this is per capability rather than at dispatch. Finally, the grey panel is one process, and the session history endpoint on the left is a second client-reachable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the structural question rather than the runtime one: what would have to change, and what does a new capability inherit. Read it top down — client, API surface, orchestration, capabilities, the adapters that reach outward, the MCP and state providers, and the backend services behind them. Two things to point at. First, the green box: the member-scope policy is a dependency of the benefit capability, not of tool dispatch, so nothing in the orchestration layer publishes or requires it — that is the same finding as the architecture slide, stated as structure. Second, the only dependency that leaves the organization is the chat completions interface to Azure OpenAI; every other dependency terminates on an internal component. The validation toolset has no member-scope dependency by design, because it is what creates verified state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verification is not optional and not concurrent — the original request is parked until it completes. Two details worth calling out. Step 5: only the validation tools are bound on this path. Step 12 and the note under it: verified state is written on a verification success and nothing else, so an abandoned or failed attempt leaves nothing behind that a later request could pick up. The validation tools have no verified-patient check because they are what creates verification; they do their own member and contact lookups and return either an outcome or no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Walk steps 6 through 10 slowly. The model proposes a patient — that is a selection from context, not an assertion of identity, and nothing is authorized at dispatch. The validator reads the verified set from session state and tests the requested patient against it. On a match, note that the downstream request is built from session state rather than from the model's arguments. On a miss the benefits service is never called, so a hallucinated or injected patient fails closed. If asked the obvious question — what if the model invents a patient id — this diagram is the answer. The caveat to state honestly is step 7: nothing is checked at dispatch itself, so this is a property of the capability rather than of the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second one if time is short: it is the one an attacker or a confused member reaches by accident, because the prompt routes the most common question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PII finding is the one a privacy reviewer will pick up independently, so it is better for us to raise it. Nothing here says the prompt payload is wrong — it says there is no layer that would stop it growing.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findings, one object. Lead with the relationship rather than the severities: the first is about whether the saved session state can be trusted, the second is about who can read it back. On the critical one, keep the qualification the scan itself makes — the forgery and deserialization impact is conditional on cache-write access, so the honest framing is that the store holding our identity decision has no integrity control, not that remote code execution is demonstrated. The point to land is that the member-scope check on the earlier slides reads its answer out of this checkpoint, so these two gaps sit underneath the control rather than beside it. Confidence scores are the scan's own and are shown so no one has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a single fix, it is number one: the benefit capabilities do enforce scope today, but that is a property of each capability rather than of the architecture, so it has to be re-earned every time a tool is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F12"/>
        </a:solidFill>
      </p:bgPr>
    </p:bg>
    <p:spTree>
      <p:nvGrpSpPr>
        <p:cNvPr id="1" name=""/>
        <p:cNvGrpSpPr/>
        <p:nvPr/>
      </p:nvGrpSpPr>
      <p:grpSpPr>
        <a:xfrm>
          <a:off x="0" y="0"/>
          <a:ext cx="0" cy="0"/>
          <a:chOff x="0" y="0"/>
          <a:chExt cx="0" cy="0"/>
        </a:xfrm>
      </p:grpSpPr>
      <p:sp>
        <p:nvSpPr>
          <p:cNvPr id="2" name="Text 0"/>
          <p:cNvSpPr txBox="1"/>
          <p:nvPr/>
        </p:nvSpPr>
        <p:spPr>
          <a:xfrm>
            <a:off x="548640" y="2331720"/>
            <a:ext cx="8686800" cy="274320"/>
          </a:xfrm>
          <a:prstGeom prst="rect">
            <a:avLst/>
          </a:prstGeom>
          <a:noFill/>
          <a:ln/>
        </p:spPr>
        <p:txBody>
          <a:bodyPr wrap="square" lIns="0" tIns="0" rIns="0" bIns="0" rtlCol="0" anchor="ctr"/>
          <a:lstStyle/>
          <a:p>
            <a:pPr indent="0" marL="0">
              <a:buNone/>
            </a:pPr>
            <a:r>
              <a:rPr lang="en-US" sz="1150" b="1" spc="220" kern="0" dirty="0">
                <a:solidFill>
                  <a:srgbClr val="C9DFCD"/>
                </a:solidFill>
                <a:latin typeface="Calibri" pitchFamily="34" charset="0"/>
                <a:ea typeface="Calibri" pitchFamily="34" charset="-122"/>
                <a:cs typeface="Calibri" pitchFamily="34" charset="-120"/>
              </a:rPr>
              <a:t>SECURITY ARCHITECTURE REVIEW</a:t>
            </a:r>
            <a:endParaRPr lang="en-US" sz="1150" dirty="0"/>
          </a:p>
        </p:txBody>
      </p:sp>
      <p:sp>
        <p:nvSpPr>
          <p:cNvPr id="3" name="Text 1"/>
          <p:cNvSpPr txBox="1"/>
          <p:nvPr/>
        </p:nvSpPr>
        <p:spPr>
          <a:xfrm>
            <a:off x="548640" y="2697480"/>
            <a:ext cx="9601200" cy="1737360"/>
          </a:xfrm>
          <a:prstGeom prst="rect">
            <a:avLst/>
          </a:prstGeom>
          <a:noFill/>
          <a:ln/>
        </p:spPr>
        <p:txBody>
          <a:bodyPr wrap="square" lIns="0" tIns="0" rIns="0" bIns="0" rtlCol="0" anchor="ctr"/>
          <a:lstStyle/>
          <a:p>
            <a:pPr indent="0" marL="0">
              <a:lnSpc>
                <a:spcPct val="98000"/>
              </a:lnSpc>
              <a:buNone/>
            </a:pPr>
            <a:r>
              <a:rPr lang="en-US" sz="4400" b="1" dirty="0">
                <a:solidFill>
                  <a:srgbClr val="FFFFFF"/>
                </a:solidFill>
                <a:latin typeface="Cambria" pitchFamily="34" charset="0"/>
                <a:ea typeface="Cambria" pitchFamily="34" charset="-122"/>
                <a:cs typeface="Cambria" pitchFamily="34" charset="-120"/>
              </a:rPr>
              <a:t>Member Chatbot</a:t>
            </a:r>
            <a:endParaRPr lang="en-US" sz="4400" dirty="0"/>
          </a:p>
          <a:p>
            <a:pPr indent="0" marL="0">
              <a:lnSpc>
                <a:spcPct val="98000"/>
              </a:lnSpc>
              <a:buNone/>
            </a:pPr>
            <a:r>
              <a:rPr lang="en-US" sz="4400" b="1" dirty="0">
                <a:solidFill>
                  <a:srgbClr val="FFFFFF"/>
                </a:solidFill>
                <a:latin typeface="Cambria" pitchFamily="34" charset="0"/>
                <a:ea typeface="Cambria" pitchFamily="34" charset="-122"/>
                <a:cs typeface="Cambria" pitchFamily="34" charset="-120"/>
              </a:rPr>
              <a:t>Identity Control</a:t>
            </a:r>
            <a:endParaRPr lang="en-US" sz="4400" dirty="0"/>
          </a:p>
        </p:txBody>
      </p:sp>
      <p:sp>
        <p:nvSpPr>
          <p:cNvPr id="4" name="Text 2"/>
          <p:cNvSpPr txBox="1"/>
          <p:nvPr/>
        </p:nvSpPr>
        <p:spPr>
          <a:xfrm>
            <a:off x="548640" y="4526280"/>
            <a:ext cx="8412480" cy="502920"/>
          </a:xfrm>
          <a:prstGeom prst="rect">
            <a:avLst/>
          </a:prstGeom>
          <a:noFill/>
          <a:ln/>
        </p:spPr>
        <p:txBody>
          <a:bodyPr wrap="square" lIns="0" tIns="0" rIns="0" bIns="0" rtlCol="0" anchor="ctr"/>
          <a:lstStyle/>
          <a:p>
            <a:pPr indent="0" marL="0">
              <a:lnSpc>
                <a:spcPct val="110000"/>
              </a:lnSpc>
              <a:buNone/>
            </a:pPr>
            <a:r>
              <a:rPr lang="en-US" sz="1500" dirty="0">
                <a:solidFill>
                  <a:srgbClr val="C9DFCD"/>
                </a:solidFill>
                <a:latin typeface="Calibri" pitchFamily="34" charset="0"/>
                <a:ea typeface="Calibri" pitchFamily="34" charset="-122"/>
                <a:cs typeface="Calibri" pitchFamily="34" charset="-120"/>
              </a:rPr>
              <a:t>Where member identity is enforced today, where it is not, and what closes the gap</a:t>
            </a:r>
            <a:endParaRPr lang="en-US" sz="1500" dirty="0"/>
          </a:p>
        </p:txBody>
      </p:sp>
      <p:sp>
        <p:nvSpPr>
          <p:cNvPr id="5" name="Shape 3"/>
          <p:cNvSpPr/>
          <p:nvPr/>
        </p:nvSpPr>
        <p:spPr>
          <a:xfrm>
            <a:off x="548640" y="5715000"/>
            <a:ext cx="2011680" cy="0"/>
          </a:xfrm>
          <a:prstGeom prst="line">
            <a:avLst/>
          </a:prstGeom>
          <a:noFill/>
          <a:ln w="28575">
            <a:solidFill>
              <a:srgbClr val="5FBF6C"/>
            </a:solidFill>
            <a:prstDash val="solid"/>
          </a:ln>
        </p:spPr>
      </p:sp>
      <p:sp>
        <p:nvSpPr>
          <p:cNvPr id="6" name="Text 4"/>
          <p:cNvSpPr txBox="1"/>
          <p:nvPr/>
        </p:nvSpPr>
        <p:spPr>
          <a:xfrm>
            <a:off x="548640" y="5870448"/>
            <a:ext cx="10058400" cy="274320"/>
          </a:xfrm>
          <a:prstGeom prst="rect">
            <a:avLst/>
          </a:prstGeom>
          <a:noFill/>
          <a:ln/>
        </p:spPr>
        <p:txBody>
          <a:bodyPr wrap="square" lIns="0" tIns="0" rIns="0" bIns="0" rtlCol="0" anchor="ctr"/>
          <a:lstStyle/>
          <a:p>
            <a:pPr indent="0" marL="0">
              <a:buNone/>
            </a:pPr>
            <a:r>
              <a:rPr lang="en-US" sz="1100" dirty="0">
                <a:solidFill>
                  <a:srgbClr val="C9DFCD"/>
                </a:solidFill>
                <a:latin typeface="Calibri" pitchFamily="34" charset="0"/>
                <a:ea typeface="Calibri" pitchFamily="34" charset="-122"/>
                <a:cs typeface="Calibri" pitchFamily="34" charset="-120"/>
              </a:rPr>
              <a:t>Delta Dental of Michigan  ·  September 2026  ·  Internal  ·  Verified against the codebase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75488"/>
            <a:ext cx="6400800" cy="237744"/>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WHAT THE CODE DOES TODAY</a:t>
            </a:r>
            <a:endParaRPr lang="en-US" sz="1000" dirty="0"/>
          </a:p>
        </p:txBody>
      </p:sp>
      <p:sp>
        <p:nvSpPr>
          <p:cNvPr id="3" name="Text 1"/>
          <p:cNvSpPr txBox="1"/>
          <p:nvPr/>
        </p:nvSpPr>
        <p:spPr>
          <a:xfrm>
            <a:off x="548640" y="768096"/>
            <a:ext cx="10607040" cy="530352"/>
          </a:xfrm>
          <a:prstGeom prst="rect">
            <a:avLst/>
          </a:prstGeom>
          <a:noFill/>
          <a:ln/>
        </p:spPr>
        <p:txBody>
          <a:bodyPr wrap="square" lIns="0" tIns="0" rIns="0" bIns="0" rtlCol="0" anchor="ctr"/>
          <a:lstStyle/>
          <a:p>
            <a:pPr indent="0" marL="0">
              <a:buNone/>
            </a:pPr>
            <a:r>
              <a:rPr lang="en-US" sz="3000" b="1" dirty="0">
                <a:solidFill>
                  <a:srgbClr val="1B2620"/>
                </a:solidFill>
                <a:latin typeface="Cambria" pitchFamily="34" charset="0"/>
                <a:ea typeface="Cambria" pitchFamily="34" charset="-122"/>
                <a:cs typeface="Cambria" pitchFamily="34" charset="-120"/>
              </a:rPr>
              <a:t>Verified first, then enforced in each capability</a:t>
            </a:r>
            <a:endParaRPr lang="en-US" sz="3000" dirty="0"/>
          </a:p>
        </p:txBody>
      </p:sp>
      <p:sp>
        <p:nvSpPr>
          <p:cNvPr id="4" name="Shape 2"/>
          <p:cNvSpPr/>
          <p:nvPr/>
        </p:nvSpPr>
        <p:spPr>
          <a:xfrm>
            <a:off x="548640" y="1536192"/>
            <a:ext cx="566928" cy="566928"/>
          </a:xfrm>
          <a:prstGeom prst="rect">
            <a:avLst/>
          </a:prstGeom>
          <a:solidFill>
            <a:srgbClr val="E9F3EA"/>
          </a:solidFill>
          <a:ln/>
        </p:spPr>
      </p:sp>
      <p:sp>
        <p:nvSpPr>
          <p:cNvPr id="5" name="Text 3"/>
          <p:cNvSpPr txBox="1"/>
          <p:nvPr/>
        </p:nvSpPr>
        <p:spPr>
          <a:xfrm>
            <a:off x="548640" y="1536192"/>
            <a:ext cx="566928" cy="566928"/>
          </a:xfrm>
          <a:prstGeom prst="rect">
            <a:avLst/>
          </a:prstGeom>
          <a:noFill/>
          <a:ln/>
        </p:spPr>
        <p:txBody>
          <a:bodyPr wrap="square" lIns="0" tIns="0" rIns="0" bIns="0" rtlCol="0" anchor="ctr"/>
          <a:lstStyle/>
          <a:p>
            <a:pPr algn="ctr" indent="0" marL="0">
              <a:buNone/>
            </a:pPr>
            <a:r>
              <a:rPr lang="en-US" sz="1600" b="1" dirty="0">
                <a:solidFill>
                  <a:srgbClr val="15701F"/>
                </a:solidFill>
                <a:latin typeface="Cambria" pitchFamily="34" charset="0"/>
                <a:ea typeface="Cambria" pitchFamily="34" charset="-122"/>
                <a:cs typeface="Cambria" pitchFamily="34" charset="-120"/>
              </a:rPr>
              <a:t>01</a:t>
            </a:r>
            <a:endParaRPr lang="en-US" sz="1600" dirty="0"/>
          </a:p>
        </p:txBody>
      </p:sp>
      <p:sp>
        <p:nvSpPr>
          <p:cNvPr id="6" name="Text 4"/>
          <p:cNvSpPr txBox="1"/>
          <p:nvPr/>
        </p:nvSpPr>
        <p:spPr>
          <a:xfrm>
            <a:off x="1298448" y="1517904"/>
            <a:ext cx="9509760" cy="310896"/>
          </a:xfrm>
          <a:prstGeom prst="rect">
            <a:avLst/>
          </a:prstGeom>
          <a:noFill/>
          <a:ln/>
        </p:spPr>
        <p:txBody>
          <a:bodyPr wrap="square" lIns="0" tIns="0" rIns="0" bIns="0" rtlCol="0" anchor="ctr"/>
          <a:lstStyle/>
          <a:p>
            <a:pPr indent="0" marL="0">
              <a:buNone/>
            </a:pPr>
            <a:r>
              <a:rPr lang="en-US" sz="1500" b="1" dirty="0">
                <a:solidFill>
                  <a:srgbClr val="1B2620"/>
                </a:solidFill>
                <a:latin typeface="Calibri" pitchFamily="34" charset="0"/>
                <a:ea typeface="Calibri" pitchFamily="34" charset="-122"/>
                <a:cs typeface="Calibri" pitchFamily="34" charset="-120"/>
              </a:rPr>
              <a:t>No request is served before the member is verified</a:t>
            </a:r>
            <a:endParaRPr lang="en-US" sz="1500" dirty="0"/>
          </a:p>
        </p:txBody>
      </p:sp>
      <p:sp>
        <p:nvSpPr>
          <p:cNvPr id="7" name="Text 5"/>
          <p:cNvSpPr txBox="1"/>
          <p:nvPr/>
        </p:nvSpPr>
        <p:spPr>
          <a:xfrm>
            <a:off x="1298448" y="1792224"/>
            <a:ext cx="9509760" cy="713232"/>
          </a:xfrm>
          <a:prstGeom prst="rect">
            <a:avLst/>
          </a:prstGeom>
          <a:noFill/>
          <a:ln/>
        </p:spPr>
        <p:txBody>
          <a:bodyPr wrap="square" lIns="0" tIns="0" rIns="0" bIns="0" rtlCol="0" anchor="t"/>
          <a:lstStyle/>
          <a:p>
            <a:pPr indent="0" marL="0">
              <a:lnSpc>
                <a:spcPct val="106000"/>
              </a:lnSpc>
              <a:buNone/>
            </a:pPr>
            <a:r>
              <a:rPr lang="en-US" sz="1200" dirty="0">
                <a:solidFill>
                  <a:srgbClr val="5C6B62"/>
                </a:solidFill>
                <a:latin typeface="Calibri" pitchFamily="34" charset="0"/>
                <a:ea typeface="Calibri" pitchFamily="34" charset="-122"/>
                <a:cs typeface="Calibri" pitchFamily="34" charset="-120"/>
              </a:rPr>
              <a:t>A session router checks whether a verified member is already in state. If not, the customer validation flow runs first — contact lookup, passcode send, passcode check — and verified state is written only on a verification success, so no failed or partial attempt leaves a usable session.</a:t>
            </a:r>
            <a:endParaRPr lang="en-US" sz="1200" dirty="0"/>
          </a:p>
        </p:txBody>
      </p:sp>
      <p:sp>
        <p:nvSpPr>
          <p:cNvPr id="8" name="Shape 6"/>
          <p:cNvSpPr/>
          <p:nvPr/>
        </p:nvSpPr>
        <p:spPr>
          <a:xfrm>
            <a:off x="548640" y="2724912"/>
            <a:ext cx="566928" cy="566928"/>
          </a:xfrm>
          <a:prstGeom prst="rect">
            <a:avLst/>
          </a:prstGeom>
          <a:solidFill>
            <a:srgbClr val="E9F3EA"/>
          </a:solidFill>
          <a:ln/>
        </p:spPr>
      </p:sp>
      <p:sp>
        <p:nvSpPr>
          <p:cNvPr id="9" name="Text 7"/>
          <p:cNvSpPr txBox="1"/>
          <p:nvPr/>
        </p:nvSpPr>
        <p:spPr>
          <a:xfrm>
            <a:off x="548640" y="2724912"/>
            <a:ext cx="566928" cy="566928"/>
          </a:xfrm>
          <a:prstGeom prst="rect">
            <a:avLst/>
          </a:prstGeom>
          <a:noFill/>
          <a:ln/>
        </p:spPr>
        <p:txBody>
          <a:bodyPr wrap="square" lIns="0" tIns="0" rIns="0" bIns="0" rtlCol="0" anchor="ctr"/>
          <a:lstStyle/>
          <a:p>
            <a:pPr algn="ctr" indent="0" marL="0">
              <a:buNone/>
            </a:pPr>
            <a:r>
              <a:rPr lang="en-US" sz="1600" b="1" dirty="0">
                <a:solidFill>
                  <a:srgbClr val="15701F"/>
                </a:solidFill>
                <a:latin typeface="Cambria" pitchFamily="34" charset="0"/>
                <a:ea typeface="Cambria" pitchFamily="34" charset="-122"/>
                <a:cs typeface="Cambria" pitchFamily="34" charset="-120"/>
              </a:rPr>
              <a:t>02</a:t>
            </a:r>
            <a:endParaRPr lang="en-US" sz="1600" dirty="0"/>
          </a:p>
        </p:txBody>
      </p:sp>
      <p:sp>
        <p:nvSpPr>
          <p:cNvPr id="10" name="Text 8"/>
          <p:cNvSpPr txBox="1"/>
          <p:nvPr/>
        </p:nvSpPr>
        <p:spPr>
          <a:xfrm>
            <a:off x="1298448" y="2706624"/>
            <a:ext cx="9509760" cy="310896"/>
          </a:xfrm>
          <a:prstGeom prst="rect">
            <a:avLst/>
          </a:prstGeom>
          <a:noFill/>
          <a:ln/>
        </p:spPr>
        <p:txBody>
          <a:bodyPr wrap="square" lIns="0" tIns="0" rIns="0" bIns="0" rtlCol="0" anchor="ctr"/>
          <a:lstStyle/>
          <a:p>
            <a:pPr indent="0" marL="0">
              <a:buNone/>
            </a:pPr>
            <a:r>
              <a:rPr lang="en-US" sz="1500" b="1" dirty="0">
                <a:solidFill>
                  <a:srgbClr val="1B2620"/>
                </a:solidFill>
                <a:latin typeface="Calibri" pitchFamily="34" charset="0"/>
                <a:ea typeface="Calibri" pitchFamily="34" charset="-122"/>
                <a:cs typeface="Calibri" pitchFamily="34" charset="-120"/>
              </a:rPr>
              <a:t>The benefit validator reads server-side state</a:t>
            </a:r>
            <a:endParaRPr lang="en-US" sz="1500" dirty="0"/>
          </a:p>
        </p:txBody>
      </p:sp>
      <p:sp>
        <p:nvSpPr>
          <p:cNvPr id="11" name="Text 9"/>
          <p:cNvSpPr txBox="1"/>
          <p:nvPr/>
        </p:nvSpPr>
        <p:spPr>
          <a:xfrm>
            <a:off x="1298448" y="2980944"/>
            <a:ext cx="9509760" cy="713232"/>
          </a:xfrm>
          <a:prstGeom prst="rect">
            <a:avLst/>
          </a:prstGeom>
          <a:noFill/>
          <a:ln/>
        </p:spPr>
        <p:txBody>
          <a:bodyPr wrap="square" lIns="0" tIns="0" rIns="0" bIns="0" rtlCol="0" anchor="t"/>
          <a:lstStyle/>
          <a:p>
            <a:pPr indent="0" marL="0">
              <a:lnSpc>
                <a:spcPct val="106000"/>
              </a:lnSpc>
              <a:buNone/>
            </a:pPr>
            <a:r>
              <a:rPr lang="en-US" sz="1200" dirty="0">
                <a:solidFill>
                  <a:srgbClr val="5C6B62"/>
                </a:solidFill>
                <a:latin typeface="Calibri" pitchFamily="34" charset="0"/>
                <a:ea typeface="Calibri" pitchFamily="34" charset="-122"/>
                <a:cs typeface="Calibri" pitchFamily="34" charset="-120"/>
              </a:rPr>
              <a:t>The benefit validator reads the verified set from session state and makes no call for a patient outside it. The passcode tools have no such validator because they are what establishes verification — they do their own member and contact lookups and return a verification outcome or no data.</a:t>
            </a:r>
            <a:endParaRPr lang="en-US" sz="1200" dirty="0"/>
          </a:p>
        </p:txBody>
      </p:sp>
      <p:sp>
        <p:nvSpPr>
          <p:cNvPr id="12" name="Shape 10"/>
          <p:cNvSpPr/>
          <p:nvPr/>
        </p:nvSpPr>
        <p:spPr>
          <a:xfrm>
            <a:off x="548640" y="3913632"/>
            <a:ext cx="566928" cy="566928"/>
          </a:xfrm>
          <a:prstGeom prst="rect">
            <a:avLst/>
          </a:prstGeom>
          <a:solidFill>
            <a:srgbClr val="E9F3EA"/>
          </a:solidFill>
          <a:ln/>
        </p:spPr>
      </p:sp>
      <p:sp>
        <p:nvSpPr>
          <p:cNvPr id="13" name="Text 11"/>
          <p:cNvSpPr txBox="1"/>
          <p:nvPr/>
        </p:nvSpPr>
        <p:spPr>
          <a:xfrm>
            <a:off x="548640" y="3913632"/>
            <a:ext cx="566928" cy="566928"/>
          </a:xfrm>
          <a:prstGeom prst="rect">
            <a:avLst/>
          </a:prstGeom>
          <a:noFill/>
          <a:ln/>
        </p:spPr>
        <p:txBody>
          <a:bodyPr wrap="square" lIns="0" tIns="0" rIns="0" bIns="0" rtlCol="0" anchor="ctr"/>
          <a:lstStyle/>
          <a:p>
            <a:pPr algn="ctr" indent="0" marL="0">
              <a:buNone/>
            </a:pPr>
            <a:r>
              <a:rPr lang="en-US" sz="1600" b="1" dirty="0">
                <a:solidFill>
                  <a:srgbClr val="15701F"/>
                </a:solidFill>
                <a:latin typeface="Cambria" pitchFamily="34" charset="0"/>
                <a:ea typeface="Cambria" pitchFamily="34" charset="-122"/>
                <a:cs typeface="Cambria" pitchFamily="34" charset="-120"/>
              </a:rPr>
              <a:t>03</a:t>
            </a:r>
            <a:endParaRPr lang="en-US" sz="1600" dirty="0"/>
          </a:p>
        </p:txBody>
      </p:sp>
      <p:sp>
        <p:nvSpPr>
          <p:cNvPr id="14" name="Text 12"/>
          <p:cNvSpPr txBox="1"/>
          <p:nvPr/>
        </p:nvSpPr>
        <p:spPr>
          <a:xfrm>
            <a:off x="1298448" y="3895344"/>
            <a:ext cx="9509760" cy="310896"/>
          </a:xfrm>
          <a:prstGeom prst="rect">
            <a:avLst/>
          </a:prstGeom>
          <a:noFill/>
          <a:ln/>
        </p:spPr>
        <p:txBody>
          <a:bodyPr wrap="square" lIns="0" tIns="0" rIns="0" bIns="0" rtlCol="0" anchor="ctr"/>
          <a:lstStyle/>
          <a:p>
            <a:pPr indent="0" marL="0">
              <a:buNone/>
            </a:pPr>
            <a:r>
              <a:rPr lang="en-US" sz="1500" b="1" dirty="0">
                <a:solidFill>
                  <a:srgbClr val="1B2620"/>
                </a:solidFill>
                <a:latin typeface="Calibri" pitchFamily="34" charset="0"/>
                <a:ea typeface="Calibri" pitchFamily="34" charset="-122"/>
                <a:cs typeface="Calibri" pitchFamily="34" charset="-120"/>
              </a:rPr>
              <a:t>The enforcement lives in the capabilities, not at dispatch</a:t>
            </a:r>
            <a:endParaRPr lang="en-US" sz="1500" dirty="0"/>
          </a:p>
        </p:txBody>
      </p:sp>
      <p:sp>
        <p:nvSpPr>
          <p:cNvPr id="15" name="Text 13"/>
          <p:cNvSpPr txBox="1"/>
          <p:nvPr/>
        </p:nvSpPr>
        <p:spPr>
          <a:xfrm>
            <a:off x="1298448" y="4169664"/>
            <a:ext cx="9509760" cy="713232"/>
          </a:xfrm>
          <a:prstGeom prst="rect">
            <a:avLst/>
          </a:prstGeom>
          <a:noFill/>
          <a:ln/>
        </p:spPr>
        <p:txBody>
          <a:bodyPr wrap="square" lIns="0" tIns="0" rIns="0" bIns="0" rtlCol="0" anchor="t"/>
          <a:lstStyle/>
          <a:p>
            <a:pPr indent="0" marL="0">
              <a:lnSpc>
                <a:spcPct val="106000"/>
              </a:lnSpc>
              <a:buNone/>
            </a:pPr>
            <a:r>
              <a:rPr lang="en-US" sz="1200" dirty="0">
                <a:solidFill>
                  <a:srgbClr val="5C6B62"/>
                </a:solidFill>
                <a:latin typeface="Calibri" pitchFamily="34" charset="0"/>
                <a:ea typeface="Calibri" pitchFamily="34" charset="-122"/>
                <a:cs typeface="Calibri" pitchFamily="34" charset="-120"/>
              </a:rPr>
              <a:t>Nothing checks member scope at tool dispatch, so coverage is the sum of what each capability does for itself. That works today, but it is a convention rather than a property of the architecture.</a:t>
            </a:r>
            <a:endParaRPr lang="en-US" sz="1200" dirty="0"/>
          </a:p>
        </p:txBody>
      </p:sp>
      <p:sp>
        <p:nvSpPr>
          <p:cNvPr id="16" name="Shape 14"/>
          <p:cNvSpPr/>
          <p:nvPr/>
        </p:nvSpPr>
        <p:spPr>
          <a:xfrm>
            <a:off x="548640" y="5230368"/>
            <a:ext cx="10607040" cy="841248"/>
          </a:xfrm>
          <a:prstGeom prst="rect">
            <a:avLst/>
          </a:prstGeom>
          <a:solidFill>
            <a:srgbClr val="F6E4E6"/>
          </a:solidFill>
          <a:ln/>
        </p:spPr>
      </p:sp>
      <p:sp>
        <p:nvSpPr>
          <p:cNvPr id="17" name="Text 15"/>
          <p:cNvSpPr txBox="1"/>
          <p:nvPr/>
        </p:nvSpPr>
        <p:spPr>
          <a:xfrm>
            <a:off x="749808" y="5340096"/>
            <a:ext cx="10241280" cy="658368"/>
          </a:xfrm>
          <a:prstGeom prst="rect">
            <a:avLst/>
          </a:prstGeom>
          <a:noFill/>
          <a:ln/>
        </p:spPr>
        <p:txBody>
          <a:bodyPr wrap="square" lIns="0" tIns="0" rIns="0" bIns="0" rtlCol="0" anchor="t"/>
          <a:lstStyle/>
          <a:p>
            <a:pPr indent="0" marL="0">
              <a:lnSpc>
                <a:spcPct val="106000"/>
              </a:lnSpc>
              <a:buNone/>
            </a:pPr>
            <a:r>
              <a:rPr lang="en-US" sz="1250" i="1" dirty="0">
                <a:solidFill>
                  <a:srgbClr val="8C2F39"/>
                </a:solidFill>
                <a:latin typeface="Calibri" pitchFamily="34" charset="0"/>
                <a:ea typeface="Calibri" pitchFamily="34" charset="-122"/>
                <a:cs typeface="Calibri" pitchFamily="34" charset="-120"/>
              </a:rPr>
              <a:t>The service token on every backend call authenticates the application, not the member, and the MCP services are stateless. So wherever a capability does not check member scope itself, nothing downstream checks on our behalf.</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6400800" cy="219456"/>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ARCHITECTURE</a:t>
            </a:r>
            <a:endParaRPr lang="en-US" sz="1000" dirty="0"/>
          </a:p>
        </p:txBody>
      </p:sp>
      <p:sp>
        <p:nvSpPr>
          <p:cNvPr id="3" name="Text 1"/>
          <p:cNvSpPr txBox="1"/>
          <p:nvPr/>
        </p:nvSpPr>
        <p:spPr>
          <a:xfrm>
            <a:off x="548640" y="530352"/>
            <a:ext cx="6766560" cy="402336"/>
          </a:xfrm>
          <a:prstGeom prst="rect">
            <a:avLst/>
          </a:prstGeom>
          <a:noFill/>
          <a:ln/>
        </p:spPr>
        <p:txBody>
          <a:bodyPr wrap="square" lIns="0" tIns="0" rIns="0" bIns="0" rtlCol="0" anchor="ctr"/>
          <a:lstStyle/>
          <a:p>
            <a:pPr indent="0" marL="0">
              <a:buNone/>
            </a:pPr>
            <a:r>
              <a:rPr lang="en-US" sz="2500" b="1" dirty="0">
                <a:solidFill>
                  <a:srgbClr val="1B2620"/>
                </a:solidFill>
                <a:latin typeface="Cambria" pitchFamily="34" charset="0"/>
                <a:ea typeface="Cambria" pitchFamily="34" charset="-122"/>
                <a:cs typeface="Cambria" pitchFamily="34" charset="-120"/>
              </a:rPr>
              <a:t>The whole system, as the code has it</a:t>
            </a:r>
            <a:endParaRPr lang="en-US" sz="2500" dirty="0"/>
          </a:p>
        </p:txBody>
      </p:sp>
      <p:sp>
        <p:nvSpPr>
          <p:cNvPr id="4" name="Text 2"/>
          <p:cNvSpPr txBox="1"/>
          <p:nvPr/>
        </p:nvSpPr>
        <p:spPr>
          <a:xfrm>
            <a:off x="7498080" y="512064"/>
            <a:ext cx="4160520" cy="566928"/>
          </a:xfrm>
          <a:prstGeom prst="rect">
            <a:avLst/>
          </a:prstGeom>
          <a:noFill/>
          <a:ln/>
        </p:spPr>
        <p:txBody>
          <a:bodyPr wrap="square" lIns="0" tIns="0" rIns="0" bIns="0" rtlCol="0" anchor="t"/>
          <a:lstStyle/>
          <a:p>
            <a:pPr indent="0" marL="0">
              <a:lnSpc>
                <a:spcPct val="106000"/>
              </a:lnSpc>
              <a:buNone/>
            </a:pPr>
            <a:r>
              <a:rPr lang="en-US" sz="1050" dirty="0">
                <a:solidFill>
                  <a:srgbClr val="5C6B62"/>
                </a:solidFill>
                <a:latin typeface="Calibri" pitchFamily="34" charset="0"/>
                <a:ea typeface="Calibri" pitchFamily="34" charset="-122"/>
                <a:cs typeface="Calibri" pitchFamily="34" charset="-120"/>
              </a:rPr>
              <a:t>A router decides whether validation runs before the request is served. The passcode tools are that pre-verification flow and write verified state only on success; the benefit validator then reads that state on every later request.</a:t>
            </a:r>
            <a:endParaRPr lang="en-US" sz="1050" dirty="0"/>
          </a:p>
        </p:txBody>
      </p:sp>
      <p:pic>
        <p:nvPicPr>
          <p:cNvPr id="5" name="Image 0" descr="/mnt/user-data/outputs/diagrams/fig5-full-architecture.png">    </p:cNvPr>
          <p:cNvPicPr>
            <a:picLocks noChangeAspect="1"/>
          </p:cNvPicPr>
          <p:nvPr/>
        </p:nvPicPr>
        <p:blipFill>
          <a:blip r:embed="rId1"/>
          <a:stretch>
            <a:fillRect/>
          </a:stretch>
        </p:blipFill>
        <p:spPr>
          <a:xfrm>
            <a:off x="2184549" y="1115568"/>
            <a:ext cx="7822596" cy="56144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6400800" cy="219456"/>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LOGICAL COMPONENTS</a:t>
            </a:r>
            <a:endParaRPr lang="en-US" sz="1000" dirty="0"/>
          </a:p>
        </p:txBody>
      </p:sp>
      <p:sp>
        <p:nvSpPr>
          <p:cNvPr id="3" name="Text 1"/>
          <p:cNvSpPr txBox="1"/>
          <p:nvPr/>
        </p:nvSpPr>
        <p:spPr>
          <a:xfrm>
            <a:off x="548640" y="530352"/>
            <a:ext cx="6766560" cy="402336"/>
          </a:xfrm>
          <a:prstGeom prst="rect">
            <a:avLst/>
          </a:prstGeom>
          <a:noFill/>
          <a:ln/>
        </p:spPr>
        <p:txBody>
          <a:bodyPr wrap="square" lIns="0" tIns="0" rIns="0" bIns="0" rtlCol="0" anchor="ctr"/>
          <a:lstStyle/>
          <a:p>
            <a:pPr indent="0" marL="0">
              <a:buNone/>
            </a:pPr>
            <a:r>
              <a:rPr lang="en-US" sz="2500" b="1" dirty="0">
                <a:solidFill>
                  <a:srgbClr val="1B2620"/>
                </a:solidFill>
                <a:latin typeface="Cambria" pitchFamily="34" charset="0"/>
                <a:ea typeface="Cambria" pitchFamily="34" charset="-122"/>
                <a:cs typeface="Cambria" pitchFamily="34" charset="-120"/>
              </a:rPr>
              <a:t>The parts, and what each one depends on</a:t>
            </a:r>
            <a:endParaRPr lang="en-US" sz="2500" dirty="0"/>
          </a:p>
        </p:txBody>
      </p:sp>
      <p:sp>
        <p:nvSpPr>
          <p:cNvPr id="4" name="Text 2"/>
          <p:cNvSpPr txBox="1"/>
          <p:nvPr/>
        </p:nvSpPr>
        <p:spPr>
          <a:xfrm>
            <a:off x="7498080" y="512064"/>
            <a:ext cx="4160520" cy="566928"/>
          </a:xfrm>
          <a:prstGeom prst="rect">
            <a:avLst/>
          </a:prstGeom>
          <a:noFill/>
          <a:ln/>
        </p:spPr>
        <p:txBody>
          <a:bodyPr wrap="square" lIns="0" tIns="0" rIns="0" bIns="0" rtlCol="0" anchor="t"/>
          <a:lstStyle/>
          <a:p>
            <a:pPr indent="0" marL="0">
              <a:lnSpc>
                <a:spcPct val="106000"/>
              </a:lnSpc>
              <a:buNone/>
            </a:pPr>
            <a:r>
              <a:rPr lang="en-US" sz="1050" dirty="0">
                <a:solidFill>
                  <a:srgbClr val="5C6B62"/>
                </a:solidFill>
                <a:latin typeface="Calibri" pitchFamily="34" charset="0"/>
                <a:ea typeface="Calibri" pitchFamily="34" charset="-122"/>
                <a:cs typeface="Calibri" pitchFamily="34" charset="-120"/>
              </a:rPr>
              <a:t>Components, the packages they belong to, and the interface each dependency runs over. Tool dispatch depends on no member-scope interface — the policy sits inside the benefit capability.</a:t>
            </a:r>
            <a:endParaRPr lang="en-US" sz="1050" dirty="0"/>
          </a:p>
        </p:txBody>
      </p:sp>
      <p:pic>
        <p:nvPicPr>
          <p:cNvPr id="5" name="Image 0" descr="/mnt/user-data/outputs/diagrams/fig6-logical-components.png">    </p:cNvPr>
          <p:cNvPicPr>
            <a:picLocks noChangeAspect="1"/>
          </p:cNvPicPr>
          <p:nvPr/>
        </p:nvPicPr>
        <p:blipFill>
          <a:blip r:embed="rId1"/>
          <a:stretch>
            <a:fillRect/>
          </a:stretch>
        </p:blipFill>
        <p:spPr>
          <a:xfrm>
            <a:off x="1498632" y="1115568"/>
            <a:ext cx="9194432" cy="56144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6400800" cy="219456"/>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SEQUENCE 1 OF 2</a:t>
            </a:r>
            <a:endParaRPr lang="en-US" sz="1000" dirty="0"/>
          </a:p>
        </p:txBody>
      </p:sp>
      <p:sp>
        <p:nvSpPr>
          <p:cNvPr id="3" name="Text 1"/>
          <p:cNvSpPr txBox="1"/>
          <p:nvPr/>
        </p:nvSpPr>
        <p:spPr>
          <a:xfrm>
            <a:off x="548640" y="530352"/>
            <a:ext cx="6766560" cy="402336"/>
          </a:xfrm>
          <a:prstGeom prst="rect">
            <a:avLst/>
          </a:prstGeom>
          <a:noFill/>
          <a:ln/>
        </p:spPr>
        <p:txBody>
          <a:bodyPr wrap="square" lIns="0" tIns="0" rIns="0" bIns="0" rtlCol="0" anchor="ctr"/>
          <a:lstStyle/>
          <a:p>
            <a:pPr indent="0" marL="0">
              <a:buNone/>
            </a:pPr>
            <a:r>
              <a:rPr lang="en-US" sz="2500" b="1" dirty="0">
                <a:solidFill>
                  <a:srgbClr val="1B2620"/>
                </a:solidFill>
                <a:latin typeface="Cambria" pitchFamily="34" charset="0"/>
                <a:ea typeface="Cambria" pitchFamily="34" charset="-122"/>
                <a:cs typeface="Cambria" pitchFamily="34" charset="-120"/>
              </a:rPr>
              <a:t>A new session: validation before anything is served</a:t>
            </a:r>
            <a:endParaRPr lang="en-US" sz="2500" dirty="0"/>
          </a:p>
        </p:txBody>
      </p:sp>
      <p:sp>
        <p:nvSpPr>
          <p:cNvPr id="4" name="Text 2"/>
          <p:cNvSpPr txBox="1"/>
          <p:nvPr/>
        </p:nvSpPr>
        <p:spPr>
          <a:xfrm>
            <a:off x="7498080" y="512064"/>
            <a:ext cx="4160520" cy="566928"/>
          </a:xfrm>
          <a:prstGeom prst="rect">
            <a:avLst/>
          </a:prstGeom>
          <a:noFill/>
          <a:ln/>
        </p:spPr>
        <p:txBody>
          <a:bodyPr wrap="square" lIns="0" tIns="0" rIns="0" bIns="0" rtlCol="0" anchor="t"/>
          <a:lstStyle/>
          <a:p>
            <a:pPr indent="0" marL="0">
              <a:lnSpc>
                <a:spcPct val="106000"/>
              </a:lnSpc>
              <a:buNone/>
            </a:pPr>
            <a:r>
              <a:rPr lang="en-US" sz="1050" dirty="0">
                <a:solidFill>
                  <a:srgbClr val="5C6B62"/>
                </a:solidFill>
                <a:latin typeface="Calibri" pitchFamily="34" charset="0"/>
                <a:ea typeface="Calibri" pitchFamily="34" charset="-122"/>
                <a:cs typeface="Calibri" pitchFamily="34" charset="-120"/>
              </a:rPr>
              <a:t>The request the member asked for waits until verification succeeds. On this path the model is given only the validation tool set, so there is nothing else it could choose.</a:t>
            </a:r>
            <a:endParaRPr lang="en-US" sz="1050" dirty="0"/>
          </a:p>
        </p:txBody>
      </p:sp>
      <p:pic>
        <p:nvPicPr>
          <p:cNvPr id="5" name="Image 0" descr="/mnt/user-data/outputs/diagrams/fig7-sequence-new-session.png">    </p:cNvPr>
          <p:cNvPicPr>
            <a:picLocks noChangeAspect="1"/>
          </p:cNvPicPr>
          <p:nvPr/>
        </p:nvPicPr>
        <p:blipFill>
          <a:blip r:embed="rId1"/>
          <a:stretch>
            <a:fillRect/>
          </a:stretch>
        </p:blipFill>
        <p:spPr>
          <a:xfrm>
            <a:off x="481432" y="1115568"/>
            <a:ext cx="11228832" cy="56144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6400800" cy="219456"/>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SEQUENCE 2 OF 2</a:t>
            </a:r>
            <a:endParaRPr lang="en-US" sz="1000" dirty="0"/>
          </a:p>
        </p:txBody>
      </p:sp>
      <p:sp>
        <p:nvSpPr>
          <p:cNvPr id="3" name="Text 1"/>
          <p:cNvSpPr txBox="1"/>
          <p:nvPr/>
        </p:nvSpPr>
        <p:spPr>
          <a:xfrm>
            <a:off x="548640" y="530352"/>
            <a:ext cx="6766560" cy="402336"/>
          </a:xfrm>
          <a:prstGeom prst="rect">
            <a:avLst/>
          </a:prstGeom>
          <a:noFill/>
          <a:ln/>
        </p:spPr>
        <p:txBody>
          <a:bodyPr wrap="square" lIns="0" tIns="0" rIns="0" bIns="0" rtlCol="0" anchor="ctr"/>
          <a:lstStyle/>
          <a:p>
            <a:pPr indent="0" marL="0">
              <a:buNone/>
            </a:pPr>
            <a:r>
              <a:rPr lang="en-US" sz="2500" b="1" dirty="0">
                <a:solidFill>
                  <a:srgbClr val="1B2620"/>
                </a:solidFill>
                <a:latin typeface="Cambria" pitchFamily="34" charset="0"/>
                <a:ea typeface="Cambria" pitchFamily="34" charset="-122"/>
                <a:cs typeface="Cambria" pitchFamily="34" charset="-120"/>
              </a:rPr>
              <a:t>A verified session: the request is served</a:t>
            </a:r>
            <a:endParaRPr lang="en-US" sz="2500" dirty="0"/>
          </a:p>
        </p:txBody>
      </p:sp>
      <p:sp>
        <p:nvSpPr>
          <p:cNvPr id="4" name="Text 2"/>
          <p:cNvSpPr txBox="1"/>
          <p:nvPr/>
        </p:nvSpPr>
        <p:spPr>
          <a:xfrm>
            <a:off x="7498080" y="512064"/>
            <a:ext cx="4160520" cy="566928"/>
          </a:xfrm>
          <a:prstGeom prst="rect">
            <a:avLst/>
          </a:prstGeom>
          <a:noFill/>
          <a:ln/>
        </p:spPr>
        <p:txBody>
          <a:bodyPr wrap="square" lIns="0" tIns="0" rIns="0" bIns="0" rtlCol="0" anchor="t"/>
          <a:lstStyle/>
          <a:p>
            <a:pPr indent="0" marL="0">
              <a:lnSpc>
                <a:spcPct val="106000"/>
              </a:lnSpc>
              <a:buNone/>
            </a:pPr>
            <a:r>
              <a:rPr lang="en-US" sz="1050" dirty="0">
                <a:solidFill>
                  <a:srgbClr val="5C6B62"/>
                </a:solidFill>
                <a:latin typeface="Calibri" pitchFamily="34" charset="0"/>
                <a:ea typeface="Calibri" pitchFamily="34" charset="-122"/>
                <a:cs typeface="Calibri" pitchFamily="34" charset="-120"/>
              </a:rPr>
              <a:t>Steps 7 to 10 are the control. The model names a patient; application code tests that name against the verified set in session state before anything is retrieved.</a:t>
            </a:r>
            <a:endParaRPr lang="en-US" sz="1050" dirty="0"/>
          </a:p>
        </p:txBody>
      </p:sp>
      <p:pic>
        <p:nvPicPr>
          <p:cNvPr id="5" name="Image 0" descr="/mnt/user-data/outputs/diagrams/fig8-sequence-verified-request.png">    </p:cNvPr>
          <p:cNvPicPr>
            <a:picLocks noChangeAspect="1"/>
          </p:cNvPicPr>
          <p:nvPr/>
        </p:nvPicPr>
        <p:blipFill>
          <a:blip r:embed="rId1"/>
          <a:stretch>
            <a:fillRect/>
          </a:stretch>
        </p:blipFill>
        <p:spPr>
          <a:xfrm>
            <a:off x="1330441" y="1115568"/>
            <a:ext cx="9530814" cy="56144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75488"/>
            <a:ext cx="6400800" cy="237744"/>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FINDINGS — MAJOR</a:t>
            </a:r>
            <a:endParaRPr lang="en-US" sz="1000" dirty="0"/>
          </a:p>
        </p:txBody>
      </p:sp>
      <p:sp>
        <p:nvSpPr>
          <p:cNvPr id="3" name="Text 1"/>
          <p:cNvSpPr txBox="1"/>
          <p:nvPr/>
        </p:nvSpPr>
        <p:spPr>
          <a:xfrm>
            <a:off x="548640" y="768096"/>
            <a:ext cx="10607040" cy="530352"/>
          </a:xfrm>
          <a:prstGeom prst="rect">
            <a:avLst/>
          </a:prstGeom>
          <a:noFill/>
          <a:ln/>
        </p:spPr>
        <p:txBody>
          <a:bodyPr wrap="square" lIns="0" tIns="0" rIns="0" bIns="0" rtlCol="0" anchor="ctr"/>
          <a:lstStyle/>
          <a:p>
            <a:pPr indent="0" marL="0">
              <a:buNone/>
            </a:pPr>
            <a:r>
              <a:rPr lang="en-US" sz="3000" b="1" dirty="0">
                <a:solidFill>
                  <a:srgbClr val="1B2620"/>
                </a:solidFill>
                <a:latin typeface="Cambria" pitchFamily="34" charset="0"/>
                <a:ea typeface="Cambria" pitchFamily="34" charset="-122"/>
                <a:cs typeface="Cambria" pitchFamily="34" charset="-120"/>
              </a:rPr>
              <a:t>Five things a reviewer needs to know</a:t>
            </a:r>
            <a:endParaRPr lang="en-US" sz="3000" dirty="0"/>
          </a:p>
        </p:txBody>
      </p:sp>
      <p:sp>
        <p:nvSpPr>
          <p:cNvPr id="4" name="Text 2"/>
          <p:cNvSpPr txBox="1"/>
          <p:nvPr/>
        </p:nvSpPr>
        <p:spPr>
          <a:xfrm>
            <a:off x="548640" y="1316736"/>
            <a:ext cx="10607040" cy="274320"/>
          </a:xfrm>
          <a:prstGeom prst="rect">
            <a:avLst/>
          </a:prstGeom>
          <a:noFill/>
          <a:ln/>
        </p:spPr>
        <p:txBody>
          <a:bodyPr wrap="square" lIns="0" tIns="0" rIns="0" bIns="0" rtlCol="0" anchor="ctr"/>
          <a:lstStyle/>
          <a:p>
            <a:pPr indent="0" marL="0">
              <a:buNone/>
            </a:pPr>
            <a:r>
              <a:rPr lang="en-US" sz="1250" dirty="0">
                <a:solidFill>
                  <a:srgbClr val="5C6B62"/>
                </a:solidFill>
                <a:latin typeface="Calibri" pitchFamily="34" charset="0"/>
                <a:ea typeface="Calibri" pitchFamily="34" charset="-122"/>
                <a:cs typeface="Calibri" pitchFamily="34" charset="-120"/>
              </a:rPr>
              <a:t>Each confirmed by reading the source. Line-level references are in the written review for the engineering team.</a:t>
            </a:r>
            <a:endParaRPr lang="en-US" sz="1250" dirty="0"/>
          </a:p>
        </p:txBody>
      </p:sp>
      <p:sp>
        <p:nvSpPr>
          <p:cNvPr id="5" name="Text 3"/>
          <p:cNvSpPr txBox="1"/>
          <p:nvPr/>
        </p:nvSpPr>
        <p:spPr>
          <a:xfrm>
            <a:off x="548640" y="1764792"/>
            <a:ext cx="822960" cy="237744"/>
          </a:xfrm>
          <a:prstGeom prst="rect">
            <a:avLst/>
          </a:prstGeom>
          <a:noFill/>
          <a:ln/>
        </p:spPr>
        <p:txBody>
          <a:bodyPr wrap="square" lIns="0" tIns="0" rIns="0" bIns="0" rtlCol="0" anchor="ctr"/>
          <a:lstStyle/>
          <a:p>
            <a:pPr indent="0" marL="0">
              <a:buNone/>
            </a:pPr>
            <a:r>
              <a:rPr lang="en-US" sz="950" b="1" spc="120" kern="0" dirty="0">
                <a:solidFill>
                  <a:srgbClr val="8C2F39"/>
                </a:solidFill>
                <a:latin typeface="Calibri" pitchFamily="34" charset="0"/>
                <a:ea typeface="Calibri" pitchFamily="34" charset="-122"/>
                <a:cs typeface="Calibri" pitchFamily="34" charset="-120"/>
              </a:rPr>
              <a:t>MAJOR</a:t>
            </a:r>
            <a:endParaRPr lang="en-US" sz="950" dirty="0"/>
          </a:p>
        </p:txBody>
      </p:sp>
      <p:sp>
        <p:nvSpPr>
          <p:cNvPr id="6" name="Text 4"/>
          <p:cNvSpPr txBox="1"/>
          <p:nvPr/>
        </p:nvSpPr>
        <p:spPr>
          <a:xfrm>
            <a:off x="1481328" y="1737360"/>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Enforcement is per capability, with no central gate</a:t>
            </a:r>
            <a:endParaRPr lang="en-US" sz="1300" dirty="0"/>
          </a:p>
        </p:txBody>
      </p:sp>
      <p:sp>
        <p:nvSpPr>
          <p:cNvPr id="7" name="Text 5"/>
          <p:cNvSpPr txBox="1"/>
          <p:nvPr/>
        </p:nvSpPr>
        <p:spPr>
          <a:xfrm>
            <a:off x="1481328" y="1965960"/>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Each capability enforces member scope for itself; nothing enforces it at tool dispatch. Coverage therefore depends on every current and future capability implementing the check.</a:t>
            </a:r>
            <a:endParaRPr lang="en-US" sz="1050" dirty="0"/>
          </a:p>
        </p:txBody>
      </p:sp>
      <p:sp>
        <p:nvSpPr>
          <p:cNvPr id="8" name="Text 6"/>
          <p:cNvSpPr txBox="1"/>
          <p:nvPr/>
        </p:nvSpPr>
        <p:spPr>
          <a:xfrm>
            <a:off x="1481328" y="2359152"/>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app/agents/local_tools/ — per-capability checks</a:t>
            </a:r>
            <a:endParaRPr lang="en-US" sz="900" dirty="0"/>
          </a:p>
        </p:txBody>
      </p:sp>
      <p:sp>
        <p:nvSpPr>
          <p:cNvPr id="9" name="Shape 7"/>
          <p:cNvSpPr/>
          <p:nvPr/>
        </p:nvSpPr>
        <p:spPr>
          <a:xfrm>
            <a:off x="548640" y="2578608"/>
            <a:ext cx="10607040" cy="0"/>
          </a:xfrm>
          <a:prstGeom prst="line">
            <a:avLst/>
          </a:prstGeom>
          <a:noFill/>
          <a:ln w="9525">
            <a:solidFill>
              <a:srgbClr val="D5DED7"/>
            </a:solidFill>
            <a:prstDash val="solid"/>
          </a:ln>
        </p:spPr>
      </p:sp>
      <p:sp>
        <p:nvSpPr>
          <p:cNvPr id="10" name="Text 8"/>
          <p:cNvSpPr txBox="1"/>
          <p:nvPr/>
        </p:nvSpPr>
        <p:spPr>
          <a:xfrm>
            <a:off x="548640" y="2679192"/>
            <a:ext cx="822960" cy="237744"/>
          </a:xfrm>
          <a:prstGeom prst="rect">
            <a:avLst/>
          </a:prstGeom>
          <a:noFill/>
          <a:ln/>
        </p:spPr>
        <p:txBody>
          <a:bodyPr wrap="square" lIns="0" tIns="0" rIns="0" bIns="0" rtlCol="0" anchor="ctr"/>
          <a:lstStyle/>
          <a:p>
            <a:pPr indent="0" marL="0">
              <a:buNone/>
            </a:pPr>
            <a:r>
              <a:rPr lang="en-US" sz="950" b="1" spc="120" kern="0" dirty="0">
                <a:solidFill>
                  <a:srgbClr val="8C2F39"/>
                </a:solidFill>
                <a:latin typeface="Calibri" pitchFamily="34" charset="0"/>
                <a:ea typeface="Calibri" pitchFamily="34" charset="-122"/>
                <a:cs typeface="Calibri" pitchFamily="34" charset="-120"/>
              </a:rPr>
              <a:t>MAJOR</a:t>
            </a:r>
            <a:endParaRPr lang="en-US" sz="950" dirty="0"/>
          </a:p>
        </p:txBody>
      </p:sp>
      <p:sp>
        <p:nvSpPr>
          <p:cNvPr id="11" name="Text 9"/>
          <p:cNvSpPr txBox="1"/>
          <p:nvPr/>
        </p:nvSpPr>
        <p:spPr>
          <a:xfrm>
            <a:off x="1481328" y="2651760"/>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An ID-card lookup does not hard-reject an unmatched patient</a:t>
            </a:r>
            <a:endParaRPr lang="en-US" sz="1300" dirty="0"/>
          </a:p>
        </p:txBody>
      </p:sp>
      <p:sp>
        <p:nvSpPr>
          <p:cNvPr id="12" name="Text 10"/>
          <p:cNvSpPr txBox="1"/>
          <p:nvPr/>
        </p:nvSpPr>
        <p:spPr>
          <a:xfrm>
            <a:off x="1481328" y="2880360"/>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A member-data lookup — separate from the passcode tools — matches the patient and builds its request from saved state, but on a miss it still calls the service with a zero patient identifier and relies on it to refuse.</a:t>
            </a:r>
            <a:endParaRPr lang="en-US" sz="1050" dirty="0"/>
          </a:p>
        </p:txBody>
      </p:sp>
      <p:sp>
        <p:nvSpPr>
          <p:cNvPr id="13" name="Text 11"/>
          <p:cNvSpPr txBox="1"/>
          <p:nvPr/>
        </p:nvSpPr>
        <p:spPr>
          <a:xfrm>
            <a:off x="1481328" y="3273552"/>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app/agents/local_tools/enrollments/wrapper_tools.py</a:t>
            </a:r>
            <a:endParaRPr lang="en-US" sz="900" dirty="0"/>
          </a:p>
        </p:txBody>
      </p:sp>
      <p:sp>
        <p:nvSpPr>
          <p:cNvPr id="14" name="Shape 12"/>
          <p:cNvSpPr/>
          <p:nvPr/>
        </p:nvSpPr>
        <p:spPr>
          <a:xfrm>
            <a:off x="548640" y="3493008"/>
            <a:ext cx="10607040" cy="0"/>
          </a:xfrm>
          <a:prstGeom prst="line">
            <a:avLst/>
          </a:prstGeom>
          <a:noFill/>
          <a:ln w="9525">
            <a:solidFill>
              <a:srgbClr val="D5DED7"/>
            </a:solidFill>
            <a:prstDash val="solid"/>
          </a:ln>
        </p:spPr>
      </p:sp>
      <p:sp>
        <p:nvSpPr>
          <p:cNvPr id="15" name="Text 13"/>
          <p:cNvSpPr txBox="1"/>
          <p:nvPr/>
        </p:nvSpPr>
        <p:spPr>
          <a:xfrm>
            <a:off x="548640" y="3593592"/>
            <a:ext cx="822960" cy="237744"/>
          </a:xfrm>
          <a:prstGeom prst="rect">
            <a:avLst/>
          </a:prstGeom>
          <a:noFill/>
          <a:ln/>
        </p:spPr>
        <p:txBody>
          <a:bodyPr wrap="square" lIns="0" tIns="0" rIns="0" bIns="0" rtlCol="0" anchor="ctr"/>
          <a:lstStyle/>
          <a:p>
            <a:pPr indent="0" marL="0">
              <a:buNone/>
            </a:pPr>
            <a:r>
              <a:rPr lang="en-US" sz="950" b="1" spc="120" kern="0" dirty="0">
                <a:solidFill>
                  <a:srgbClr val="8C2F39"/>
                </a:solidFill>
                <a:latin typeface="Calibri" pitchFamily="34" charset="0"/>
                <a:ea typeface="Calibri" pitchFamily="34" charset="-122"/>
                <a:cs typeface="Calibri" pitchFamily="34" charset="-120"/>
              </a:rPr>
              <a:t>MAJOR</a:t>
            </a:r>
            <a:endParaRPr lang="en-US" sz="950" dirty="0"/>
          </a:p>
        </p:txBody>
      </p:sp>
      <p:sp>
        <p:nvSpPr>
          <p:cNvPr id="16" name="Text 14"/>
          <p:cNvSpPr txBox="1"/>
          <p:nvPr/>
        </p:nvSpPr>
        <p:spPr>
          <a:xfrm>
            <a:off x="1481328" y="3566160"/>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A second surface returns conversation state by session id</a:t>
            </a:r>
            <a:endParaRPr lang="en-US" sz="1300" dirty="0"/>
          </a:p>
        </p:txBody>
      </p:sp>
      <p:sp>
        <p:nvSpPr>
          <p:cNvPr id="17" name="Text 15"/>
          <p:cNvSpPr txBox="1"/>
          <p:nvPr/>
        </p:nvSpPr>
        <p:spPr>
          <a:xfrm>
            <a:off x="1481328" y="3794760"/>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It returns stored conversation state for whatever session identifier it is given, without the ownership check used on the chat route.</a:t>
            </a:r>
            <a:endParaRPr lang="en-US" sz="1050" dirty="0"/>
          </a:p>
        </p:txBody>
      </p:sp>
      <p:sp>
        <p:nvSpPr>
          <p:cNvPr id="18" name="Text 16"/>
          <p:cNvSpPr txBox="1"/>
          <p:nvPr/>
        </p:nvSpPr>
        <p:spPr>
          <a:xfrm>
            <a:off x="1481328" y="4187952"/>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routes/agent_routes.py — session history route</a:t>
            </a:r>
            <a:endParaRPr lang="en-US" sz="900" dirty="0"/>
          </a:p>
        </p:txBody>
      </p:sp>
      <p:sp>
        <p:nvSpPr>
          <p:cNvPr id="19" name="Shape 17"/>
          <p:cNvSpPr/>
          <p:nvPr/>
        </p:nvSpPr>
        <p:spPr>
          <a:xfrm>
            <a:off x="548640" y="4407408"/>
            <a:ext cx="10607040" cy="0"/>
          </a:xfrm>
          <a:prstGeom prst="line">
            <a:avLst/>
          </a:prstGeom>
          <a:noFill/>
          <a:ln w="9525">
            <a:solidFill>
              <a:srgbClr val="D5DED7"/>
            </a:solidFill>
            <a:prstDash val="solid"/>
          </a:ln>
        </p:spPr>
      </p:sp>
      <p:sp>
        <p:nvSpPr>
          <p:cNvPr id="20" name="Text 18"/>
          <p:cNvSpPr txBox="1"/>
          <p:nvPr/>
        </p:nvSpPr>
        <p:spPr>
          <a:xfrm>
            <a:off x="548640" y="4507992"/>
            <a:ext cx="822960" cy="237744"/>
          </a:xfrm>
          <a:prstGeom prst="rect">
            <a:avLst/>
          </a:prstGeom>
          <a:noFill/>
          <a:ln/>
        </p:spPr>
        <p:txBody>
          <a:bodyPr wrap="square" lIns="0" tIns="0" rIns="0" bIns="0" rtlCol="0" anchor="ctr"/>
          <a:lstStyle/>
          <a:p>
            <a:pPr indent="0" marL="0">
              <a:buNone/>
            </a:pPr>
            <a:r>
              <a:rPr lang="en-US" sz="950" b="1" spc="120" kern="0" dirty="0">
                <a:solidFill>
                  <a:srgbClr val="8C2F39"/>
                </a:solidFill>
                <a:latin typeface="Calibri" pitchFamily="34" charset="0"/>
                <a:ea typeface="Calibri" pitchFamily="34" charset="-122"/>
                <a:cs typeface="Calibri" pitchFamily="34" charset="-120"/>
              </a:rPr>
              <a:t>MAJOR</a:t>
            </a:r>
            <a:endParaRPr lang="en-US" sz="950" dirty="0"/>
          </a:p>
        </p:txBody>
      </p:sp>
      <p:sp>
        <p:nvSpPr>
          <p:cNvPr id="21" name="Text 19"/>
          <p:cNvSpPr txBox="1"/>
          <p:nvPr/>
        </p:nvSpPr>
        <p:spPr>
          <a:xfrm>
            <a:off x="1481328" y="4480560"/>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session_id is caller-supplied and maps straight to the thread</a:t>
            </a:r>
            <a:endParaRPr lang="en-US" sz="1300" dirty="0"/>
          </a:p>
        </p:txBody>
      </p:sp>
      <p:sp>
        <p:nvSpPr>
          <p:cNvPr id="22" name="Text 20"/>
          <p:cNvSpPr txBox="1"/>
          <p:nvPr/>
        </p:nvSpPr>
        <p:spPr>
          <a:xfrm>
            <a:off x="1481328" y="4709160"/>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The session identifier comes from the request body and becomes the conversation key directly. No check ties it to an authenticated caller.</a:t>
            </a:r>
            <a:endParaRPr lang="en-US" sz="1050" dirty="0"/>
          </a:p>
        </p:txBody>
      </p:sp>
      <p:sp>
        <p:nvSpPr>
          <p:cNvPr id="23" name="Text 21"/>
          <p:cNvSpPr txBox="1"/>
          <p:nvPr/>
        </p:nvSpPr>
        <p:spPr>
          <a:xfrm>
            <a:off x="1481328" y="5102352"/>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routes/agent_routes.py</a:t>
            </a:r>
            <a:endParaRPr lang="en-US" sz="900" dirty="0"/>
          </a:p>
        </p:txBody>
      </p:sp>
      <p:sp>
        <p:nvSpPr>
          <p:cNvPr id="24" name="Shape 22"/>
          <p:cNvSpPr/>
          <p:nvPr/>
        </p:nvSpPr>
        <p:spPr>
          <a:xfrm>
            <a:off x="548640" y="5321808"/>
            <a:ext cx="10607040" cy="0"/>
          </a:xfrm>
          <a:prstGeom prst="line">
            <a:avLst/>
          </a:prstGeom>
          <a:noFill/>
          <a:ln w="9525">
            <a:solidFill>
              <a:srgbClr val="D5DED7"/>
            </a:solidFill>
            <a:prstDash val="solid"/>
          </a:ln>
        </p:spPr>
      </p:sp>
      <p:sp>
        <p:nvSpPr>
          <p:cNvPr id="25" name="Text 23"/>
          <p:cNvSpPr txBox="1"/>
          <p:nvPr/>
        </p:nvSpPr>
        <p:spPr>
          <a:xfrm>
            <a:off x="548640" y="5422392"/>
            <a:ext cx="822960" cy="237744"/>
          </a:xfrm>
          <a:prstGeom prst="rect">
            <a:avLst/>
          </a:prstGeom>
          <a:noFill/>
          <a:ln/>
        </p:spPr>
        <p:txBody>
          <a:bodyPr wrap="square" lIns="0" tIns="0" rIns="0" bIns="0" rtlCol="0" anchor="ctr"/>
          <a:lstStyle/>
          <a:p>
            <a:pPr indent="0" marL="0">
              <a:buNone/>
            </a:pPr>
            <a:r>
              <a:rPr lang="en-US" sz="950" b="1" spc="120" kern="0" dirty="0">
                <a:solidFill>
                  <a:srgbClr val="8C2F39"/>
                </a:solidFill>
                <a:latin typeface="Calibri" pitchFamily="34" charset="0"/>
                <a:ea typeface="Calibri" pitchFamily="34" charset="-122"/>
                <a:cs typeface="Calibri" pitchFamily="34" charset="-120"/>
              </a:rPr>
              <a:t>MAJOR</a:t>
            </a:r>
            <a:endParaRPr lang="en-US" sz="950" dirty="0"/>
          </a:p>
        </p:txBody>
      </p:sp>
      <p:sp>
        <p:nvSpPr>
          <p:cNvPr id="26" name="Text 24"/>
          <p:cNvSpPr txBox="1"/>
          <p:nvPr/>
        </p:nvSpPr>
        <p:spPr>
          <a:xfrm>
            <a:off x="1481328" y="5394960"/>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One capability still takes request fields from the model</a:t>
            </a:r>
            <a:endParaRPr lang="en-US" sz="1300" dirty="0"/>
          </a:p>
        </p:txBody>
      </p:sp>
      <p:sp>
        <p:nvSpPr>
          <p:cNvPr id="27" name="Text 25"/>
          <p:cNvSpPr txBox="1"/>
          <p:nvPr/>
        </p:nvSpPr>
        <p:spPr>
          <a:xfrm>
            <a:off x="1481328" y="5623560"/>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On the benefit path the subscriber identifier and member type come from the model's tool arguments and are forwarded downstream, rather than resolved from saved state as the enrollment path does.</a:t>
            </a:r>
            <a:endParaRPr lang="en-US" sz="1050" dirty="0"/>
          </a:p>
        </p:txBody>
      </p:sp>
      <p:sp>
        <p:nvSpPr>
          <p:cNvPr id="28" name="Text 26"/>
          <p:cNvSpPr txBox="1"/>
          <p:nvPr/>
        </p:nvSpPr>
        <p:spPr>
          <a:xfrm>
            <a:off x="1481328" y="6016752"/>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benefit_interpreter.py  ·  benefit_interpreter_graph.py</a:t>
            </a:r>
            <a:endParaRPr lang="en-US" sz="900" dirty="0"/>
          </a:p>
        </p:txBody>
      </p:sp>
      <p:sp>
        <p:nvSpPr>
          <p:cNvPr id="29" name="Shape 27"/>
          <p:cNvSpPr/>
          <p:nvPr/>
        </p:nvSpPr>
        <p:spPr>
          <a:xfrm>
            <a:off x="548640" y="6236208"/>
            <a:ext cx="10607040" cy="0"/>
          </a:xfrm>
          <a:prstGeom prst="line">
            <a:avLst/>
          </a:prstGeom>
          <a:noFill/>
          <a:ln w="9525">
            <a:solidFill>
              <a:srgbClr val="D5DED7"/>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75488"/>
            <a:ext cx="6400800" cy="237744"/>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FINDINGS — MODERATE</a:t>
            </a:r>
            <a:endParaRPr lang="en-US" sz="1000" dirty="0"/>
          </a:p>
        </p:txBody>
      </p:sp>
      <p:sp>
        <p:nvSpPr>
          <p:cNvPr id="3" name="Text 1"/>
          <p:cNvSpPr txBox="1"/>
          <p:nvPr/>
        </p:nvSpPr>
        <p:spPr>
          <a:xfrm>
            <a:off x="548640" y="768096"/>
            <a:ext cx="10607040" cy="530352"/>
          </a:xfrm>
          <a:prstGeom prst="rect">
            <a:avLst/>
          </a:prstGeom>
          <a:noFill/>
          <a:ln/>
        </p:spPr>
        <p:txBody>
          <a:bodyPr wrap="square" lIns="0" tIns="0" rIns="0" bIns="0" rtlCol="0" anchor="ctr"/>
          <a:lstStyle/>
          <a:p>
            <a:pPr indent="0" marL="0">
              <a:buNone/>
            </a:pPr>
            <a:r>
              <a:rPr lang="en-US" sz="3000" b="1" dirty="0">
                <a:solidFill>
                  <a:srgbClr val="1B2620"/>
                </a:solidFill>
                <a:latin typeface="Cambria" pitchFamily="34" charset="0"/>
                <a:ea typeface="Cambria" pitchFamily="34" charset="-122"/>
                <a:cs typeface="Cambria" pitchFamily="34" charset="-120"/>
              </a:rPr>
              <a:t>Four more worth stating plainly</a:t>
            </a:r>
            <a:endParaRPr lang="en-US" sz="3000" dirty="0"/>
          </a:p>
        </p:txBody>
      </p:sp>
      <p:sp>
        <p:nvSpPr>
          <p:cNvPr id="4" name="Text 2"/>
          <p:cNvSpPr txBox="1"/>
          <p:nvPr/>
        </p:nvSpPr>
        <p:spPr>
          <a:xfrm>
            <a:off x="548640" y="1316736"/>
            <a:ext cx="10607040" cy="274320"/>
          </a:xfrm>
          <a:prstGeom prst="rect">
            <a:avLst/>
          </a:prstGeom>
          <a:noFill/>
          <a:ln/>
        </p:spPr>
        <p:txBody>
          <a:bodyPr wrap="square" lIns="0" tIns="0" rIns="0" bIns="0" rtlCol="0" anchor="ctr"/>
          <a:lstStyle/>
          <a:p>
            <a:pPr indent="0" marL="0">
              <a:buNone/>
            </a:pPr>
            <a:r>
              <a:rPr lang="en-US" sz="1250" dirty="0">
                <a:solidFill>
                  <a:srgbClr val="5C6B62"/>
                </a:solidFill>
                <a:latin typeface="Calibri" pitchFamily="34" charset="0"/>
                <a:ea typeface="Calibri" pitchFamily="34" charset="-122"/>
                <a:cs typeface="Calibri" pitchFamily="34" charset="-120"/>
              </a:rPr>
              <a:t>Lower severity, but each one weakens an assumption a reviewer might otherwise make.</a:t>
            </a:r>
            <a:endParaRPr lang="en-US" sz="1250" dirty="0"/>
          </a:p>
        </p:txBody>
      </p:sp>
      <p:sp>
        <p:nvSpPr>
          <p:cNvPr id="5" name="Text 3"/>
          <p:cNvSpPr txBox="1"/>
          <p:nvPr/>
        </p:nvSpPr>
        <p:spPr>
          <a:xfrm>
            <a:off x="548640" y="1764792"/>
            <a:ext cx="822960" cy="237744"/>
          </a:xfrm>
          <a:prstGeom prst="rect">
            <a:avLst/>
          </a:prstGeom>
          <a:noFill/>
          <a:ln/>
        </p:spPr>
        <p:txBody>
          <a:bodyPr wrap="square" lIns="0" tIns="0" rIns="0" bIns="0" rtlCol="0" anchor="ctr"/>
          <a:lstStyle/>
          <a:p>
            <a:pPr indent="0" marL="0">
              <a:buNone/>
            </a:pPr>
            <a:r>
              <a:rPr lang="en-US" sz="950" b="1" spc="120" kern="0" dirty="0">
                <a:solidFill>
                  <a:srgbClr val="9A5116"/>
                </a:solidFill>
                <a:latin typeface="Calibri" pitchFamily="34" charset="0"/>
                <a:ea typeface="Calibri" pitchFamily="34" charset="-122"/>
                <a:cs typeface="Calibri" pitchFamily="34" charset="-120"/>
              </a:rPr>
              <a:t>MODERATE</a:t>
            </a:r>
            <a:endParaRPr lang="en-US" sz="950" dirty="0"/>
          </a:p>
        </p:txBody>
      </p:sp>
      <p:sp>
        <p:nvSpPr>
          <p:cNvPr id="6" name="Text 4"/>
          <p:cNvSpPr txBox="1"/>
          <p:nvPr/>
        </p:nvSpPr>
        <p:spPr>
          <a:xfrm>
            <a:off x="1481328" y="1737360"/>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Session state is plain and not tamper-evident</a:t>
            </a:r>
            <a:endParaRPr lang="en-US" sz="1300" dirty="0"/>
          </a:p>
        </p:txBody>
      </p:sp>
      <p:sp>
        <p:nvSpPr>
          <p:cNvPr id="7" name="Text 5"/>
          <p:cNvSpPr txBox="1"/>
          <p:nvPr/>
        </p:nvSpPr>
        <p:spPr>
          <a:xfrm>
            <a:off x="1481328" y="1965960"/>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Stored state holds the conversation, tool inputs and outputs and the verified member context, keyed from the supplied session identifier. It is not a signed member assertion.</a:t>
            </a:r>
            <a:endParaRPr lang="en-US" sz="1050" dirty="0"/>
          </a:p>
        </p:txBody>
      </p:sp>
      <p:sp>
        <p:nvSpPr>
          <p:cNvPr id="8" name="Text 6"/>
          <p:cNvSpPr txBox="1"/>
          <p:nvPr/>
        </p:nvSpPr>
        <p:spPr>
          <a:xfrm>
            <a:off x="1481328" y="2560320"/>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app/agents/models.py  ·  features/checkpointers/emcache_saver.py</a:t>
            </a:r>
            <a:endParaRPr lang="en-US" sz="900" dirty="0"/>
          </a:p>
        </p:txBody>
      </p:sp>
      <p:sp>
        <p:nvSpPr>
          <p:cNvPr id="9" name="Shape 7"/>
          <p:cNvSpPr/>
          <p:nvPr/>
        </p:nvSpPr>
        <p:spPr>
          <a:xfrm>
            <a:off x="548640" y="2779776"/>
            <a:ext cx="10607040" cy="0"/>
          </a:xfrm>
          <a:prstGeom prst="line">
            <a:avLst/>
          </a:prstGeom>
          <a:noFill/>
          <a:ln w="9525">
            <a:solidFill>
              <a:srgbClr val="D5DED7"/>
            </a:solidFill>
            <a:prstDash val="solid"/>
          </a:ln>
        </p:spPr>
      </p:sp>
      <p:sp>
        <p:nvSpPr>
          <p:cNvPr id="10" name="Text 8"/>
          <p:cNvSpPr txBox="1"/>
          <p:nvPr/>
        </p:nvSpPr>
        <p:spPr>
          <a:xfrm>
            <a:off x="548640" y="2880360"/>
            <a:ext cx="822960" cy="237744"/>
          </a:xfrm>
          <a:prstGeom prst="rect">
            <a:avLst/>
          </a:prstGeom>
          <a:noFill/>
          <a:ln/>
        </p:spPr>
        <p:txBody>
          <a:bodyPr wrap="square" lIns="0" tIns="0" rIns="0" bIns="0" rtlCol="0" anchor="ctr"/>
          <a:lstStyle/>
          <a:p>
            <a:pPr indent="0" marL="0">
              <a:buNone/>
            </a:pPr>
            <a:r>
              <a:rPr lang="en-US" sz="950" b="1" spc="120" kern="0" dirty="0">
                <a:solidFill>
                  <a:srgbClr val="9A5116"/>
                </a:solidFill>
                <a:latin typeface="Calibri" pitchFamily="34" charset="0"/>
                <a:ea typeface="Calibri" pitchFamily="34" charset="-122"/>
                <a:cs typeface="Calibri" pitchFamily="34" charset="-120"/>
              </a:rPr>
              <a:t>MODERATE</a:t>
            </a:r>
            <a:endParaRPr lang="en-US" sz="950" dirty="0"/>
          </a:p>
        </p:txBody>
      </p:sp>
      <p:sp>
        <p:nvSpPr>
          <p:cNvPr id="11" name="Text 9"/>
          <p:cNvSpPr txBox="1"/>
          <p:nvPr/>
        </p:nvSpPr>
        <p:spPr>
          <a:xfrm>
            <a:off x="1481328" y="2852928"/>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The prompt carries member PII, with no redaction layer</a:t>
            </a:r>
            <a:endParaRPr lang="en-US" sz="1300" dirty="0"/>
          </a:p>
        </p:txBody>
      </p:sp>
      <p:sp>
        <p:nvSpPr>
          <p:cNvPr id="12" name="Text 10"/>
          <p:cNvSpPr txBox="1"/>
          <p:nvPr/>
        </p:nvSpPr>
        <p:spPr>
          <a:xfrm>
            <a:off x="1481328" y="3081528"/>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The assembled prompt carries subscriber verification data, address, verified patient names, dates of birth, person identifiers, dependent types and active enrollments, plus unredacted conversation history. No redaction layer exists.</a:t>
            </a:r>
            <a:endParaRPr lang="en-US" sz="1050" dirty="0"/>
          </a:p>
        </p:txBody>
      </p:sp>
      <p:sp>
        <p:nvSpPr>
          <p:cNvPr id="13" name="Text 11"/>
          <p:cNvSpPr txBox="1"/>
          <p:nvPr/>
        </p:nvSpPr>
        <p:spPr>
          <a:xfrm>
            <a:off x="1481328" y="3675888"/>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app/agents/graphs.py  ·  app/agents/models.py  ·  app/agents/prompts/memory.j2</a:t>
            </a:r>
            <a:endParaRPr lang="en-US" sz="900" dirty="0"/>
          </a:p>
        </p:txBody>
      </p:sp>
      <p:sp>
        <p:nvSpPr>
          <p:cNvPr id="14" name="Shape 12"/>
          <p:cNvSpPr/>
          <p:nvPr/>
        </p:nvSpPr>
        <p:spPr>
          <a:xfrm>
            <a:off x="548640" y="3895344"/>
            <a:ext cx="10607040" cy="0"/>
          </a:xfrm>
          <a:prstGeom prst="line">
            <a:avLst/>
          </a:prstGeom>
          <a:noFill/>
          <a:ln w="9525">
            <a:solidFill>
              <a:srgbClr val="D5DED7"/>
            </a:solidFill>
            <a:prstDash val="solid"/>
          </a:ln>
        </p:spPr>
      </p:sp>
      <p:sp>
        <p:nvSpPr>
          <p:cNvPr id="15" name="Text 13"/>
          <p:cNvSpPr txBox="1"/>
          <p:nvPr/>
        </p:nvSpPr>
        <p:spPr>
          <a:xfrm>
            <a:off x="548640" y="3995928"/>
            <a:ext cx="822960" cy="237744"/>
          </a:xfrm>
          <a:prstGeom prst="rect">
            <a:avLst/>
          </a:prstGeom>
          <a:noFill/>
          <a:ln/>
        </p:spPr>
        <p:txBody>
          <a:bodyPr wrap="square" lIns="0" tIns="0" rIns="0" bIns="0" rtlCol="0" anchor="ctr"/>
          <a:lstStyle/>
          <a:p>
            <a:pPr indent="0" marL="0">
              <a:buNone/>
            </a:pPr>
            <a:r>
              <a:rPr lang="en-US" sz="950" b="1" spc="120" kern="0" dirty="0">
                <a:solidFill>
                  <a:srgbClr val="9A5116"/>
                </a:solidFill>
                <a:latin typeface="Calibri" pitchFamily="34" charset="0"/>
                <a:ea typeface="Calibri" pitchFamily="34" charset="-122"/>
                <a:cs typeface="Calibri" pitchFamily="34" charset="-120"/>
              </a:rPr>
              <a:t>MODERATE</a:t>
            </a:r>
            <a:endParaRPr lang="en-US" sz="950" dirty="0"/>
          </a:p>
        </p:txBody>
      </p:sp>
      <p:sp>
        <p:nvSpPr>
          <p:cNvPr id="16" name="Text 14"/>
          <p:cNvSpPr txBox="1"/>
          <p:nvPr/>
        </p:nvSpPr>
        <p:spPr>
          <a:xfrm>
            <a:off x="1481328" y="3968496"/>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The Benefits MCP is stateless by design</a:t>
            </a:r>
            <a:endParaRPr lang="en-US" sz="1300" dirty="0"/>
          </a:p>
        </p:txBody>
      </p:sp>
      <p:sp>
        <p:nvSpPr>
          <p:cNvPr id="17" name="Text 15"/>
          <p:cNvSpPr txBox="1"/>
          <p:nvPr/>
        </p:nvSpPr>
        <p:spPr>
          <a:xfrm>
            <a:off x="1481328" y="4197096"/>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It reads the token and context headers, validates required fields and enrollment identifiers, then calls the backend. It holds no passcode state and makes no session-to-member comparison.</a:t>
            </a:r>
            <a:endParaRPr lang="en-US" sz="1050" dirty="0"/>
          </a:p>
        </p:txBody>
      </p:sp>
      <p:sp>
        <p:nvSpPr>
          <p:cNvPr id="18" name="Text 16"/>
          <p:cNvSpPr txBox="1"/>
          <p:nvPr/>
        </p:nvSpPr>
        <p:spPr>
          <a:xfrm>
            <a:off x="1481328" y="4791456"/>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ria-benefit-mcp-se-v01 — benefits MCP router</a:t>
            </a:r>
            <a:endParaRPr lang="en-US" sz="900" dirty="0"/>
          </a:p>
        </p:txBody>
      </p:sp>
      <p:sp>
        <p:nvSpPr>
          <p:cNvPr id="19" name="Shape 17"/>
          <p:cNvSpPr/>
          <p:nvPr/>
        </p:nvSpPr>
        <p:spPr>
          <a:xfrm>
            <a:off x="548640" y="5010912"/>
            <a:ext cx="10607040" cy="0"/>
          </a:xfrm>
          <a:prstGeom prst="line">
            <a:avLst/>
          </a:prstGeom>
          <a:noFill/>
          <a:ln w="9525">
            <a:solidFill>
              <a:srgbClr val="D5DED7"/>
            </a:solidFill>
            <a:prstDash val="solid"/>
          </a:ln>
        </p:spPr>
      </p:sp>
      <p:sp>
        <p:nvSpPr>
          <p:cNvPr id="20" name="Text 18"/>
          <p:cNvSpPr txBox="1"/>
          <p:nvPr/>
        </p:nvSpPr>
        <p:spPr>
          <a:xfrm>
            <a:off x="548640" y="5111496"/>
            <a:ext cx="822960" cy="237744"/>
          </a:xfrm>
          <a:prstGeom prst="rect">
            <a:avLst/>
          </a:prstGeom>
          <a:noFill/>
          <a:ln/>
        </p:spPr>
        <p:txBody>
          <a:bodyPr wrap="square" lIns="0" tIns="0" rIns="0" bIns="0" rtlCol="0" anchor="ctr"/>
          <a:lstStyle/>
          <a:p>
            <a:pPr indent="0" marL="0">
              <a:buNone/>
            </a:pPr>
            <a:r>
              <a:rPr lang="en-US" sz="950" b="1" spc="120" kern="0" dirty="0">
                <a:solidFill>
                  <a:srgbClr val="9A5116"/>
                </a:solidFill>
                <a:latin typeface="Calibri" pitchFamily="34" charset="0"/>
                <a:ea typeface="Calibri" pitchFamily="34" charset="-122"/>
                <a:cs typeface="Calibri" pitchFamily="34" charset="-120"/>
              </a:rPr>
              <a:t>MODERATE</a:t>
            </a:r>
            <a:endParaRPr lang="en-US" sz="950" dirty="0"/>
          </a:p>
        </p:txBody>
      </p:sp>
      <p:sp>
        <p:nvSpPr>
          <p:cNvPr id="21" name="Text 19"/>
          <p:cNvSpPr txBox="1"/>
          <p:nvPr/>
        </p:nvSpPr>
        <p:spPr>
          <a:xfrm>
            <a:off x="1481328" y="5084064"/>
            <a:ext cx="9692640" cy="274320"/>
          </a:xfrm>
          <a:prstGeom prst="rect">
            <a:avLst/>
          </a:prstGeom>
          <a:noFill/>
          <a:ln/>
        </p:spPr>
        <p:txBody>
          <a:bodyPr wrap="square" lIns="0" tIns="0" rIns="0" bIns="0" rtlCol="0" anchor="ctr"/>
          <a:lstStyle/>
          <a:p>
            <a:pPr indent="0" marL="0">
              <a:buNone/>
            </a:pPr>
            <a:r>
              <a:rPr lang="en-US" sz="1300" b="1" dirty="0">
                <a:solidFill>
                  <a:srgbClr val="1B2620"/>
                </a:solidFill>
                <a:latin typeface="Calibri" pitchFamily="34" charset="0"/>
                <a:ea typeface="Calibri" pitchFamily="34" charset="-122"/>
                <a:cs typeface="Calibri" pitchFamily="34" charset="-120"/>
              </a:rPr>
              <a:t>"The same token end to end" is not proven</a:t>
            </a:r>
            <a:endParaRPr lang="en-US" sz="1300" dirty="0"/>
          </a:p>
        </p:txBody>
      </p:sp>
      <p:sp>
        <p:nvSpPr>
          <p:cNvPr id="22" name="Text 20"/>
          <p:cNvSpPr txBox="1"/>
          <p:nvPr/>
        </p:nvSpPr>
        <p:spPr>
          <a:xfrm>
            <a:off x="1481328" y="5312664"/>
            <a:ext cx="9692640" cy="274320"/>
          </a:xfrm>
          <a:prstGeom prst="rect">
            <a:avLst/>
          </a:prstGeom>
          <a:noFill/>
          <a:ln/>
        </p:spPr>
        <p:txBody>
          <a:bodyPr wrap="square" lIns="0" tIns="0" rIns="0" bIns="0" rtlCol="0" anchor="t"/>
          <a:lstStyle/>
          <a:p>
            <a:pPr indent="0" marL="0">
              <a:lnSpc>
                <a:spcPct val="104000"/>
              </a:lnSpc>
              <a:buNone/>
            </a:pPr>
            <a:r>
              <a:rPr lang="en-US" sz="1050" dirty="0">
                <a:solidFill>
                  <a:srgbClr val="5C6B62"/>
                </a:solidFill>
                <a:latin typeface="Calibri" pitchFamily="34" charset="0"/>
                <a:ea typeface="Calibri" pitchFamily="34" charset="-122"/>
                <a:cs typeface="Calibri" pitchFamily="34" charset="-120"/>
              </a:rPr>
              <a:t>The orchestrator mints and caches a service token and attaches it to outbound calls. Each instance has its own cache, and downstream adapters may use it differently — this is not proof that backend authorization is application-identity-only.</a:t>
            </a:r>
            <a:endParaRPr lang="en-US" sz="1050" dirty="0"/>
          </a:p>
        </p:txBody>
      </p:sp>
      <p:sp>
        <p:nvSpPr>
          <p:cNvPr id="23" name="Text 21"/>
          <p:cNvSpPr txBox="1"/>
          <p:nvPr/>
        </p:nvSpPr>
        <p:spPr>
          <a:xfrm>
            <a:off x="1481328" y="5907024"/>
            <a:ext cx="9692640" cy="219456"/>
          </a:xfrm>
          <a:prstGeom prst="rect">
            <a:avLst/>
          </a:prstGeom>
          <a:noFill/>
          <a:ln/>
        </p:spPr>
        <p:txBody>
          <a:bodyPr wrap="square" lIns="0" tIns="0" rIns="0" bIns="0" rtlCol="0" anchor="t"/>
          <a:lstStyle/>
          <a:p>
            <a:pPr indent="0" marL="0">
              <a:buNone/>
            </a:pPr>
            <a:r>
              <a:rPr lang="en-US" sz="900" dirty="0">
                <a:solidFill>
                  <a:srgbClr val="15701F"/>
                </a:solidFill>
                <a:latin typeface="Consolas" pitchFamily="34" charset="0"/>
                <a:ea typeface="Consolas" pitchFamily="34" charset="-122"/>
                <a:cs typeface="Consolas" pitchFamily="34" charset="-120"/>
              </a:rPr>
              <a:t>Evidence: features/security.py  ·  features/mcp_client.py</a:t>
            </a:r>
            <a:endParaRPr lang="en-US" sz="900" dirty="0"/>
          </a:p>
        </p:txBody>
      </p:sp>
      <p:sp>
        <p:nvSpPr>
          <p:cNvPr id="24" name="Shape 22"/>
          <p:cNvSpPr/>
          <p:nvPr/>
        </p:nvSpPr>
        <p:spPr>
          <a:xfrm>
            <a:off x="548640" y="6126480"/>
            <a:ext cx="10607040" cy="0"/>
          </a:xfrm>
          <a:prstGeom prst="line">
            <a:avLst/>
          </a:prstGeom>
          <a:noFill/>
          <a:ln w="9525">
            <a:solidFill>
              <a:srgbClr val="D5DED7"/>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75488"/>
            <a:ext cx="6400800" cy="237744"/>
          </a:xfrm>
          <a:prstGeom prst="rect">
            <a:avLst/>
          </a:prstGeom>
          <a:noFill/>
          <a:ln/>
        </p:spPr>
        <p:txBody>
          <a:bodyPr wrap="square" lIns="0" tIns="0" rIns="0" bIns="0" rtlCol="0" anchor="ctr"/>
          <a:lstStyle/>
          <a:p>
            <a:pPr indent="0" marL="0">
              <a:buNone/>
            </a:pPr>
            <a:r>
              <a:rPr lang="en-US" sz="1000" b="1" spc="160" kern="0" dirty="0">
                <a:solidFill>
                  <a:srgbClr val="1D8928"/>
                </a:solidFill>
                <a:latin typeface="Calibri" pitchFamily="34" charset="0"/>
                <a:ea typeface="Calibri" pitchFamily="34" charset="-122"/>
                <a:cs typeface="Calibri" pitchFamily="34" charset="-120"/>
              </a:rPr>
              <a:t>GAPS IN THE CURRENT CODEBASE</a:t>
            </a:r>
            <a:endParaRPr lang="en-US" sz="1000" dirty="0"/>
          </a:p>
        </p:txBody>
      </p:sp>
      <p:sp>
        <p:nvSpPr>
          <p:cNvPr id="3" name="Text 1"/>
          <p:cNvSpPr txBox="1"/>
          <p:nvPr/>
        </p:nvSpPr>
        <p:spPr>
          <a:xfrm>
            <a:off x="548640" y="768096"/>
            <a:ext cx="10607040" cy="530352"/>
          </a:xfrm>
          <a:prstGeom prst="rect">
            <a:avLst/>
          </a:prstGeom>
          <a:noFill/>
          <a:ln/>
        </p:spPr>
        <p:txBody>
          <a:bodyPr wrap="square" lIns="0" tIns="0" rIns="0" bIns="0" rtlCol="0" anchor="ctr"/>
          <a:lstStyle/>
          <a:p>
            <a:pPr indent="0" marL="0">
              <a:buNone/>
            </a:pPr>
            <a:r>
              <a:rPr lang="en-US" sz="3000" b="1" dirty="0">
                <a:solidFill>
                  <a:srgbClr val="1B2620"/>
                </a:solidFill>
                <a:latin typeface="Cambria" pitchFamily="34" charset="0"/>
                <a:ea typeface="Cambria" pitchFamily="34" charset="-122"/>
                <a:cs typeface="Cambria" pitchFamily="34" charset="-120"/>
              </a:rPr>
              <a:t>Two gaps around the session checkpoint</a:t>
            </a:r>
            <a:endParaRPr lang="en-US" sz="3000" dirty="0"/>
          </a:p>
        </p:txBody>
      </p:sp>
      <p:sp>
        <p:nvSpPr>
          <p:cNvPr id="4" name="Text 2"/>
          <p:cNvSpPr txBox="1"/>
          <p:nvPr/>
        </p:nvSpPr>
        <p:spPr>
          <a:xfrm>
            <a:off x="548640" y="1316736"/>
            <a:ext cx="10607040" cy="274320"/>
          </a:xfrm>
          <a:prstGeom prst="rect">
            <a:avLst/>
          </a:prstGeom>
          <a:noFill/>
          <a:ln/>
        </p:spPr>
        <p:txBody>
          <a:bodyPr wrap="square" lIns="0" tIns="0" rIns="0" bIns="0" rtlCol="0" anchor="ctr"/>
          <a:lstStyle/>
          <a:p>
            <a:pPr indent="0" marL="0">
              <a:buNone/>
            </a:pPr>
            <a:r>
              <a:rPr lang="en-US" sz="1250" dirty="0">
                <a:solidFill>
                  <a:srgbClr val="5C6B62"/>
                </a:solidFill>
                <a:latin typeface="Calibri" pitchFamily="34" charset="0"/>
                <a:ea typeface="Calibri" pitchFamily="34" charset="-122"/>
                <a:cs typeface="Calibri" pitchFamily="34" charset="-120"/>
              </a:rPr>
              <a:t>Both sit on the same object: the saved session state that holds the verified member and patient set every capability reads.</a:t>
            </a:r>
            <a:endParaRPr lang="en-US" sz="1250" dirty="0"/>
          </a:p>
        </p:txBody>
      </p:sp>
      <p:sp>
        <p:nvSpPr>
          <p:cNvPr id="5" name="Shape 3"/>
          <p:cNvSpPr/>
          <p:nvPr/>
        </p:nvSpPr>
        <p:spPr>
          <a:xfrm>
            <a:off x="548640" y="1755648"/>
            <a:ext cx="10607040" cy="2176272"/>
          </a:xfrm>
          <a:prstGeom prst="rect">
            <a:avLst/>
          </a:prstGeom>
          <a:solidFill>
            <a:srgbClr val="FBFCFB"/>
          </a:solidFill>
          <a:ln w="9525">
            <a:solidFill>
              <a:srgbClr val="D5DED7"/>
            </a:solidFill>
            <a:prstDash val="solid"/>
          </a:ln>
        </p:spPr>
      </p:sp>
      <p:sp>
        <p:nvSpPr>
          <p:cNvPr id="6" name="Shape 4"/>
          <p:cNvSpPr/>
          <p:nvPr/>
        </p:nvSpPr>
        <p:spPr>
          <a:xfrm>
            <a:off x="548640" y="1755648"/>
            <a:ext cx="68580" cy="2176272"/>
          </a:xfrm>
          <a:prstGeom prst="rect">
            <a:avLst/>
          </a:prstGeom>
          <a:solidFill>
            <a:srgbClr val="8C2F39"/>
          </a:solidFill>
          <a:ln/>
        </p:spPr>
      </p:sp>
      <p:sp>
        <p:nvSpPr>
          <p:cNvPr id="7" name="Text 5"/>
          <p:cNvSpPr txBox="1"/>
          <p:nvPr/>
        </p:nvSpPr>
        <p:spPr>
          <a:xfrm>
            <a:off x="786384" y="1956816"/>
            <a:ext cx="1828800" cy="219456"/>
          </a:xfrm>
          <a:prstGeom prst="rect">
            <a:avLst/>
          </a:prstGeom>
          <a:noFill/>
          <a:ln/>
        </p:spPr>
        <p:txBody>
          <a:bodyPr wrap="square" lIns="0" tIns="0" rIns="0" bIns="0" rtlCol="0" anchor="ctr"/>
          <a:lstStyle/>
          <a:p>
            <a:pPr indent="0" marL="0">
              <a:buNone/>
            </a:pPr>
            <a:r>
              <a:rPr lang="en-US" sz="1000" b="1" spc="140" kern="0" dirty="0">
                <a:solidFill>
                  <a:srgbClr val="8C2F39"/>
                </a:solidFill>
                <a:latin typeface="Calibri" pitchFamily="34" charset="0"/>
                <a:ea typeface="Calibri" pitchFamily="34" charset="-122"/>
                <a:cs typeface="Calibri" pitchFamily="34" charset="-120"/>
              </a:rPr>
              <a:t>CRITICAL</a:t>
            </a:r>
            <a:endParaRPr lang="en-US" sz="1000" dirty="0"/>
          </a:p>
        </p:txBody>
      </p:sp>
      <p:sp>
        <p:nvSpPr>
          <p:cNvPr id="8" name="Text 6"/>
          <p:cNvSpPr txBox="1"/>
          <p:nvPr/>
        </p:nvSpPr>
        <p:spPr>
          <a:xfrm>
            <a:off x="8778240" y="1965960"/>
            <a:ext cx="2194560" cy="219456"/>
          </a:xfrm>
          <a:prstGeom prst="rect">
            <a:avLst/>
          </a:prstGeom>
          <a:noFill/>
          <a:ln/>
        </p:spPr>
        <p:txBody>
          <a:bodyPr wrap="square" lIns="0" tIns="0" rIns="0" bIns="0" rtlCol="0" anchor="ctr"/>
          <a:lstStyle/>
          <a:p>
            <a:pPr algn="r" indent="0" marL="0">
              <a:buNone/>
            </a:pPr>
            <a:r>
              <a:rPr lang="en-US" sz="900" spc="60" kern="0" dirty="0">
                <a:solidFill>
                  <a:srgbClr val="5C6B62"/>
                </a:solidFill>
                <a:latin typeface="Consolas" pitchFamily="34" charset="0"/>
                <a:ea typeface="Consolas" pitchFamily="34" charset="-122"/>
                <a:cs typeface="Consolas" pitchFamily="34" charset="-120"/>
              </a:rPr>
              <a:t>CONFIDENCE 8 / 10</a:t>
            </a:r>
            <a:endParaRPr lang="en-US" sz="900" dirty="0"/>
          </a:p>
        </p:txBody>
      </p:sp>
      <p:sp>
        <p:nvSpPr>
          <p:cNvPr id="9" name="Text 7"/>
          <p:cNvSpPr txBox="1"/>
          <p:nvPr/>
        </p:nvSpPr>
        <p:spPr>
          <a:xfrm>
            <a:off x="786384" y="2194560"/>
            <a:ext cx="10058400" cy="310896"/>
          </a:xfrm>
          <a:prstGeom prst="rect">
            <a:avLst/>
          </a:prstGeom>
          <a:noFill/>
          <a:ln/>
        </p:spPr>
        <p:txBody>
          <a:bodyPr wrap="square" lIns="0" tIns="0" rIns="0" bIns="0" rtlCol="0" anchor="ctr"/>
          <a:lstStyle/>
          <a:p>
            <a:pPr indent="0" marL="0">
              <a:buNone/>
            </a:pPr>
            <a:r>
              <a:rPr lang="en-US" sz="1700" b="1" dirty="0">
                <a:solidFill>
                  <a:srgbClr val="1B2620"/>
                </a:solidFill>
                <a:latin typeface="Calibri" pitchFamily="34" charset="0"/>
                <a:ea typeface="Calibri" pitchFamily="34" charset="-122"/>
                <a:cs typeface="Calibri" pitchFamily="34" charset="-120"/>
              </a:rPr>
              <a:t>Cache checkpoints have no integrity protection</a:t>
            </a:r>
            <a:endParaRPr lang="en-US" sz="1700" dirty="0"/>
          </a:p>
        </p:txBody>
      </p:sp>
      <p:sp>
        <p:nvSpPr>
          <p:cNvPr id="10" name="Text 8"/>
          <p:cNvSpPr txBox="1"/>
          <p:nvPr/>
        </p:nvSpPr>
        <p:spPr>
          <a:xfrm>
            <a:off x="786384" y="2578608"/>
            <a:ext cx="10058400" cy="566928"/>
          </a:xfrm>
          <a:prstGeom prst="rect">
            <a:avLst/>
          </a:prstGeom>
          <a:noFill/>
          <a:ln/>
        </p:spPr>
        <p:txBody>
          <a:bodyPr wrap="square" lIns="0" tIns="0" rIns="0" bIns="0" rtlCol="0" anchor="t"/>
          <a:lstStyle/>
          <a:p>
            <a:pPr indent="0" marL="0">
              <a:lnSpc>
                <a:spcPct val="106000"/>
              </a:lnSpc>
              <a:buNone/>
            </a:pPr>
            <a:r>
              <a:rPr lang="en-US" sz="1250" dirty="0">
                <a:solidFill>
                  <a:srgbClr val="5C6B62"/>
                </a:solidFill>
                <a:latin typeface="Calibri" pitchFamily="34" charset="0"/>
                <a:ea typeface="Calibri" pitchFamily="34" charset="-122"/>
                <a:cs typeface="Calibri" pitchFamily="34" charset="-120"/>
              </a:rPr>
              <a:t>No encryption, no MAC or signature, no cache authentication and no TLS configuration. Attacker-controlled checkpoint data may be deserialized. The RCE and state-forgery impact is conditional on cache-write access.</a:t>
            </a:r>
            <a:endParaRPr lang="en-US" sz="1250" dirty="0"/>
          </a:p>
        </p:txBody>
      </p:sp>
      <p:sp>
        <p:nvSpPr>
          <p:cNvPr id="11" name="Text 9"/>
          <p:cNvSpPr txBox="1"/>
          <p:nvPr/>
        </p:nvSpPr>
        <p:spPr>
          <a:xfrm>
            <a:off x="786384" y="3145536"/>
            <a:ext cx="10058400" cy="475488"/>
          </a:xfrm>
          <a:prstGeom prst="rect">
            <a:avLst/>
          </a:prstGeom>
          <a:noFill/>
          <a:ln/>
        </p:spPr>
        <p:txBody>
          <a:bodyPr wrap="square" lIns="0" tIns="0" rIns="0" bIns="0" rtlCol="0" anchor="t"/>
          <a:lstStyle/>
          <a:p>
            <a:pPr indent="0" marL="0">
              <a:lnSpc>
                <a:spcPct val="104000"/>
              </a:lnSpc>
              <a:buNone/>
            </a:pPr>
            <a:r>
              <a:rPr lang="en-US" sz="1150" i="1" dirty="0">
                <a:solidFill>
                  <a:srgbClr val="15701F"/>
                </a:solidFill>
                <a:latin typeface="Calibri" pitchFamily="34" charset="0"/>
                <a:ea typeface="Calibri" pitchFamily="34" charset="-122"/>
                <a:cs typeface="Calibri" pitchFamily="34" charset="-120"/>
              </a:rPr>
              <a:t>Why it matters: the checkpoint is where the verified member and the verified patient set live. Every capability trusts that state, so a store that is neither authenticated nor tamper-evident undermines the check each capability performs.</a:t>
            </a:r>
            <a:endParaRPr lang="en-US" sz="1150" dirty="0"/>
          </a:p>
        </p:txBody>
      </p:sp>
      <p:sp>
        <p:nvSpPr>
          <p:cNvPr id="12" name="Text 10"/>
          <p:cNvSpPr txBox="1"/>
          <p:nvPr/>
        </p:nvSpPr>
        <p:spPr>
          <a:xfrm>
            <a:off x="786384" y="3639312"/>
            <a:ext cx="10058400" cy="219456"/>
          </a:xfrm>
          <a:prstGeom prst="rect">
            <a:avLst/>
          </a:prstGeom>
          <a:noFill/>
          <a:ln/>
        </p:spPr>
        <p:txBody>
          <a:bodyPr wrap="square" lIns="0" tIns="0" rIns="0" bIns="0" rtlCol="0" anchor="ctr"/>
          <a:lstStyle/>
          <a:p>
            <a:pPr indent="0" marL="0">
              <a:buNone/>
            </a:pPr>
            <a:r>
              <a:rPr lang="en-US" sz="950" dirty="0">
                <a:solidFill>
                  <a:srgbClr val="5C6B62"/>
                </a:solidFill>
                <a:latin typeface="Consolas" pitchFamily="34" charset="0"/>
                <a:ea typeface="Consolas" pitchFamily="34" charset="-122"/>
                <a:cs typeface="Consolas" pitchFamily="34" charset="-120"/>
              </a:rPr>
              <a:t>features/checkpointers/emcache_saver.py : 20–119</a:t>
            </a:r>
            <a:endParaRPr lang="en-US" sz="950" dirty="0"/>
          </a:p>
        </p:txBody>
      </p:sp>
      <p:sp>
        <p:nvSpPr>
          <p:cNvPr id="13" name="Shape 11"/>
          <p:cNvSpPr/>
          <p:nvPr/>
        </p:nvSpPr>
        <p:spPr>
          <a:xfrm>
            <a:off x="548640" y="4187952"/>
            <a:ext cx="10607040" cy="2176272"/>
          </a:xfrm>
          <a:prstGeom prst="rect">
            <a:avLst/>
          </a:prstGeom>
          <a:solidFill>
            <a:srgbClr val="FBFCFB"/>
          </a:solidFill>
          <a:ln w="9525">
            <a:solidFill>
              <a:srgbClr val="D5DED7"/>
            </a:solidFill>
            <a:prstDash val="solid"/>
          </a:ln>
        </p:spPr>
      </p:sp>
      <p:sp>
        <p:nvSpPr>
          <p:cNvPr id="14" name="Shape 12"/>
          <p:cNvSpPr/>
          <p:nvPr/>
        </p:nvSpPr>
        <p:spPr>
          <a:xfrm>
            <a:off x="548640" y="4187952"/>
            <a:ext cx="68580" cy="2176272"/>
          </a:xfrm>
          <a:prstGeom prst="rect">
            <a:avLst/>
          </a:prstGeom>
          <a:solidFill>
            <a:srgbClr val="8C2F39"/>
          </a:solidFill>
          <a:ln/>
        </p:spPr>
      </p:sp>
      <p:sp>
        <p:nvSpPr>
          <p:cNvPr id="15" name="Text 13"/>
          <p:cNvSpPr txBox="1"/>
          <p:nvPr/>
        </p:nvSpPr>
        <p:spPr>
          <a:xfrm>
            <a:off x="786384" y="4389120"/>
            <a:ext cx="1828800" cy="219456"/>
          </a:xfrm>
          <a:prstGeom prst="rect">
            <a:avLst/>
          </a:prstGeom>
          <a:noFill/>
          <a:ln/>
        </p:spPr>
        <p:txBody>
          <a:bodyPr wrap="square" lIns="0" tIns="0" rIns="0" bIns="0" rtlCol="0" anchor="ctr"/>
          <a:lstStyle/>
          <a:p>
            <a:pPr indent="0" marL="0">
              <a:buNone/>
            </a:pPr>
            <a:r>
              <a:rPr lang="en-US" sz="1000" b="1" spc="140" kern="0" dirty="0">
                <a:solidFill>
                  <a:srgbClr val="8C2F39"/>
                </a:solidFill>
                <a:latin typeface="Calibri" pitchFamily="34" charset="0"/>
                <a:ea typeface="Calibri" pitchFamily="34" charset="-122"/>
                <a:cs typeface="Calibri" pitchFamily="34" charset="-120"/>
              </a:rPr>
              <a:t>HIGH</a:t>
            </a:r>
            <a:endParaRPr lang="en-US" sz="1000" dirty="0"/>
          </a:p>
        </p:txBody>
      </p:sp>
      <p:sp>
        <p:nvSpPr>
          <p:cNvPr id="16" name="Text 14"/>
          <p:cNvSpPr txBox="1"/>
          <p:nvPr/>
        </p:nvSpPr>
        <p:spPr>
          <a:xfrm>
            <a:off x="8778240" y="4398264"/>
            <a:ext cx="2194560" cy="219456"/>
          </a:xfrm>
          <a:prstGeom prst="rect">
            <a:avLst/>
          </a:prstGeom>
          <a:noFill/>
          <a:ln/>
        </p:spPr>
        <p:txBody>
          <a:bodyPr wrap="square" lIns="0" tIns="0" rIns="0" bIns="0" rtlCol="0" anchor="ctr"/>
          <a:lstStyle/>
          <a:p>
            <a:pPr algn="r" indent="0" marL="0">
              <a:buNone/>
            </a:pPr>
            <a:r>
              <a:rPr lang="en-US" sz="900" spc="60" kern="0" dirty="0">
                <a:solidFill>
                  <a:srgbClr val="5C6B62"/>
                </a:solidFill>
                <a:latin typeface="Consolas" pitchFamily="34" charset="0"/>
                <a:ea typeface="Consolas" pitchFamily="34" charset="-122"/>
                <a:cs typeface="Consolas" pitchFamily="34" charset="-120"/>
              </a:rPr>
              <a:t>CONFIDENCE 10 / 10</a:t>
            </a:r>
            <a:endParaRPr lang="en-US" sz="900" dirty="0"/>
          </a:p>
        </p:txBody>
      </p:sp>
      <p:sp>
        <p:nvSpPr>
          <p:cNvPr id="17" name="Text 15"/>
          <p:cNvSpPr txBox="1"/>
          <p:nvPr/>
        </p:nvSpPr>
        <p:spPr>
          <a:xfrm>
            <a:off x="786384" y="4626864"/>
            <a:ext cx="10058400" cy="310896"/>
          </a:xfrm>
          <a:prstGeom prst="rect">
            <a:avLst/>
          </a:prstGeom>
          <a:noFill/>
          <a:ln/>
        </p:spPr>
        <p:txBody>
          <a:bodyPr wrap="square" lIns="0" tIns="0" rIns="0" bIns="0" rtlCol="0" anchor="ctr"/>
          <a:lstStyle/>
          <a:p>
            <a:pPr indent="0" marL="0">
              <a:buNone/>
            </a:pPr>
            <a:r>
              <a:rPr lang="en-US" sz="1700" b="1" dirty="0">
                <a:solidFill>
                  <a:srgbClr val="1B2620"/>
                </a:solidFill>
                <a:latin typeface="Calibri" pitchFamily="34" charset="0"/>
                <a:ea typeface="Calibri" pitchFamily="34" charset="-122"/>
                <a:cs typeface="Calibri" pitchFamily="34" charset="-120"/>
              </a:rPr>
              <a:t>Session history is returned for any session id supplied</a:t>
            </a:r>
            <a:endParaRPr lang="en-US" sz="1700" dirty="0"/>
          </a:p>
        </p:txBody>
      </p:sp>
      <p:sp>
        <p:nvSpPr>
          <p:cNvPr id="18" name="Text 16"/>
          <p:cNvSpPr txBox="1"/>
          <p:nvPr/>
        </p:nvSpPr>
        <p:spPr>
          <a:xfrm>
            <a:off x="786384" y="5010912"/>
            <a:ext cx="10058400" cy="566928"/>
          </a:xfrm>
          <a:prstGeom prst="rect">
            <a:avLst/>
          </a:prstGeom>
          <a:noFill/>
          <a:ln/>
        </p:spPr>
        <p:txBody>
          <a:bodyPr wrap="square" lIns="0" tIns="0" rIns="0" bIns="0" rtlCol="0" anchor="t"/>
          <a:lstStyle/>
          <a:p>
            <a:pPr indent="0" marL="0">
              <a:lnSpc>
                <a:spcPct val="106000"/>
              </a:lnSpc>
              <a:buNone/>
            </a:pPr>
            <a:r>
              <a:rPr lang="en-US" sz="1250" dirty="0">
                <a:solidFill>
                  <a:srgbClr val="5C6B62"/>
                </a:solidFill>
                <a:latin typeface="Calibri" pitchFamily="34" charset="0"/>
                <a:ea typeface="Calibri" pitchFamily="34" charset="-122"/>
                <a:cs typeface="Calibri" pitchFamily="34" charset="-120"/>
              </a:rPr>
              <a:t>GET /sessions/{session_id}/history returns raw saved state for a caller-supplied session ID without an in-code owner or principal authorization check.</a:t>
            </a:r>
            <a:endParaRPr lang="en-US" sz="1250" dirty="0"/>
          </a:p>
        </p:txBody>
      </p:sp>
      <p:sp>
        <p:nvSpPr>
          <p:cNvPr id="19" name="Text 17"/>
          <p:cNvSpPr txBox="1"/>
          <p:nvPr/>
        </p:nvSpPr>
        <p:spPr>
          <a:xfrm>
            <a:off x="786384" y="5577840"/>
            <a:ext cx="10058400" cy="475488"/>
          </a:xfrm>
          <a:prstGeom prst="rect">
            <a:avLst/>
          </a:prstGeom>
          <a:noFill/>
          <a:ln/>
        </p:spPr>
        <p:txBody>
          <a:bodyPr wrap="square" lIns="0" tIns="0" rIns="0" bIns="0" rtlCol="0" anchor="t"/>
          <a:lstStyle/>
          <a:p>
            <a:pPr indent="0" marL="0">
              <a:lnSpc>
                <a:spcPct val="104000"/>
              </a:lnSpc>
              <a:buNone/>
            </a:pPr>
            <a:r>
              <a:rPr lang="en-US" sz="1150" i="1" dirty="0">
                <a:solidFill>
                  <a:srgbClr val="15701F"/>
                </a:solidFill>
                <a:latin typeface="Calibri" pitchFamily="34" charset="0"/>
                <a:ea typeface="Calibri" pitchFamily="34" charset="-122"/>
                <a:cs typeface="Calibri" pitchFamily="34" charset="-120"/>
              </a:rPr>
              <a:t>Why it matters: it reads back the same saved state without proving the caller owns that session — the read path to the object above.</a:t>
            </a:r>
            <a:endParaRPr lang="en-US" sz="1150" dirty="0"/>
          </a:p>
        </p:txBody>
      </p:sp>
      <p:sp>
        <p:nvSpPr>
          <p:cNvPr id="20" name="Text 18"/>
          <p:cNvSpPr txBox="1"/>
          <p:nvPr/>
        </p:nvSpPr>
        <p:spPr>
          <a:xfrm>
            <a:off x="786384" y="6071616"/>
            <a:ext cx="10058400" cy="219456"/>
          </a:xfrm>
          <a:prstGeom prst="rect">
            <a:avLst/>
          </a:prstGeom>
          <a:noFill/>
          <a:ln/>
        </p:spPr>
        <p:txBody>
          <a:bodyPr wrap="square" lIns="0" tIns="0" rIns="0" bIns="0" rtlCol="0" anchor="ctr"/>
          <a:lstStyle/>
          <a:p>
            <a:pPr indent="0" marL="0">
              <a:buNone/>
            </a:pPr>
            <a:r>
              <a:rPr lang="en-US" sz="950" dirty="0">
                <a:solidFill>
                  <a:srgbClr val="5C6B62"/>
                </a:solidFill>
                <a:latin typeface="Consolas" pitchFamily="34" charset="0"/>
                <a:ea typeface="Consolas" pitchFamily="34" charset="-122"/>
                <a:cs typeface="Consolas" pitchFamily="34" charset="-120"/>
              </a:rPr>
              <a:t>routes/agent_routes.py : 486–528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3F12"/>
        </a:solidFill>
      </p:bgPr>
    </p:bg>
    <p:spTree>
      <p:nvGrpSpPr>
        <p:cNvPr id="1" name=""/>
        <p:cNvGrpSpPr/>
        <p:nvPr/>
      </p:nvGrpSpPr>
      <p:grpSpPr>
        <a:xfrm>
          <a:off x="0" y="0"/>
          <a:ext cx="0" cy="0"/>
          <a:chOff x="0" y="0"/>
          <a:chExt cx="0" cy="0"/>
        </a:xfrm>
      </p:grpSpPr>
      <p:sp>
        <p:nvSpPr>
          <p:cNvPr id="2" name="Text 0"/>
          <p:cNvSpPr txBox="1"/>
          <p:nvPr/>
        </p:nvSpPr>
        <p:spPr>
          <a:xfrm>
            <a:off x="548640" y="566928"/>
            <a:ext cx="5486400" cy="237744"/>
          </a:xfrm>
          <a:prstGeom prst="rect">
            <a:avLst/>
          </a:prstGeom>
          <a:noFill/>
          <a:ln/>
        </p:spPr>
        <p:txBody>
          <a:bodyPr wrap="square" lIns="0" tIns="0" rIns="0" bIns="0" rtlCol="0" anchor="ctr"/>
          <a:lstStyle/>
          <a:p>
            <a:pPr indent="0" marL="0">
              <a:buNone/>
            </a:pPr>
            <a:r>
              <a:rPr lang="en-US" sz="1000" b="1" spc="160" kern="0" dirty="0">
                <a:solidFill>
                  <a:srgbClr val="C9DFCD"/>
                </a:solidFill>
                <a:latin typeface="Calibri" pitchFamily="34" charset="0"/>
                <a:ea typeface="Calibri" pitchFamily="34" charset="-122"/>
                <a:cs typeface="Calibri" pitchFamily="34" charset="-120"/>
              </a:rPr>
              <a:t>REMEDIATION</a:t>
            </a:r>
            <a:endParaRPr lang="en-US" sz="1000" dirty="0"/>
          </a:p>
        </p:txBody>
      </p:sp>
      <p:sp>
        <p:nvSpPr>
          <p:cNvPr id="3" name="Text 1"/>
          <p:cNvSpPr txBox="1"/>
          <p:nvPr/>
        </p:nvSpPr>
        <p:spPr>
          <a:xfrm>
            <a:off x="548640" y="877824"/>
            <a:ext cx="10607040" cy="56692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Turning the check into a control</a:t>
            </a:r>
            <a:endParaRPr lang="en-US" sz="3100" dirty="0"/>
          </a:p>
        </p:txBody>
      </p:sp>
      <p:sp>
        <p:nvSpPr>
          <p:cNvPr id="4" name="Text 2"/>
          <p:cNvSpPr txBox="1"/>
          <p:nvPr/>
        </p:nvSpPr>
        <p:spPr>
          <a:xfrm>
            <a:off x="548640" y="1627632"/>
            <a:ext cx="457200" cy="365760"/>
          </a:xfrm>
          <a:prstGeom prst="rect">
            <a:avLst/>
          </a:prstGeom>
          <a:noFill/>
          <a:ln/>
        </p:spPr>
        <p:txBody>
          <a:bodyPr wrap="square" lIns="0" tIns="0" rIns="0" bIns="0" rtlCol="0" anchor="ctr"/>
          <a:lstStyle/>
          <a:p>
            <a:pPr indent="0" marL="0">
              <a:buNone/>
            </a:pPr>
            <a:r>
              <a:rPr lang="en-US" sz="1900" b="1" dirty="0">
                <a:solidFill>
                  <a:srgbClr val="5FBF6C"/>
                </a:solidFill>
                <a:latin typeface="Cambria" pitchFamily="34" charset="0"/>
                <a:ea typeface="Cambria" pitchFamily="34" charset="-122"/>
                <a:cs typeface="Cambria" pitchFamily="34" charset="-120"/>
              </a:rPr>
              <a:t>1</a:t>
            </a:r>
            <a:endParaRPr lang="en-US" sz="1900" dirty="0"/>
          </a:p>
        </p:txBody>
      </p:sp>
      <p:sp>
        <p:nvSpPr>
          <p:cNvPr id="5" name="Text 3"/>
          <p:cNvSpPr txBox="1"/>
          <p:nvPr/>
        </p:nvSpPr>
        <p:spPr>
          <a:xfrm>
            <a:off x="1115568" y="1645920"/>
            <a:ext cx="996696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Move the check to the dispatch layer</a:t>
            </a:r>
            <a:endParaRPr lang="en-US" sz="1450" dirty="0"/>
          </a:p>
        </p:txBody>
      </p:sp>
      <p:sp>
        <p:nvSpPr>
          <p:cNvPr id="6" name="Text 4"/>
          <p:cNvSpPr txBox="1"/>
          <p:nvPr/>
        </p:nvSpPr>
        <p:spPr>
          <a:xfrm>
            <a:off x="1115568" y="1901952"/>
            <a:ext cx="9966960" cy="457200"/>
          </a:xfrm>
          <a:prstGeom prst="rect">
            <a:avLst/>
          </a:prstGeom>
          <a:noFill/>
          <a:ln/>
        </p:spPr>
        <p:txBody>
          <a:bodyPr wrap="square" lIns="0" tIns="0" rIns="0" bIns="0" rtlCol="0" anchor="t"/>
          <a:lstStyle/>
          <a:p>
            <a:pPr indent="0" marL="0">
              <a:lnSpc>
                <a:spcPct val="104000"/>
              </a:lnSpc>
              <a:buNone/>
            </a:pPr>
            <a:r>
              <a:rPr lang="en-US" sz="1100" dirty="0">
                <a:solidFill>
                  <a:srgbClr val="C9DFCD"/>
                </a:solidFill>
                <a:latin typeface="Calibri" pitchFamily="34" charset="0"/>
                <a:ea typeface="Calibri" pitchFamily="34" charset="-122"/>
                <a:cs typeface="Calibri" pitchFamily="34" charset="-120"/>
              </a:rPr>
              <a:t>Enforce member scope once, where tools are invoked, so a new capability cannot ship without it.</a:t>
            </a:r>
            <a:endParaRPr lang="en-US" sz="1100" dirty="0"/>
          </a:p>
        </p:txBody>
      </p:sp>
      <p:sp>
        <p:nvSpPr>
          <p:cNvPr id="7" name="Text 5"/>
          <p:cNvSpPr txBox="1"/>
          <p:nvPr/>
        </p:nvSpPr>
        <p:spPr>
          <a:xfrm>
            <a:off x="548640" y="2414016"/>
            <a:ext cx="457200" cy="365760"/>
          </a:xfrm>
          <a:prstGeom prst="rect">
            <a:avLst/>
          </a:prstGeom>
          <a:noFill/>
          <a:ln/>
        </p:spPr>
        <p:txBody>
          <a:bodyPr wrap="square" lIns="0" tIns="0" rIns="0" bIns="0" rtlCol="0" anchor="ctr"/>
          <a:lstStyle/>
          <a:p>
            <a:pPr indent="0" marL="0">
              <a:buNone/>
            </a:pPr>
            <a:r>
              <a:rPr lang="en-US" sz="1900" b="1" dirty="0">
                <a:solidFill>
                  <a:srgbClr val="5FBF6C"/>
                </a:solidFill>
                <a:latin typeface="Cambria" pitchFamily="34" charset="0"/>
                <a:ea typeface="Cambria" pitchFamily="34" charset="-122"/>
                <a:cs typeface="Cambria" pitchFamily="34" charset="-120"/>
              </a:rPr>
              <a:t>2</a:t>
            </a:r>
            <a:endParaRPr lang="en-US" sz="1900" dirty="0"/>
          </a:p>
        </p:txBody>
      </p:sp>
      <p:sp>
        <p:nvSpPr>
          <p:cNvPr id="8" name="Text 6"/>
          <p:cNvSpPr txBox="1"/>
          <p:nvPr/>
        </p:nvSpPr>
        <p:spPr>
          <a:xfrm>
            <a:off x="1115568" y="2432304"/>
            <a:ext cx="996696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Make the enrollment path fail closed</a:t>
            </a:r>
            <a:endParaRPr lang="en-US" sz="1450" dirty="0"/>
          </a:p>
        </p:txBody>
      </p:sp>
      <p:sp>
        <p:nvSpPr>
          <p:cNvPr id="9" name="Text 7"/>
          <p:cNvSpPr txBox="1"/>
          <p:nvPr/>
        </p:nvSpPr>
        <p:spPr>
          <a:xfrm>
            <a:off x="1115568" y="2688336"/>
            <a:ext cx="9966960" cy="457200"/>
          </a:xfrm>
          <a:prstGeom prst="rect">
            <a:avLst/>
          </a:prstGeom>
          <a:noFill/>
          <a:ln/>
        </p:spPr>
        <p:txBody>
          <a:bodyPr wrap="square" lIns="0" tIns="0" rIns="0" bIns="0" rtlCol="0" anchor="t"/>
          <a:lstStyle/>
          <a:p>
            <a:pPr indent="0" marL="0">
              <a:lnSpc>
                <a:spcPct val="104000"/>
              </a:lnSpc>
              <a:buNone/>
            </a:pPr>
            <a:r>
              <a:rPr lang="en-US" sz="1100" dirty="0">
                <a:solidFill>
                  <a:srgbClr val="C9DFCD"/>
                </a:solidFill>
                <a:latin typeface="Calibri" pitchFamily="34" charset="0"/>
                <a:ea typeface="Calibri" pitchFamily="34" charset="-122"/>
                <a:cs typeface="Calibri" pitchFamily="34" charset="-120"/>
              </a:rPr>
              <a:t>Reject an unmatched patient locally instead of calling the service with a zero identifier and relying on it to refuse.</a:t>
            </a:r>
            <a:endParaRPr lang="en-US" sz="1100" dirty="0"/>
          </a:p>
        </p:txBody>
      </p:sp>
      <p:sp>
        <p:nvSpPr>
          <p:cNvPr id="10" name="Text 8"/>
          <p:cNvSpPr txBox="1"/>
          <p:nvPr/>
        </p:nvSpPr>
        <p:spPr>
          <a:xfrm>
            <a:off x="548640" y="3200400"/>
            <a:ext cx="457200" cy="365760"/>
          </a:xfrm>
          <a:prstGeom prst="rect">
            <a:avLst/>
          </a:prstGeom>
          <a:noFill/>
          <a:ln/>
        </p:spPr>
        <p:txBody>
          <a:bodyPr wrap="square" lIns="0" tIns="0" rIns="0" bIns="0" rtlCol="0" anchor="ctr"/>
          <a:lstStyle/>
          <a:p>
            <a:pPr indent="0" marL="0">
              <a:buNone/>
            </a:pPr>
            <a:r>
              <a:rPr lang="en-US" sz="1900" b="1" dirty="0">
                <a:solidFill>
                  <a:srgbClr val="5FBF6C"/>
                </a:solidFill>
                <a:latin typeface="Cambria" pitchFamily="34" charset="0"/>
                <a:ea typeface="Cambria" pitchFamily="34" charset="-122"/>
                <a:cs typeface="Cambria" pitchFamily="34" charset="-120"/>
              </a:rPr>
              <a:t>3</a:t>
            </a:r>
            <a:endParaRPr lang="en-US" sz="1900" dirty="0"/>
          </a:p>
        </p:txBody>
      </p:sp>
      <p:sp>
        <p:nvSpPr>
          <p:cNvPr id="11" name="Text 9"/>
          <p:cNvSpPr txBox="1"/>
          <p:nvPr/>
        </p:nvSpPr>
        <p:spPr>
          <a:xfrm>
            <a:off x="1115568" y="3218688"/>
            <a:ext cx="996696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Keep the model out of identity everywhere</a:t>
            </a:r>
            <a:endParaRPr lang="en-US" sz="1450" dirty="0"/>
          </a:p>
        </p:txBody>
      </p:sp>
      <p:sp>
        <p:nvSpPr>
          <p:cNvPr id="12" name="Text 10"/>
          <p:cNvSpPr txBox="1"/>
          <p:nvPr/>
        </p:nvSpPr>
        <p:spPr>
          <a:xfrm>
            <a:off x="1115568" y="3474720"/>
            <a:ext cx="9966960" cy="457200"/>
          </a:xfrm>
          <a:prstGeom prst="rect">
            <a:avLst/>
          </a:prstGeom>
          <a:noFill/>
          <a:ln/>
        </p:spPr>
        <p:txBody>
          <a:bodyPr wrap="square" lIns="0" tIns="0" rIns="0" bIns="0" rtlCol="0" anchor="t"/>
          <a:lstStyle/>
          <a:p>
            <a:pPr indent="0" marL="0">
              <a:lnSpc>
                <a:spcPct val="104000"/>
              </a:lnSpc>
              <a:buNone/>
            </a:pPr>
            <a:r>
              <a:rPr lang="en-US" sz="1100" dirty="0">
                <a:solidFill>
                  <a:srgbClr val="C9DFCD"/>
                </a:solidFill>
                <a:latin typeface="Calibri" pitchFamily="34" charset="0"/>
                <a:ea typeface="Calibri" pitchFamily="34" charset="-122"/>
                <a:cs typeface="Calibri" pitchFamily="34" charset="-120"/>
              </a:rPr>
              <a:t>The enrollment path already resolves its fields from saved state; apply the same rule to any field another capability still takes from tool arguments.</a:t>
            </a:r>
            <a:endParaRPr lang="en-US" sz="1100" dirty="0"/>
          </a:p>
        </p:txBody>
      </p:sp>
      <p:sp>
        <p:nvSpPr>
          <p:cNvPr id="13" name="Text 11"/>
          <p:cNvSpPr txBox="1"/>
          <p:nvPr/>
        </p:nvSpPr>
        <p:spPr>
          <a:xfrm>
            <a:off x="548640" y="3986784"/>
            <a:ext cx="457200" cy="365760"/>
          </a:xfrm>
          <a:prstGeom prst="rect">
            <a:avLst/>
          </a:prstGeom>
          <a:noFill/>
          <a:ln/>
        </p:spPr>
        <p:txBody>
          <a:bodyPr wrap="square" lIns="0" tIns="0" rIns="0" bIns="0" rtlCol="0" anchor="ctr"/>
          <a:lstStyle/>
          <a:p>
            <a:pPr indent="0" marL="0">
              <a:buNone/>
            </a:pPr>
            <a:r>
              <a:rPr lang="en-US" sz="1900" b="1" dirty="0">
                <a:solidFill>
                  <a:srgbClr val="5FBF6C"/>
                </a:solidFill>
                <a:latin typeface="Cambria" pitchFamily="34" charset="0"/>
                <a:ea typeface="Cambria" pitchFamily="34" charset="-122"/>
                <a:cs typeface="Cambria" pitchFamily="34" charset="-120"/>
              </a:rPr>
              <a:t>4</a:t>
            </a:r>
            <a:endParaRPr lang="en-US" sz="1900" dirty="0"/>
          </a:p>
        </p:txBody>
      </p:sp>
      <p:sp>
        <p:nvSpPr>
          <p:cNvPr id="14" name="Text 12"/>
          <p:cNvSpPr txBox="1"/>
          <p:nvPr/>
        </p:nvSpPr>
        <p:spPr>
          <a:xfrm>
            <a:off x="1115568" y="4005072"/>
            <a:ext cx="996696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Bind the session to a caller</a:t>
            </a:r>
            <a:endParaRPr lang="en-US" sz="1450" dirty="0"/>
          </a:p>
        </p:txBody>
      </p:sp>
      <p:sp>
        <p:nvSpPr>
          <p:cNvPr id="15" name="Text 13"/>
          <p:cNvSpPr txBox="1"/>
          <p:nvPr/>
        </p:nvSpPr>
        <p:spPr>
          <a:xfrm>
            <a:off x="1115568" y="4261104"/>
            <a:ext cx="9966960" cy="457200"/>
          </a:xfrm>
          <a:prstGeom prst="rect">
            <a:avLst/>
          </a:prstGeom>
          <a:noFill/>
          <a:ln/>
        </p:spPr>
        <p:txBody>
          <a:bodyPr wrap="square" lIns="0" tIns="0" rIns="0" bIns="0" rtlCol="0" anchor="t"/>
          <a:lstStyle/>
          <a:p>
            <a:pPr indent="0" marL="0">
              <a:lnSpc>
                <a:spcPct val="104000"/>
              </a:lnSpc>
              <a:buNone/>
            </a:pPr>
            <a:r>
              <a:rPr lang="en-US" sz="1100" dirty="0">
                <a:solidFill>
                  <a:srgbClr val="C9DFCD"/>
                </a:solidFill>
                <a:latin typeface="Calibri" pitchFamily="34" charset="0"/>
                <a:ea typeface="Calibri" pitchFamily="34" charset="-122"/>
                <a:cs typeface="Calibri" pitchFamily="34" charset="-120"/>
              </a:rPr>
              <a:t>Tie the session identifier to an authenticated principal, or sign it, so a supplied identifier cannot address another member's conversation.</a:t>
            </a:r>
            <a:endParaRPr lang="en-US" sz="1100" dirty="0"/>
          </a:p>
        </p:txBody>
      </p:sp>
      <p:sp>
        <p:nvSpPr>
          <p:cNvPr id="16" name="Text 14"/>
          <p:cNvSpPr txBox="1"/>
          <p:nvPr/>
        </p:nvSpPr>
        <p:spPr>
          <a:xfrm>
            <a:off x="548640" y="4773168"/>
            <a:ext cx="457200" cy="365760"/>
          </a:xfrm>
          <a:prstGeom prst="rect">
            <a:avLst/>
          </a:prstGeom>
          <a:noFill/>
          <a:ln/>
        </p:spPr>
        <p:txBody>
          <a:bodyPr wrap="square" lIns="0" tIns="0" rIns="0" bIns="0" rtlCol="0" anchor="ctr"/>
          <a:lstStyle/>
          <a:p>
            <a:pPr indent="0" marL="0">
              <a:buNone/>
            </a:pPr>
            <a:r>
              <a:rPr lang="en-US" sz="1900" b="1" dirty="0">
                <a:solidFill>
                  <a:srgbClr val="5FBF6C"/>
                </a:solidFill>
                <a:latin typeface="Cambria" pitchFamily="34" charset="0"/>
                <a:ea typeface="Cambria" pitchFamily="34" charset="-122"/>
                <a:cs typeface="Cambria" pitchFamily="34" charset="-120"/>
              </a:rPr>
              <a:t>5</a:t>
            </a:r>
            <a:endParaRPr lang="en-US" sz="1900" dirty="0"/>
          </a:p>
        </p:txBody>
      </p:sp>
      <p:sp>
        <p:nvSpPr>
          <p:cNvPr id="17" name="Text 15"/>
          <p:cNvSpPr txBox="1"/>
          <p:nvPr/>
        </p:nvSpPr>
        <p:spPr>
          <a:xfrm>
            <a:off x="1115568" y="4791456"/>
            <a:ext cx="996696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Add a member-scope check at the MCP layer</a:t>
            </a:r>
            <a:endParaRPr lang="en-US" sz="1450" dirty="0"/>
          </a:p>
        </p:txBody>
      </p:sp>
      <p:sp>
        <p:nvSpPr>
          <p:cNvPr id="18" name="Text 16"/>
          <p:cNvSpPr txBox="1"/>
          <p:nvPr/>
        </p:nvSpPr>
        <p:spPr>
          <a:xfrm>
            <a:off x="1115568" y="5047488"/>
            <a:ext cx="9966960" cy="457200"/>
          </a:xfrm>
          <a:prstGeom prst="rect">
            <a:avLst/>
          </a:prstGeom>
          <a:noFill/>
          <a:ln/>
        </p:spPr>
        <p:txBody>
          <a:bodyPr wrap="square" lIns="0" tIns="0" rIns="0" bIns="0" rtlCol="0" anchor="t"/>
          <a:lstStyle/>
          <a:p>
            <a:pPr indent="0" marL="0">
              <a:lnSpc>
                <a:spcPct val="104000"/>
              </a:lnSpc>
              <a:buNone/>
            </a:pPr>
            <a:r>
              <a:rPr lang="en-US" sz="1100" dirty="0">
                <a:solidFill>
                  <a:srgbClr val="C9DFCD"/>
                </a:solidFill>
                <a:latin typeface="Calibri" pitchFamily="34" charset="0"/>
                <a:ea typeface="Calibri" pitchFamily="34" charset="-122"/>
                <a:cs typeface="Calibri" pitchFamily="34" charset="-120"/>
              </a:rPr>
              <a:t>Defence in depth, so the control does not depend on every caller being well behaved.</a:t>
            </a:r>
            <a:endParaRPr lang="en-US" sz="1100" dirty="0"/>
          </a:p>
        </p:txBody>
      </p:sp>
      <p:sp>
        <p:nvSpPr>
          <p:cNvPr id="19" name="Text 17"/>
          <p:cNvSpPr txBox="1"/>
          <p:nvPr/>
        </p:nvSpPr>
        <p:spPr>
          <a:xfrm>
            <a:off x="548640" y="6419088"/>
            <a:ext cx="10607040" cy="292608"/>
          </a:xfrm>
          <a:prstGeom prst="rect">
            <a:avLst/>
          </a:prstGeom>
          <a:noFill/>
          <a:ln/>
        </p:spPr>
        <p:txBody>
          <a:bodyPr wrap="square" lIns="0" tIns="0" rIns="0" bIns="0" rtlCol="0" anchor="ctr"/>
          <a:lstStyle/>
          <a:p>
            <a:pPr indent="0" marL="0">
              <a:buNone/>
            </a:pPr>
            <a:r>
              <a:rPr lang="en-US" sz="1100" i="1" dirty="0">
                <a:solidFill>
                  <a:srgbClr val="C9DFCD"/>
                </a:solidFill>
                <a:latin typeface="Calibri" pitchFamily="34" charset="0"/>
                <a:ea typeface="Calibri" pitchFamily="34" charset="-122"/>
                <a:cs typeface="Calibri" pitchFamily="34" charset="-120"/>
              </a:rPr>
              <a:t>Items 1 to 3 are the ones that change the risk picture. The rest reduce how much has to go right for the control to hold.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Member Chatbot Identity Control</dc:title>
  <dc:subject>PptxGenJS Presentation</dc:subject>
  <dc:creator>Delta Dental of Michigan</dc:creator>
  <cp:lastModifiedBy>Delta Dental of Michigan</cp:lastModifiedBy>
  <cp:revision>1</cp:revision>
  <dcterms:created xsi:type="dcterms:W3CDTF">2026-09-18T14:34:29Z</dcterms:created>
  <dcterms:modified xsi:type="dcterms:W3CDTF">2026-09-18T14:34:29Z</dcterms:modified>
</cp:coreProperties>
</file>