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session: walk through the proposed tables using concrete example data, and collect your reactions. Nothing here is built yet. Everything is fabricated - no real member or provider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Transcription and summarization already work. This is strictly about what happens next. Volume is around 1500 a day, which is small enough that we do not need to design for performance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CareSource is not a special kind of thing - it is the first client who asked for their own categories. The pattern is 'a client hands us a list and wants a report'. Use case 3 is a real open question for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drive every design decision that follows. If someone disagrees with one of these, stop here and settle it - the rest of the deck depends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exists because the three groups have different lifecycles. Config is edited by people. Routing is edited rarely. Results are written by a batch process and never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version table is what makes 'only new calls get the new categories' work. It also means a report spanning a quarter boundary mixes two versions - we roll up on the stable category code, not the row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rows 1000 and 1004 - parent_id 1000 is what makes Payment Amount a child of Dispute. Then rows 1301/1302 for the same pattern in our own taxonomy. A flat client list would just be rows with no parent. One table, both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Originally I had these as two separate sets, routed by queue. That was wrong - there is no queue that separates inquiry from dispute. It is an outcome of the analysis, so it has to be a category level. Ten-minute job for someone: diff the two real lists on definitions, not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Wendy's draft has no home for. Her draft put the client on each category row, which repeats it across all 24 CareSource rows and still cannot express 'provider calls only'. Note the sequencing point at the bottom - if caller type comes out of the summarization model, our routing depends on a model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layer is what keeps two categorizations of the same call apart. The reason layer is what lets one call carry several questions. Neither is optional if we want both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Trace one path out loud: run 5030 belongs to interaction 88401 and set version 101; reason 6030 belongs to run 5030; category row 7030 points reason 6030 at category 1102, which is Inquiry to Eligibility in the CareSource list. Then note run 5031 does the same thing for our own taxonomy on the same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friction line in both runs - it is the same portal gap described two ways. That is the argument for capturing friction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kills the one-category-per-call idea. If we stored a single category we would keep 'Benefits' and lose the dependent question, the billing question, and all three friction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chat is the answer to 'why not just put the category on the call'. The agency row is the answer to 'how do we know nothing was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flagging to Tim before he sees it in a chart: a category that only exists in v2, like Waiting Period, will show a break in the trend line at the quarter boundary. That is correct behaviour, not a bug, but it needs explaining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reactions on the shape first, then work through these six. Items 1 and 3 are quick lookups. Item 6 is the one nobody has raised yet and it is a schema question, not just a process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065A82">
              <a:alpha val="55000"/>
            </a:srgbClr>
          </a:solidFill>
          <a:ln/>
        </p:spPr>
      </p:sp>
      <p:sp>
        <p:nvSpPr>
          <p:cNvPr id="3" name="Shape 1"/>
          <p:cNvSpPr/>
          <p:nvPr/>
        </p:nvSpPr>
        <p:spPr>
          <a:xfrm>
            <a:off x="10241280" y="3840480"/>
            <a:ext cx="3108960" cy="3108960"/>
          </a:xfrm>
          <a:prstGeom prst="ellipse">
            <a:avLst/>
          </a:prstGeom>
          <a:solidFill>
            <a:srgbClr val="1C7293">
              <a:alpha val="40000"/>
            </a:srgbClr>
          </a:solidFill>
          <a:ln/>
        </p:spPr>
      </p:sp>
      <p:sp>
        <p:nvSpPr>
          <p:cNvPr id="4" name="Text 2"/>
          <p:cNvSpPr txBox="1"/>
          <p:nvPr/>
        </p:nvSpPr>
        <p:spPr>
          <a:xfrm>
            <a:off x="640080" y="1965960"/>
            <a:ext cx="8229600" cy="365760"/>
          </a:xfrm>
          <a:prstGeom prst="rect">
            <a:avLst/>
          </a:prstGeom>
          <a:noFill/>
          <a:ln/>
        </p:spPr>
        <p:txBody>
          <a:bodyPr wrap="square" lIns="0" tIns="0" rIns="0" bIns="0" rtlCol="0" anchor="ctr"/>
          <a:lstStyle/>
          <a:p>
            <a:pPr indent="0" marL="0">
              <a:buNone/>
            </a:pPr>
            <a:r>
              <a:rPr lang="en-US" sz="1300" b="1" spc="300" kern="0" dirty="0">
                <a:solidFill>
                  <a:srgbClr val="9FC5DC"/>
                </a:solidFill>
                <a:latin typeface="Calibri" pitchFamily="34" charset="0"/>
                <a:ea typeface="Calibri" pitchFamily="34" charset="-122"/>
                <a:cs typeface="Calibri" pitchFamily="34" charset="-120"/>
              </a:rPr>
              <a:t>CALL ANALYTICS</a:t>
            </a:r>
            <a:endParaRPr lang="en-US" sz="1300" dirty="0"/>
          </a:p>
        </p:txBody>
      </p:sp>
      <p:sp>
        <p:nvSpPr>
          <p:cNvPr id="5" name="Text 3"/>
          <p:cNvSpPr txBox="1"/>
          <p:nvPr/>
        </p:nvSpPr>
        <p:spPr>
          <a:xfrm>
            <a:off x="640080" y="2377440"/>
            <a:ext cx="8229600" cy="173736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Categorization</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Data Model</a:t>
            </a:r>
            <a:endParaRPr lang="en-US" sz="4600" dirty="0"/>
          </a:p>
        </p:txBody>
      </p:sp>
      <p:sp>
        <p:nvSpPr>
          <p:cNvPr id="6" name="Text 4"/>
          <p:cNvSpPr txBox="1"/>
          <p:nvPr/>
        </p:nvSpPr>
        <p:spPr>
          <a:xfrm>
            <a:off x="640080" y="4297680"/>
            <a:ext cx="7863840" cy="548640"/>
          </a:xfrm>
          <a:prstGeom prst="rect">
            <a:avLst/>
          </a:prstGeom>
          <a:noFill/>
          <a:ln/>
        </p:spPr>
        <p:txBody>
          <a:bodyPr wrap="square" lIns="0" tIns="0" rIns="0" bIns="0" rtlCol="0" anchor="ctr"/>
          <a:lstStyle/>
          <a:p>
            <a:pPr indent="0" marL="0">
              <a:buNone/>
            </a:pPr>
            <a:r>
              <a:rPr lang="en-US" sz="1600" dirty="0">
                <a:solidFill>
                  <a:srgbClr val="C9DDE9"/>
                </a:solidFill>
                <a:latin typeface="Calibri" pitchFamily="34" charset="0"/>
                <a:ea typeface="Calibri" pitchFamily="34" charset="-122"/>
                <a:cs typeface="Calibri" pitchFamily="34" charset="-120"/>
              </a:rPr>
              <a:t>What we are storing, why it is shaped this way, and what we still need to decide</a:t>
            </a:r>
            <a:endParaRPr lang="en-US" sz="1600" dirty="0"/>
          </a:p>
        </p:txBody>
      </p:sp>
      <p:sp>
        <p:nvSpPr>
          <p:cNvPr id="7" name="Text 5"/>
          <p:cNvSpPr txBox="1"/>
          <p:nvPr/>
        </p:nvSpPr>
        <p:spPr>
          <a:xfrm>
            <a:off x="640080" y="5806440"/>
            <a:ext cx="7315200" cy="320040"/>
          </a:xfrm>
          <a:prstGeom prst="rect">
            <a:avLst/>
          </a:prstGeom>
          <a:noFill/>
          <a:ln/>
        </p:spPr>
        <p:txBody>
          <a:bodyPr wrap="square" lIns="0" tIns="0" rIns="0" bIns="0" rtlCol="0" anchor="ctr"/>
          <a:lstStyle/>
          <a:p>
            <a:pPr indent="0" marL="0">
              <a:buNone/>
            </a:pPr>
            <a:r>
              <a:rPr lang="en-US" sz="1200" i="1" dirty="0">
                <a:solidFill>
                  <a:srgbClr val="8FA8BC"/>
                </a:solidFill>
                <a:latin typeface="Calibri" pitchFamily="34" charset="0"/>
                <a:ea typeface="Calibri" pitchFamily="34" charset="-122"/>
                <a:cs typeface="Calibri" pitchFamily="34" charset="-120"/>
              </a:rPr>
              <a:t>Draft for discussion  ·  all example data is fabricated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JOB</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For every interaction, figure out why they contacted us</a:t>
            </a:r>
            <a:endParaRPr lang="en-US" sz="3200" dirty="0"/>
          </a:p>
        </p:txBody>
      </p:sp>
      <p:sp>
        <p:nvSpPr>
          <p:cNvPr id="4" name="Text 2"/>
          <p:cNvSpPr txBox="1"/>
          <p:nvPr/>
        </p:nvSpPr>
        <p:spPr>
          <a:xfrm>
            <a:off x="640080" y="1234440"/>
            <a:ext cx="10241280" cy="640080"/>
          </a:xfrm>
          <a:prstGeom prst="rect">
            <a:avLst/>
          </a:prstGeom>
          <a:noFill/>
          <a:ln/>
        </p:spPr>
        <p:txBody>
          <a:bodyPr wrap="square" lIns="0" tIns="0" rIns="0" bIns="0" rtlCol="0" anchor="ctr"/>
          <a:lstStyle/>
          <a:p>
            <a:pPr indent="0" marL="0">
              <a:buNone/>
            </a:pPr>
            <a:r>
              <a:rPr lang="en-US" sz="1600" dirty="0">
                <a:solidFill>
                  <a:srgbClr val="5A6675"/>
                </a:solidFill>
                <a:latin typeface="Calibri" pitchFamily="34" charset="0"/>
                <a:ea typeface="Calibri" pitchFamily="34" charset="-122"/>
                <a:cs typeface="Calibri" pitchFamily="34" charset="-120"/>
              </a:rPr>
              <a:t>…and store it so that several different reports, each wanting a different category list, can all be served from the same data.</a:t>
            </a:r>
            <a:endParaRPr lang="en-US" sz="1600" dirty="0"/>
          </a:p>
        </p:txBody>
      </p:sp>
      <p:sp>
        <p:nvSpPr>
          <p:cNvPr id="5" name="Shape 3"/>
          <p:cNvSpPr/>
          <p:nvPr/>
        </p:nvSpPr>
        <p:spPr>
          <a:xfrm>
            <a:off x="640080" y="2286000"/>
            <a:ext cx="2514600" cy="2194560"/>
          </a:xfrm>
          <a:prstGeom prst="roundRect">
            <a:avLst>
              <a:gd name="adj" fmla="val 3333"/>
            </a:avLst>
          </a:prstGeom>
          <a:solidFill>
            <a:srgbClr val="EEF3F7"/>
          </a:solidFill>
          <a:ln/>
        </p:spPr>
      </p:sp>
      <p:sp>
        <p:nvSpPr>
          <p:cNvPr id="6" name="Text 4"/>
          <p:cNvSpPr txBox="1"/>
          <p:nvPr/>
        </p:nvSpPr>
        <p:spPr>
          <a:xfrm>
            <a:off x="841248" y="2514600"/>
            <a:ext cx="2112264" cy="77724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Interaction</a:t>
            </a:r>
            <a:endParaRPr lang="en-US" sz="1700" dirty="0"/>
          </a:p>
          <a:p>
            <a:pPr indent="0" marL="0">
              <a:buNone/>
            </a:pPr>
            <a:r>
              <a:rPr lang="en-US" sz="1700" b="1" dirty="0">
                <a:solidFill>
                  <a:srgbClr val="1A2233"/>
                </a:solidFill>
                <a:latin typeface="Cambria" pitchFamily="34" charset="0"/>
                <a:ea typeface="Cambria" pitchFamily="34" charset="-122"/>
                <a:cs typeface="Cambria" pitchFamily="34" charset="-120"/>
              </a:rPr>
              <a:t>completes</a:t>
            </a:r>
            <a:endParaRPr lang="en-US" sz="1700" dirty="0"/>
          </a:p>
        </p:txBody>
      </p:sp>
      <p:sp>
        <p:nvSpPr>
          <p:cNvPr id="7" name="Text 5"/>
          <p:cNvSpPr txBox="1"/>
          <p:nvPr/>
        </p:nvSpPr>
        <p:spPr>
          <a:xfrm>
            <a:off x="841248" y="3703320"/>
            <a:ext cx="2112264" cy="457200"/>
          </a:xfrm>
          <a:prstGeom prst="rect">
            <a:avLst/>
          </a:prstGeom>
          <a:noFill/>
          <a:ln/>
        </p:spPr>
        <p:txBody>
          <a:bodyPr wrap="square" lIns="0" tIns="0" rIns="0" bIns="0" rtlCol="0" anchor="ctr"/>
          <a:lstStyle/>
          <a:p>
            <a:pPr indent="0" marL="0">
              <a:buNone/>
            </a:pPr>
            <a:r>
              <a:rPr lang="en-US" sz="1200" dirty="0">
                <a:solidFill>
                  <a:srgbClr val="5A6675"/>
                </a:solidFill>
                <a:latin typeface="Calibri" pitchFamily="34" charset="0"/>
                <a:ea typeface="Calibri" pitchFamily="34" charset="-122"/>
                <a:cs typeface="Calibri" pitchFamily="34" charset="-120"/>
              </a:rPr>
              <a:t>Call or chat ends</a:t>
            </a:r>
            <a:endParaRPr lang="en-US" sz="1200" dirty="0"/>
          </a:p>
        </p:txBody>
      </p:sp>
      <p:sp>
        <p:nvSpPr>
          <p:cNvPr id="8" name="Text 6"/>
          <p:cNvSpPr txBox="1"/>
          <p:nvPr/>
        </p:nvSpPr>
        <p:spPr>
          <a:xfrm>
            <a:off x="3172968" y="3108960"/>
            <a:ext cx="320040" cy="457200"/>
          </a:xfrm>
          <a:prstGeom prst="rect">
            <a:avLst/>
          </a:prstGeom>
          <a:noFill/>
          <a:ln/>
        </p:spPr>
        <p:txBody>
          <a:bodyPr wrap="square" lIns="0" tIns="0" rIns="0" bIns="0" rtlCol="0" anchor="ctr"/>
          <a:lstStyle/>
          <a:p>
            <a:pPr algn="ctr" indent="0" marL="0">
              <a:buNone/>
            </a:pPr>
            <a:r>
              <a:rPr lang="en-US" sz="2400" b="1" dirty="0">
                <a:solidFill>
                  <a:srgbClr val="1C7293"/>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3474720" y="2286000"/>
            <a:ext cx="2514600" cy="2194560"/>
          </a:xfrm>
          <a:prstGeom prst="roundRect">
            <a:avLst>
              <a:gd name="adj" fmla="val 3333"/>
            </a:avLst>
          </a:prstGeom>
          <a:solidFill>
            <a:srgbClr val="EEF3F7"/>
          </a:solidFill>
          <a:ln/>
        </p:spPr>
      </p:sp>
      <p:sp>
        <p:nvSpPr>
          <p:cNvPr id="10" name="Text 8"/>
          <p:cNvSpPr txBox="1"/>
          <p:nvPr/>
        </p:nvSpPr>
        <p:spPr>
          <a:xfrm>
            <a:off x="3675888" y="2514600"/>
            <a:ext cx="2112264" cy="77724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Transcript</a:t>
            </a:r>
            <a:endParaRPr lang="en-US" sz="1700" dirty="0"/>
          </a:p>
          <a:p>
            <a:pPr indent="0" marL="0">
              <a:buNone/>
            </a:pPr>
            <a:r>
              <a:rPr lang="en-US" sz="1700" b="1" dirty="0">
                <a:solidFill>
                  <a:srgbClr val="1A2233"/>
                </a:solidFill>
                <a:latin typeface="Cambria" pitchFamily="34" charset="0"/>
                <a:ea typeface="Cambria" pitchFamily="34" charset="-122"/>
                <a:cs typeface="Cambria" pitchFamily="34" charset="-120"/>
              </a:rPr>
              <a:t>+ summary</a:t>
            </a:r>
            <a:endParaRPr lang="en-US" sz="1700" dirty="0"/>
          </a:p>
        </p:txBody>
      </p:sp>
      <p:sp>
        <p:nvSpPr>
          <p:cNvPr id="11" name="Text 9"/>
          <p:cNvSpPr txBox="1"/>
          <p:nvPr/>
        </p:nvSpPr>
        <p:spPr>
          <a:xfrm>
            <a:off x="3675888" y="3703320"/>
            <a:ext cx="2112264" cy="457200"/>
          </a:xfrm>
          <a:prstGeom prst="rect">
            <a:avLst/>
          </a:prstGeom>
          <a:noFill/>
          <a:ln/>
        </p:spPr>
        <p:txBody>
          <a:bodyPr wrap="square" lIns="0" tIns="0" rIns="0" bIns="0" rtlCol="0" anchor="ctr"/>
          <a:lstStyle/>
          <a:p>
            <a:pPr indent="0" marL="0">
              <a:buNone/>
            </a:pPr>
            <a:r>
              <a:rPr lang="en-US" sz="1200" dirty="0">
                <a:solidFill>
                  <a:srgbClr val="5A6675"/>
                </a:solidFill>
                <a:latin typeface="Calibri" pitchFamily="34" charset="0"/>
                <a:ea typeface="Calibri" pitchFamily="34" charset="-122"/>
                <a:cs typeface="Calibri" pitchFamily="34" charset="-120"/>
              </a:rPr>
              <a:t>Already in Oracle today</a:t>
            </a:r>
            <a:endParaRPr lang="en-US" sz="1200" dirty="0"/>
          </a:p>
        </p:txBody>
      </p:sp>
      <p:sp>
        <p:nvSpPr>
          <p:cNvPr id="12" name="Text 10"/>
          <p:cNvSpPr txBox="1"/>
          <p:nvPr/>
        </p:nvSpPr>
        <p:spPr>
          <a:xfrm>
            <a:off x="6007608" y="3108960"/>
            <a:ext cx="320040" cy="457200"/>
          </a:xfrm>
          <a:prstGeom prst="rect">
            <a:avLst/>
          </a:prstGeom>
          <a:noFill/>
          <a:ln/>
        </p:spPr>
        <p:txBody>
          <a:bodyPr wrap="square" lIns="0" tIns="0" rIns="0" bIns="0" rtlCol="0" anchor="ctr"/>
          <a:lstStyle/>
          <a:p>
            <a:pPr algn="ctr" indent="0" marL="0">
              <a:buNone/>
            </a:pPr>
            <a:r>
              <a:rPr lang="en-US" sz="2400" b="1" dirty="0">
                <a:solidFill>
                  <a:srgbClr val="1C7293"/>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6309360" y="2286000"/>
            <a:ext cx="2514600" cy="2194560"/>
          </a:xfrm>
          <a:prstGeom prst="roundRect">
            <a:avLst>
              <a:gd name="adj" fmla="val 3333"/>
            </a:avLst>
          </a:prstGeom>
          <a:solidFill>
            <a:srgbClr val="065A82"/>
          </a:solidFill>
          <a:ln/>
        </p:spPr>
      </p:sp>
      <p:sp>
        <p:nvSpPr>
          <p:cNvPr id="14" name="Text 12"/>
          <p:cNvSpPr txBox="1"/>
          <p:nvPr/>
        </p:nvSpPr>
        <p:spPr>
          <a:xfrm>
            <a:off x="6510528" y="2514600"/>
            <a:ext cx="2112264" cy="7772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Categorize</a:t>
            </a:r>
            <a:endParaRPr lang="en-US" sz="1700" dirty="0"/>
          </a:p>
        </p:txBody>
      </p:sp>
      <p:sp>
        <p:nvSpPr>
          <p:cNvPr id="15" name="Text 13"/>
          <p:cNvSpPr txBox="1"/>
          <p:nvPr/>
        </p:nvSpPr>
        <p:spPr>
          <a:xfrm>
            <a:off x="6510528" y="3703320"/>
            <a:ext cx="2112264" cy="457200"/>
          </a:xfrm>
          <a:prstGeom prst="rect">
            <a:avLst/>
          </a:prstGeom>
          <a:noFill/>
          <a:ln/>
        </p:spPr>
        <p:txBody>
          <a:bodyPr wrap="square" lIns="0" tIns="0" rIns="0" bIns="0" rtlCol="0" anchor="ctr"/>
          <a:lstStyle/>
          <a:p>
            <a:pPr indent="0" marL="0">
              <a:buNone/>
            </a:pPr>
            <a:r>
              <a:rPr lang="en-US" sz="1200" dirty="0">
                <a:solidFill>
                  <a:srgbClr val="C9DDE9"/>
                </a:solidFill>
                <a:latin typeface="Calibri" pitchFamily="34" charset="0"/>
                <a:ea typeface="Calibri" pitchFamily="34" charset="-122"/>
                <a:cs typeface="Calibri" pitchFamily="34" charset="-120"/>
              </a:rPr>
              <a:t>What we are designing</a:t>
            </a:r>
            <a:endParaRPr lang="en-US" sz="1200" dirty="0"/>
          </a:p>
        </p:txBody>
      </p:sp>
      <p:sp>
        <p:nvSpPr>
          <p:cNvPr id="16" name="Text 14"/>
          <p:cNvSpPr txBox="1"/>
          <p:nvPr/>
        </p:nvSpPr>
        <p:spPr>
          <a:xfrm>
            <a:off x="8842248" y="3108960"/>
            <a:ext cx="320040" cy="457200"/>
          </a:xfrm>
          <a:prstGeom prst="rect">
            <a:avLst/>
          </a:prstGeom>
          <a:noFill/>
          <a:ln/>
        </p:spPr>
        <p:txBody>
          <a:bodyPr wrap="square" lIns="0" tIns="0" rIns="0" bIns="0" rtlCol="0" anchor="ctr"/>
          <a:lstStyle/>
          <a:p>
            <a:pPr algn="ctr" indent="0" marL="0">
              <a:buNone/>
            </a:pPr>
            <a:r>
              <a:rPr lang="en-US" sz="2400" b="1" dirty="0">
                <a:solidFill>
                  <a:srgbClr val="1C7293"/>
                </a:solidFill>
                <a:latin typeface="Calibri" pitchFamily="34" charset="0"/>
                <a:ea typeface="Calibri" pitchFamily="34" charset="-122"/>
                <a:cs typeface="Calibri" pitchFamily="34" charset="-120"/>
              </a:rPr>
              <a:t>›</a:t>
            </a:r>
            <a:endParaRPr lang="en-US" sz="2400" dirty="0"/>
          </a:p>
        </p:txBody>
      </p:sp>
      <p:sp>
        <p:nvSpPr>
          <p:cNvPr id="17" name="Shape 15"/>
          <p:cNvSpPr/>
          <p:nvPr/>
        </p:nvSpPr>
        <p:spPr>
          <a:xfrm>
            <a:off x="9144000" y="2286000"/>
            <a:ext cx="2514600" cy="2194560"/>
          </a:xfrm>
          <a:prstGeom prst="roundRect">
            <a:avLst>
              <a:gd name="adj" fmla="val 3333"/>
            </a:avLst>
          </a:prstGeom>
          <a:solidFill>
            <a:srgbClr val="EEF3F7"/>
          </a:solidFill>
          <a:ln/>
        </p:spPr>
      </p:sp>
      <p:sp>
        <p:nvSpPr>
          <p:cNvPr id="18" name="Text 16"/>
          <p:cNvSpPr txBox="1"/>
          <p:nvPr/>
        </p:nvSpPr>
        <p:spPr>
          <a:xfrm>
            <a:off x="9345168" y="2514600"/>
            <a:ext cx="2112264" cy="77724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Report</a:t>
            </a:r>
            <a:endParaRPr lang="en-US" sz="1700" dirty="0"/>
          </a:p>
        </p:txBody>
      </p:sp>
      <p:sp>
        <p:nvSpPr>
          <p:cNvPr id="19" name="Text 17"/>
          <p:cNvSpPr txBox="1"/>
          <p:nvPr/>
        </p:nvSpPr>
        <p:spPr>
          <a:xfrm>
            <a:off x="9345168" y="3703320"/>
            <a:ext cx="2112264" cy="457200"/>
          </a:xfrm>
          <a:prstGeom prst="rect">
            <a:avLst/>
          </a:prstGeom>
          <a:noFill/>
          <a:ln/>
        </p:spPr>
        <p:txBody>
          <a:bodyPr wrap="square" lIns="0" tIns="0" rIns="0" bIns="0" rtlCol="0" anchor="ctr"/>
          <a:lstStyle/>
          <a:p>
            <a:pPr indent="0" marL="0">
              <a:buNone/>
            </a:pPr>
            <a:r>
              <a:rPr lang="en-US" sz="1200" dirty="0">
                <a:solidFill>
                  <a:srgbClr val="5A6675"/>
                </a:solidFill>
                <a:latin typeface="Calibri" pitchFamily="34" charset="0"/>
                <a:ea typeface="Calibri" pitchFamily="34" charset="-122"/>
                <a:cs typeface="Calibri" pitchFamily="34" charset="-120"/>
              </a:rPr>
              <a:t>CareSource, Tim, Michael</a:t>
            </a:r>
            <a:endParaRPr lang="en-US" sz="1200" dirty="0"/>
          </a:p>
        </p:txBody>
      </p:sp>
      <p:sp>
        <p:nvSpPr>
          <p:cNvPr id="20" name="Text 18"/>
          <p:cNvSpPr txBox="1"/>
          <p:nvPr/>
        </p:nvSpPr>
        <p:spPr>
          <a:xfrm>
            <a:off x="640080" y="4846320"/>
            <a:ext cx="10241280" cy="36576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Everything in this deck is about the third box.</a:t>
            </a:r>
            <a:endParaRPr lang="en-US" sz="1500" dirty="0"/>
          </a:p>
        </p:txBody>
      </p:sp>
      <p:sp>
        <p:nvSpPr>
          <p:cNvPr id="21" name="Text 19"/>
          <p:cNvSpPr txBox="1"/>
          <p:nvPr/>
        </p:nvSpPr>
        <p:spPr>
          <a:xfrm>
            <a:off x="640080" y="5285232"/>
            <a:ext cx="10241280" cy="365760"/>
          </a:xfrm>
          <a:prstGeom prst="rect">
            <a:avLst/>
          </a:prstGeom>
          <a:noFill/>
          <a:ln/>
        </p:spPr>
        <p:txBody>
          <a:bodyPr wrap="square" lIns="0" tIns="0" rIns="0" bIns="0" rtlCol="0" anchor="ctr"/>
          <a:lstStyle/>
          <a:p>
            <a:pPr indent="0" marL="0">
              <a:buNone/>
            </a:pPr>
            <a:r>
              <a:rPr lang="en-US" sz="1400" dirty="0">
                <a:solidFill>
                  <a:srgbClr val="5A6675"/>
                </a:solidFill>
                <a:latin typeface="Calibri" pitchFamily="34" charset="0"/>
                <a:ea typeface="Calibri" pitchFamily="34" charset="-122"/>
                <a:cs typeface="Calibri" pitchFamily="34" charset="-120"/>
              </a:rPr>
              <a:t>Roughly 1,500 interactions a day.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WHAT WE ARE COVERING</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Three use cases, plus one we still cannot name</a:t>
            </a:r>
            <a:endParaRPr lang="en-US" sz="3200" dirty="0"/>
          </a:p>
        </p:txBody>
      </p:sp>
      <p:sp>
        <p:nvSpPr>
          <p:cNvPr id="4" name="Shape 2"/>
          <p:cNvSpPr/>
          <p:nvPr/>
        </p:nvSpPr>
        <p:spPr>
          <a:xfrm>
            <a:off x="640080" y="1417320"/>
            <a:ext cx="3520440" cy="4160520"/>
          </a:xfrm>
          <a:prstGeom prst="roundRect">
            <a:avLst>
              <a:gd name="adj" fmla="val 2078"/>
            </a:avLst>
          </a:prstGeom>
          <a:solidFill>
            <a:srgbClr val="EEF3F7"/>
          </a:solidFill>
          <a:ln/>
        </p:spPr>
      </p:sp>
      <p:sp>
        <p:nvSpPr>
          <p:cNvPr id="5" name="Shape 3"/>
          <p:cNvSpPr/>
          <p:nvPr/>
        </p:nvSpPr>
        <p:spPr>
          <a:xfrm>
            <a:off x="896112" y="1691640"/>
            <a:ext cx="402336" cy="402336"/>
          </a:xfrm>
          <a:prstGeom prst="ellipse">
            <a:avLst/>
          </a:prstGeom>
          <a:solidFill>
            <a:srgbClr val="065A82"/>
          </a:solidFill>
          <a:ln/>
        </p:spPr>
      </p:sp>
      <p:sp>
        <p:nvSpPr>
          <p:cNvPr id="6" name="Text 4"/>
          <p:cNvSpPr txBox="1"/>
          <p:nvPr/>
        </p:nvSpPr>
        <p:spPr>
          <a:xfrm>
            <a:off x="896112"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96112" y="2240280"/>
            <a:ext cx="3008376" cy="457200"/>
          </a:xfrm>
          <a:prstGeom prst="rect">
            <a:avLst/>
          </a:prstGeom>
          <a:noFill/>
          <a:ln/>
        </p:spPr>
        <p:txBody>
          <a:bodyPr wrap="square" lIns="0" tIns="0" rIns="0" bIns="0" rtlCol="0" anchor="ctr"/>
          <a:lstStyle/>
          <a:p>
            <a:pPr indent="0" marL="0">
              <a:buNone/>
            </a:pPr>
            <a:r>
              <a:rPr lang="en-US" sz="1900" b="1" dirty="0">
                <a:solidFill>
                  <a:srgbClr val="1A2233"/>
                </a:solidFill>
                <a:latin typeface="Cambria" pitchFamily="34" charset="0"/>
                <a:ea typeface="Cambria" pitchFamily="34" charset="-122"/>
                <a:cs typeface="Cambria" pitchFamily="34" charset="-120"/>
              </a:rPr>
              <a:t>CareSource Ohio</a:t>
            </a:r>
            <a:endParaRPr lang="en-US" sz="1900" dirty="0"/>
          </a:p>
        </p:txBody>
      </p:sp>
      <p:sp>
        <p:nvSpPr>
          <p:cNvPr id="8" name="Text 6"/>
          <p:cNvSpPr txBox="1"/>
          <p:nvPr/>
        </p:nvSpPr>
        <p:spPr>
          <a:xfrm>
            <a:off x="896112" y="2670048"/>
            <a:ext cx="3008376" cy="32004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Client-supplied · provider calls only</a:t>
            </a:r>
            <a:endParaRPr lang="en-US" sz="1100" dirty="0"/>
          </a:p>
        </p:txBody>
      </p:sp>
      <p:sp>
        <p:nvSpPr>
          <p:cNvPr id="9" name="Text 7"/>
          <p:cNvSpPr txBox="1"/>
          <p:nvPr/>
        </p:nvSpPr>
        <p:spPr>
          <a:xfrm>
            <a:off x="896112" y="3063240"/>
            <a:ext cx="3008376" cy="2331720"/>
          </a:xfrm>
          <a:prstGeom prst="rect">
            <a:avLst/>
          </a:prstGeom>
          <a:noFill/>
          <a:ln/>
        </p:spPr>
        <p:txBody>
          <a:bodyPr wrap="square" lIns="0" tIns="0" rIns="0" bIns="0" rtlCol="0" anchor="ctr"/>
          <a:lstStyle/>
          <a:p>
            <a:pPr indent="0" marL="0">
              <a:lnSpc>
                <a:spcPts val="1700"/>
              </a:lnSpc>
              <a:buNone/>
            </a:pPr>
            <a:r>
              <a:rPr lang="en-US" sz="1250" dirty="0">
                <a:solidFill>
                  <a:srgbClr val="1A2233"/>
                </a:solidFill>
                <a:latin typeface="Calibri" pitchFamily="34" charset="0"/>
                <a:ea typeface="Calibri" pitchFamily="34" charset="-122"/>
                <a:cs typeface="Calibri" pitchFamily="34" charset="-120"/>
              </a:rPr>
              <a:t>They gave us the category lists with written definitions. Two reports:</a:t>
            </a:r>
            <a:endParaRPr lang="en-US" sz="1250" dirty="0"/>
          </a:p>
          <a:p>
            <a:pPr indent="0" marL="0">
              <a:lnSpc>
                <a:spcPts val="1700"/>
              </a:lnSpc>
              <a:buNone/>
            </a:pPr>
            <a:endParaRPr lang="en-US" sz="1250" dirty="0"/>
          </a:p>
          <a:p>
            <a:pPr indent="0" marL="0">
              <a:lnSpc>
                <a:spcPts val="1700"/>
              </a:lnSpc>
              <a:buNone/>
            </a:pPr>
            <a:r>
              <a:rPr lang="en-US" sz="1250" dirty="0">
                <a:solidFill>
                  <a:srgbClr val="1A2233"/>
                </a:solidFill>
                <a:latin typeface="Calibri" pitchFamily="34" charset="0"/>
                <a:ea typeface="Calibri" pitchFamily="34" charset="-122"/>
                <a:cs typeface="Calibri" pitchFamily="34" charset="-120"/>
              </a:rPr>
              <a:t>·  PCDR — disputes</a:t>
            </a:r>
            <a:endParaRPr lang="en-US" sz="1250" dirty="0"/>
          </a:p>
          <a:p>
            <a:pPr indent="0" marL="0">
              <a:lnSpc>
                <a:spcPts val="1700"/>
              </a:lnSpc>
              <a:buNone/>
            </a:pPr>
            <a:r>
              <a:rPr lang="en-US" sz="1250" dirty="0">
                <a:solidFill>
                  <a:srgbClr val="1A2233"/>
                </a:solidFill>
                <a:latin typeface="Calibri" pitchFamily="34" charset="0"/>
                <a:ea typeface="Calibri" pitchFamily="34" charset="-122"/>
                <a:cs typeface="Calibri" pitchFamily="34" charset="-120"/>
              </a:rPr>
              <a:t>·  PCIR — inquiries</a:t>
            </a:r>
            <a:endParaRPr lang="en-US" sz="1250" dirty="0"/>
          </a:p>
          <a:p>
            <a:pPr indent="0" marL="0">
              <a:lnSpc>
                <a:spcPts val="1700"/>
              </a:lnSpc>
              <a:buNone/>
            </a:pPr>
            <a:endParaRPr lang="en-US" sz="1250" dirty="0"/>
          </a:p>
          <a:p>
            <a:pPr indent="0" marL="0">
              <a:lnSpc>
                <a:spcPts val="1700"/>
              </a:lnSpc>
              <a:buNone/>
            </a:pPr>
            <a:r>
              <a:rPr lang="en-US" sz="1250" dirty="0">
                <a:solidFill>
                  <a:srgbClr val="1A2233"/>
                </a:solidFill>
                <a:latin typeface="Calibri" pitchFamily="34" charset="0"/>
                <a:ea typeface="Calibri" pitchFamily="34" charset="-122"/>
                <a:cs typeface="Calibri" pitchFamily="34" charset="-120"/>
              </a:rPr>
              <a:t>Dispute vs inquiry is decided by AI from the transcript.</a:t>
            </a:r>
            <a:endParaRPr lang="en-US" sz="1250" dirty="0"/>
          </a:p>
        </p:txBody>
      </p:sp>
      <p:sp>
        <p:nvSpPr>
          <p:cNvPr id="10" name="Shape 8"/>
          <p:cNvSpPr/>
          <p:nvPr/>
        </p:nvSpPr>
        <p:spPr>
          <a:xfrm>
            <a:off x="4453128" y="1417320"/>
            <a:ext cx="3520440" cy="4160520"/>
          </a:xfrm>
          <a:prstGeom prst="roundRect">
            <a:avLst>
              <a:gd name="adj" fmla="val 2078"/>
            </a:avLst>
          </a:prstGeom>
          <a:solidFill>
            <a:srgbClr val="EEF3F7"/>
          </a:solidFill>
          <a:ln/>
        </p:spPr>
      </p:sp>
      <p:sp>
        <p:nvSpPr>
          <p:cNvPr id="11" name="Shape 9"/>
          <p:cNvSpPr/>
          <p:nvPr/>
        </p:nvSpPr>
        <p:spPr>
          <a:xfrm>
            <a:off x="4709160" y="1691640"/>
            <a:ext cx="402336" cy="402336"/>
          </a:xfrm>
          <a:prstGeom prst="ellipse">
            <a:avLst/>
          </a:prstGeom>
          <a:solidFill>
            <a:srgbClr val="065A82"/>
          </a:solidFill>
          <a:ln/>
        </p:spPr>
      </p:sp>
      <p:sp>
        <p:nvSpPr>
          <p:cNvPr id="12" name="Text 10"/>
          <p:cNvSpPr txBox="1"/>
          <p:nvPr/>
        </p:nvSpPr>
        <p:spPr>
          <a:xfrm>
            <a:off x="470916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4709160" y="2240280"/>
            <a:ext cx="3008376" cy="457200"/>
          </a:xfrm>
          <a:prstGeom prst="rect">
            <a:avLst/>
          </a:prstGeom>
          <a:noFill/>
          <a:ln/>
        </p:spPr>
        <p:txBody>
          <a:bodyPr wrap="square" lIns="0" tIns="0" rIns="0" bIns="0" rtlCol="0" anchor="ctr"/>
          <a:lstStyle/>
          <a:p>
            <a:pPr indent="0" marL="0">
              <a:buNone/>
            </a:pPr>
            <a:r>
              <a:rPr lang="en-US" sz="1900" b="1" dirty="0">
                <a:solidFill>
                  <a:srgbClr val="1A2233"/>
                </a:solidFill>
                <a:latin typeface="Cambria" pitchFamily="34" charset="0"/>
                <a:ea typeface="Cambria" pitchFamily="34" charset="-122"/>
                <a:cs typeface="Cambria" pitchFamily="34" charset="-120"/>
              </a:rPr>
              <a:t>General call analysis</a:t>
            </a:r>
            <a:endParaRPr lang="en-US" sz="1900" dirty="0"/>
          </a:p>
        </p:txBody>
      </p:sp>
      <p:sp>
        <p:nvSpPr>
          <p:cNvPr id="14" name="Text 12"/>
          <p:cNvSpPr txBox="1"/>
          <p:nvPr/>
        </p:nvSpPr>
        <p:spPr>
          <a:xfrm>
            <a:off x="4709160" y="2670048"/>
            <a:ext cx="3008376" cy="32004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Ours · all interactions</a:t>
            </a:r>
            <a:endParaRPr lang="en-US" sz="1100" dirty="0"/>
          </a:p>
        </p:txBody>
      </p:sp>
      <p:sp>
        <p:nvSpPr>
          <p:cNvPr id="15" name="Text 13"/>
          <p:cNvSpPr txBox="1"/>
          <p:nvPr/>
        </p:nvSpPr>
        <p:spPr>
          <a:xfrm>
            <a:off x="4709160" y="3063240"/>
            <a:ext cx="3008376" cy="2331720"/>
          </a:xfrm>
          <a:prstGeom prst="rect">
            <a:avLst/>
          </a:prstGeom>
          <a:noFill/>
          <a:ln/>
        </p:spPr>
        <p:txBody>
          <a:bodyPr wrap="square" lIns="0" tIns="0" rIns="0" bIns="0" rtlCol="0" anchor="ctr"/>
          <a:lstStyle/>
          <a:p>
            <a:pPr indent="0" marL="0">
              <a:lnSpc>
                <a:spcPts val="1700"/>
              </a:lnSpc>
              <a:buNone/>
            </a:pPr>
            <a:r>
              <a:rPr lang="en-US" sz="1250" dirty="0">
                <a:solidFill>
                  <a:srgbClr val="1A2233"/>
                </a:solidFill>
                <a:latin typeface="Calibri" pitchFamily="34" charset="0"/>
                <a:ea typeface="Calibri" pitchFamily="34" charset="-122"/>
                <a:cs typeface="Calibri" pitchFamily="34" charset="-120"/>
              </a:rPr>
              <a:t>Category and subcategory, derived from quarterly clustering.</a:t>
            </a:r>
            <a:endParaRPr lang="en-US" sz="1250" dirty="0"/>
          </a:p>
          <a:p>
            <a:pPr indent="0" marL="0">
              <a:lnSpc>
                <a:spcPts val="1700"/>
              </a:lnSpc>
              <a:buNone/>
            </a:pPr>
            <a:endParaRPr lang="en-US" sz="1250" dirty="0"/>
          </a:p>
          <a:p>
            <a:pPr indent="0" marL="0">
              <a:lnSpc>
                <a:spcPts val="1700"/>
              </a:lnSpc>
              <a:buNone/>
            </a:pPr>
            <a:r>
              <a:rPr lang="en-US" sz="1250" dirty="0">
                <a:solidFill>
                  <a:srgbClr val="1A2233"/>
                </a:solidFill>
                <a:latin typeface="Calibri" pitchFamily="34" charset="0"/>
                <a:ea typeface="Calibri" pitchFamily="34" charset="-122"/>
                <a:cs typeface="Calibri" pitchFamily="34" charset="-120"/>
              </a:rPr>
              <a:t>This is where the richer detail lives — procedure codes, multiple reasons, what the caller did not know.</a:t>
            </a:r>
            <a:endParaRPr lang="en-US" sz="1250" dirty="0"/>
          </a:p>
        </p:txBody>
      </p:sp>
      <p:sp>
        <p:nvSpPr>
          <p:cNvPr id="16" name="Shape 14"/>
          <p:cNvSpPr/>
          <p:nvPr/>
        </p:nvSpPr>
        <p:spPr>
          <a:xfrm>
            <a:off x="8266176" y="1417320"/>
            <a:ext cx="3520440" cy="4160520"/>
          </a:xfrm>
          <a:prstGeom prst="roundRect">
            <a:avLst>
              <a:gd name="adj" fmla="val 2078"/>
            </a:avLst>
          </a:prstGeom>
          <a:solidFill>
            <a:srgbClr val="F7FAFC"/>
          </a:solidFill>
          <a:ln/>
        </p:spPr>
      </p:sp>
      <p:sp>
        <p:nvSpPr>
          <p:cNvPr id="17" name="Shape 15"/>
          <p:cNvSpPr/>
          <p:nvPr/>
        </p:nvSpPr>
        <p:spPr>
          <a:xfrm>
            <a:off x="8522208" y="1691640"/>
            <a:ext cx="402336" cy="402336"/>
          </a:xfrm>
          <a:prstGeom prst="ellipse">
            <a:avLst/>
          </a:prstGeom>
          <a:solidFill>
            <a:srgbClr val="5A6675"/>
          </a:solidFill>
          <a:ln/>
        </p:spPr>
      </p:sp>
      <p:sp>
        <p:nvSpPr>
          <p:cNvPr id="18" name="Text 16"/>
          <p:cNvSpPr txBox="1"/>
          <p:nvPr/>
        </p:nvSpPr>
        <p:spPr>
          <a:xfrm>
            <a:off x="852220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522208" y="2240280"/>
            <a:ext cx="3008376" cy="457200"/>
          </a:xfrm>
          <a:prstGeom prst="rect">
            <a:avLst/>
          </a:prstGeom>
          <a:noFill/>
          <a:ln/>
        </p:spPr>
        <p:txBody>
          <a:bodyPr wrap="square" lIns="0" tIns="0" rIns="0" bIns="0" rtlCol="0" anchor="ctr"/>
          <a:lstStyle/>
          <a:p>
            <a:pPr indent="0" marL="0">
              <a:buNone/>
            </a:pPr>
            <a:r>
              <a:rPr lang="en-US" sz="1900" b="1" dirty="0">
                <a:solidFill>
                  <a:srgbClr val="5A6675"/>
                </a:solidFill>
                <a:latin typeface="Cambria" pitchFamily="34" charset="0"/>
                <a:ea typeface="Cambria" pitchFamily="34" charset="-122"/>
                <a:cs typeface="Cambria" pitchFamily="34" charset="-120"/>
              </a:rPr>
              <a:t>Global / CSR category</a:t>
            </a:r>
            <a:endParaRPr lang="en-US" sz="1900" dirty="0"/>
          </a:p>
        </p:txBody>
      </p:sp>
      <p:sp>
        <p:nvSpPr>
          <p:cNvPr id="20" name="Text 18"/>
          <p:cNvSpPr txBox="1"/>
          <p:nvPr/>
        </p:nvSpPr>
        <p:spPr>
          <a:xfrm>
            <a:off x="8522208" y="2670048"/>
            <a:ext cx="3008376" cy="320040"/>
          </a:xfrm>
          <a:prstGeom prst="rect">
            <a:avLst/>
          </a:prstGeom>
          <a:noFill/>
          <a:ln/>
        </p:spPr>
        <p:txBody>
          <a:bodyPr wrap="square" lIns="0" tIns="0" rIns="0" bIns="0" rtlCol="0" anchor="ctr"/>
          <a:lstStyle/>
          <a:p>
            <a:pPr indent="0" marL="0">
              <a:buNone/>
            </a:pPr>
            <a:r>
              <a:rPr lang="en-US" sz="1100" b="1" dirty="0">
                <a:solidFill>
                  <a:srgbClr val="5A6675"/>
                </a:solidFill>
                <a:latin typeface="Calibri" pitchFamily="34" charset="0"/>
                <a:ea typeface="Calibri" pitchFamily="34" charset="-122"/>
                <a:cs typeface="Calibri" pitchFamily="34" charset="-120"/>
              </a:rPr>
              <a:t>Undefined</a:t>
            </a:r>
            <a:endParaRPr lang="en-US" sz="1100" dirty="0"/>
          </a:p>
        </p:txBody>
      </p:sp>
      <p:sp>
        <p:nvSpPr>
          <p:cNvPr id="21" name="Text 19"/>
          <p:cNvSpPr txBox="1"/>
          <p:nvPr/>
        </p:nvSpPr>
        <p:spPr>
          <a:xfrm>
            <a:off x="8522208" y="3063240"/>
            <a:ext cx="3008376" cy="2331720"/>
          </a:xfrm>
          <a:prstGeom prst="rect">
            <a:avLst/>
          </a:prstGeom>
          <a:noFill/>
          <a:ln/>
        </p:spPr>
        <p:txBody>
          <a:bodyPr wrap="square" lIns="0" tIns="0" rIns="0" bIns="0" rtlCol="0" anchor="ctr"/>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Tim mentioned something. There is also an existing dropdown where a rep picks a category on the case.</a:t>
            </a:r>
            <a:endParaRPr lang="en-US" sz="1250" dirty="0"/>
          </a:p>
          <a:p>
            <a:pPr indent="0" marL="0">
              <a:lnSpc>
                <a:spcPts val="1700"/>
              </a:lnSpc>
              <a:buNone/>
            </a:pPr>
            <a:endParaRPr lang="en-US" sz="1250" dirty="0"/>
          </a:p>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We do not yet know whether these are the same thing.</a:t>
            </a:r>
            <a:endParaRPr lang="en-US" sz="1250" dirty="0"/>
          </a:p>
        </p:txBody>
      </p:sp>
      <p:sp>
        <p:nvSpPr>
          <p:cNvPr id="22" name="Text 20"/>
          <p:cNvSpPr txBox="1"/>
          <p:nvPr/>
        </p:nvSpPr>
        <p:spPr>
          <a:xfrm>
            <a:off x="640080" y="6199632"/>
            <a:ext cx="10908792" cy="320040"/>
          </a:xfrm>
          <a:prstGeom prst="rect">
            <a:avLst/>
          </a:prstGeom>
          <a:noFill/>
          <a:ln/>
        </p:spPr>
        <p:txBody>
          <a:bodyPr wrap="square" lIns="0" tIns="0" rIns="0" bIns="0" rtlCol="0" anchor="ctr"/>
          <a:lstStyle/>
          <a:p>
            <a:pPr indent="0" marL="0">
              <a:buNone/>
            </a:pPr>
            <a:r>
              <a:rPr lang="en-US" sz="1100" i="1" dirty="0">
                <a:solidFill>
                  <a:srgbClr val="5A6675"/>
                </a:solidFill>
                <a:latin typeface="Calibri" pitchFamily="34" charset="0"/>
                <a:ea typeface="Calibri" pitchFamily="34" charset="-122"/>
                <a:cs typeface="Calibri" pitchFamily="34" charset="-120"/>
              </a:rPr>
              <a:t>A fourth is coming whether we plan for it or not: the next client who wants their own report.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HARD PART</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Three reasons one category column will not do</a:t>
            </a:r>
            <a:endParaRPr lang="en-US" sz="3200" dirty="0"/>
          </a:p>
        </p:txBody>
      </p:sp>
      <p:sp>
        <p:nvSpPr>
          <p:cNvPr id="4" name="Shape 2"/>
          <p:cNvSpPr/>
          <p:nvPr/>
        </p:nvSpPr>
        <p:spPr>
          <a:xfrm>
            <a:off x="640080" y="1463040"/>
            <a:ext cx="10908792" cy="1371600"/>
          </a:xfrm>
          <a:prstGeom prst="roundRect">
            <a:avLst>
              <a:gd name="adj" fmla="val 5333"/>
            </a:avLst>
          </a:prstGeom>
          <a:solidFill>
            <a:srgbClr val="EEF3F7"/>
          </a:solidFill>
          <a:ln/>
        </p:spPr>
      </p:sp>
      <p:sp>
        <p:nvSpPr>
          <p:cNvPr id="5" name="Shape 3"/>
          <p:cNvSpPr/>
          <p:nvPr/>
        </p:nvSpPr>
        <p:spPr>
          <a:xfrm>
            <a:off x="960120" y="1938528"/>
            <a:ext cx="402336" cy="402336"/>
          </a:xfrm>
          <a:prstGeom prst="ellipse">
            <a:avLst/>
          </a:prstGeom>
          <a:solidFill>
            <a:srgbClr val="1C7293"/>
          </a:solidFill>
          <a:ln/>
        </p:spPr>
      </p:sp>
      <p:sp>
        <p:nvSpPr>
          <p:cNvPr id="6" name="Text 4"/>
          <p:cNvSpPr txBox="1"/>
          <p:nvPr/>
        </p:nvSpPr>
        <p:spPr>
          <a:xfrm>
            <a:off x="960120" y="19385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645920" y="1682496"/>
            <a:ext cx="9537192" cy="411480"/>
          </a:xfrm>
          <a:prstGeom prst="rect">
            <a:avLst/>
          </a:prstGeom>
          <a:noFill/>
          <a:ln/>
        </p:spPr>
        <p:txBody>
          <a:bodyPr wrap="square" lIns="0" tIns="0" rIns="0" bIns="0" rtlCol="0" anchor="ctr"/>
          <a:lstStyle/>
          <a:p>
            <a:pPr indent="0" marL="0">
              <a:buNone/>
            </a:pPr>
            <a:r>
              <a:rPr lang="en-US" sz="1800" b="1" dirty="0">
                <a:solidFill>
                  <a:srgbClr val="1A2233"/>
                </a:solidFill>
                <a:latin typeface="Cambria" pitchFamily="34" charset="0"/>
                <a:ea typeface="Cambria" pitchFamily="34" charset="-122"/>
                <a:cs typeface="Cambria" pitchFamily="34" charset="-120"/>
              </a:rPr>
              <a:t>One interaction can need two categorizations</a:t>
            </a:r>
            <a:endParaRPr lang="en-US" sz="1800" dirty="0"/>
          </a:p>
        </p:txBody>
      </p:sp>
      <p:sp>
        <p:nvSpPr>
          <p:cNvPr id="8" name="Text 6"/>
          <p:cNvSpPr txBox="1"/>
          <p:nvPr/>
        </p:nvSpPr>
        <p:spPr>
          <a:xfrm>
            <a:off x="1645920" y="2121408"/>
            <a:ext cx="9537192" cy="603504"/>
          </a:xfrm>
          <a:prstGeom prst="rect">
            <a:avLst/>
          </a:prstGeom>
          <a:noFill/>
          <a:ln/>
        </p:spPr>
        <p:txBody>
          <a:bodyPr wrap="square" lIns="0" tIns="0" rIns="0" bIns="0" rtlCol="0" anchor="ctr"/>
          <a:lstStyle/>
          <a:p>
            <a:pPr indent="0" marL="0">
              <a:buNone/>
            </a:pPr>
            <a:r>
              <a:rPr lang="en-US" sz="1300" dirty="0">
                <a:solidFill>
                  <a:srgbClr val="5A6675"/>
                </a:solidFill>
                <a:latin typeface="Calibri" pitchFamily="34" charset="0"/>
                <a:ea typeface="Calibri" pitchFamily="34" charset="-122"/>
                <a:cs typeface="Calibri" pitchFamily="34" charset="-120"/>
              </a:rPr>
              <a:t>A CareSource provider call gets CareSource's categories AND ours. Different lists, different audiences, both have to stay tellable apart.</a:t>
            </a:r>
            <a:endParaRPr lang="en-US" sz="1300" dirty="0"/>
          </a:p>
        </p:txBody>
      </p:sp>
      <p:sp>
        <p:nvSpPr>
          <p:cNvPr id="9" name="Shape 7"/>
          <p:cNvSpPr/>
          <p:nvPr/>
        </p:nvSpPr>
        <p:spPr>
          <a:xfrm>
            <a:off x="640080" y="3035808"/>
            <a:ext cx="10908792" cy="1371600"/>
          </a:xfrm>
          <a:prstGeom prst="roundRect">
            <a:avLst>
              <a:gd name="adj" fmla="val 5333"/>
            </a:avLst>
          </a:prstGeom>
          <a:solidFill>
            <a:srgbClr val="EEF3F7"/>
          </a:solidFill>
          <a:ln/>
        </p:spPr>
      </p:sp>
      <p:sp>
        <p:nvSpPr>
          <p:cNvPr id="10" name="Shape 8"/>
          <p:cNvSpPr/>
          <p:nvPr/>
        </p:nvSpPr>
        <p:spPr>
          <a:xfrm>
            <a:off x="960120" y="3511296"/>
            <a:ext cx="402336" cy="402336"/>
          </a:xfrm>
          <a:prstGeom prst="ellipse">
            <a:avLst/>
          </a:prstGeom>
          <a:solidFill>
            <a:srgbClr val="1C7293"/>
          </a:solidFill>
          <a:ln/>
        </p:spPr>
      </p:sp>
      <p:sp>
        <p:nvSpPr>
          <p:cNvPr id="11" name="Text 9"/>
          <p:cNvSpPr txBox="1"/>
          <p:nvPr/>
        </p:nvSpPr>
        <p:spPr>
          <a:xfrm>
            <a:off x="960120" y="3511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645920" y="3255264"/>
            <a:ext cx="9537192" cy="411480"/>
          </a:xfrm>
          <a:prstGeom prst="rect">
            <a:avLst/>
          </a:prstGeom>
          <a:noFill/>
          <a:ln/>
        </p:spPr>
        <p:txBody>
          <a:bodyPr wrap="square" lIns="0" tIns="0" rIns="0" bIns="0" rtlCol="0" anchor="ctr"/>
          <a:lstStyle/>
          <a:p>
            <a:pPr indent="0" marL="0">
              <a:buNone/>
            </a:pPr>
            <a:r>
              <a:rPr lang="en-US" sz="1800" b="1" dirty="0">
                <a:solidFill>
                  <a:srgbClr val="1A2233"/>
                </a:solidFill>
                <a:latin typeface="Cambria" pitchFamily="34" charset="0"/>
                <a:ea typeface="Cambria" pitchFamily="34" charset="-122"/>
                <a:cs typeface="Cambria" pitchFamily="34" charset="-120"/>
              </a:rPr>
              <a:t>One interaction can have several reasons</a:t>
            </a:r>
            <a:endParaRPr lang="en-US" sz="1800" dirty="0"/>
          </a:p>
        </p:txBody>
      </p:sp>
      <p:sp>
        <p:nvSpPr>
          <p:cNvPr id="13" name="Text 11"/>
          <p:cNvSpPr txBox="1"/>
          <p:nvPr/>
        </p:nvSpPr>
        <p:spPr>
          <a:xfrm>
            <a:off x="1645920" y="3694176"/>
            <a:ext cx="9537192" cy="603504"/>
          </a:xfrm>
          <a:prstGeom prst="rect">
            <a:avLst/>
          </a:prstGeom>
          <a:noFill/>
          <a:ln/>
        </p:spPr>
        <p:txBody>
          <a:bodyPr wrap="square" lIns="0" tIns="0" rIns="0" bIns="0" rtlCol="0" anchor="ctr"/>
          <a:lstStyle/>
          <a:p>
            <a:pPr indent="0" marL="0">
              <a:buNone/>
            </a:pPr>
            <a:r>
              <a:rPr lang="en-US" sz="1300" dirty="0">
                <a:solidFill>
                  <a:srgbClr val="5A6675"/>
                </a:solidFill>
                <a:latin typeface="Calibri" pitchFamily="34" charset="0"/>
                <a:ea typeface="Calibri" pitchFamily="34" charset="-122"/>
                <a:cs typeface="Calibri" pitchFamily="34" charset="-120"/>
              </a:rPr>
              <a:t>"Find me a dentist" and "is a crown covered" is one call, two distinct questions. Tim also wants a single top category — that is a separate requirement, not the same one.</a:t>
            </a:r>
            <a:endParaRPr lang="en-US" sz="1300" dirty="0"/>
          </a:p>
        </p:txBody>
      </p:sp>
      <p:sp>
        <p:nvSpPr>
          <p:cNvPr id="14" name="Shape 12"/>
          <p:cNvSpPr/>
          <p:nvPr/>
        </p:nvSpPr>
        <p:spPr>
          <a:xfrm>
            <a:off x="640080" y="4608576"/>
            <a:ext cx="10908792" cy="1371600"/>
          </a:xfrm>
          <a:prstGeom prst="roundRect">
            <a:avLst>
              <a:gd name="adj" fmla="val 5333"/>
            </a:avLst>
          </a:prstGeom>
          <a:solidFill>
            <a:srgbClr val="F7FAFC"/>
          </a:solidFill>
          <a:ln/>
        </p:spPr>
      </p:sp>
      <p:sp>
        <p:nvSpPr>
          <p:cNvPr id="15" name="Shape 13"/>
          <p:cNvSpPr/>
          <p:nvPr/>
        </p:nvSpPr>
        <p:spPr>
          <a:xfrm>
            <a:off x="960120" y="5084064"/>
            <a:ext cx="402336" cy="402336"/>
          </a:xfrm>
          <a:prstGeom prst="ellipse">
            <a:avLst/>
          </a:prstGeom>
          <a:solidFill>
            <a:srgbClr val="1C7293"/>
          </a:solidFill>
          <a:ln/>
        </p:spPr>
      </p:sp>
      <p:sp>
        <p:nvSpPr>
          <p:cNvPr id="16" name="Text 14"/>
          <p:cNvSpPr txBox="1"/>
          <p:nvPr/>
        </p:nvSpPr>
        <p:spPr>
          <a:xfrm>
            <a:off x="960120" y="50840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645920" y="4828032"/>
            <a:ext cx="9537192" cy="411480"/>
          </a:xfrm>
          <a:prstGeom prst="rect">
            <a:avLst/>
          </a:prstGeom>
          <a:noFill/>
          <a:ln/>
        </p:spPr>
        <p:txBody>
          <a:bodyPr wrap="square" lIns="0" tIns="0" rIns="0" bIns="0" rtlCol="0" anchor="ctr"/>
          <a:lstStyle/>
          <a:p>
            <a:pPr indent="0" marL="0">
              <a:buNone/>
            </a:pPr>
            <a:r>
              <a:rPr lang="en-US" sz="1800" b="1" dirty="0">
                <a:solidFill>
                  <a:srgbClr val="1A2233"/>
                </a:solidFill>
                <a:latin typeface="Cambria" pitchFamily="34" charset="0"/>
                <a:ea typeface="Cambria" pitchFamily="34" charset="-122"/>
                <a:cs typeface="Cambria" pitchFamily="34" charset="-120"/>
              </a:rPr>
              <a:t>It is not always a call</a:t>
            </a:r>
            <a:endParaRPr lang="en-US" sz="1800" dirty="0"/>
          </a:p>
        </p:txBody>
      </p:sp>
      <p:sp>
        <p:nvSpPr>
          <p:cNvPr id="18" name="Text 16"/>
          <p:cNvSpPr txBox="1"/>
          <p:nvPr/>
        </p:nvSpPr>
        <p:spPr>
          <a:xfrm>
            <a:off x="1645920" y="5266944"/>
            <a:ext cx="9537192" cy="603504"/>
          </a:xfrm>
          <a:prstGeom prst="rect">
            <a:avLst/>
          </a:prstGeom>
          <a:noFill/>
          <a:ln/>
        </p:spPr>
        <p:txBody>
          <a:bodyPr wrap="square" lIns="0" tIns="0" rIns="0" bIns="0" rtlCol="0" anchor="ctr"/>
          <a:lstStyle/>
          <a:p>
            <a:pPr indent="0" marL="0">
              <a:buNone/>
            </a:pPr>
            <a:r>
              <a:rPr lang="en-US" sz="1300" dirty="0">
                <a:solidFill>
                  <a:srgbClr val="5A6675"/>
                </a:solidFill>
                <a:latin typeface="Calibri" pitchFamily="34" charset="0"/>
                <a:ea typeface="Calibri" pitchFamily="34" charset="-122"/>
                <a:cs typeface="Calibri" pitchFamily="34" charset="-120"/>
              </a:rPr>
              <a:t>Our database stores interactions, not calls. Web chats are already in these tables. Email, letter and fax may follow. So we anchor on the interaction.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SHAPE</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Nine new tables, in three groups</a:t>
            </a:r>
            <a:endParaRPr lang="en-US" sz="3200" dirty="0"/>
          </a:p>
        </p:txBody>
      </p:sp>
      <p:sp>
        <p:nvSpPr>
          <p:cNvPr id="4" name="Shape 2"/>
          <p:cNvSpPr/>
          <p:nvPr/>
        </p:nvSpPr>
        <p:spPr>
          <a:xfrm>
            <a:off x="640080" y="1417320"/>
            <a:ext cx="3520440" cy="3611880"/>
          </a:xfrm>
          <a:prstGeom prst="roundRect">
            <a:avLst>
              <a:gd name="adj" fmla="val 2078"/>
            </a:avLst>
          </a:prstGeom>
          <a:solidFill>
            <a:srgbClr val="065A82"/>
          </a:solidFill>
          <a:ln/>
        </p:spPr>
      </p:sp>
      <p:sp>
        <p:nvSpPr>
          <p:cNvPr id="5" name="Text 3"/>
          <p:cNvSpPr txBox="1"/>
          <p:nvPr/>
        </p:nvSpPr>
        <p:spPr>
          <a:xfrm>
            <a:off x="896112" y="1572768"/>
            <a:ext cx="109728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1</a:t>
            </a:r>
            <a:endParaRPr lang="en-US" sz="4400" dirty="0"/>
          </a:p>
        </p:txBody>
      </p:sp>
      <p:sp>
        <p:nvSpPr>
          <p:cNvPr id="6" name="Text 4"/>
          <p:cNvSpPr txBox="1"/>
          <p:nvPr/>
        </p:nvSpPr>
        <p:spPr>
          <a:xfrm>
            <a:off x="896112" y="2377440"/>
            <a:ext cx="3008376"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Configuration</a:t>
            </a:r>
            <a:endParaRPr lang="en-US" sz="2100" dirty="0"/>
          </a:p>
        </p:txBody>
      </p:sp>
      <p:sp>
        <p:nvSpPr>
          <p:cNvPr id="7" name="Text 5"/>
          <p:cNvSpPr txBox="1"/>
          <p:nvPr/>
        </p:nvSpPr>
        <p:spPr>
          <a:xfrm>
            <a:off x="896112" y="2779776"/>
            <a:ext cx="3008376" cy="274320"/>
          </a:xfrm>
          <a:prstGeom prst="rect">
            <a:avLst/>
          </a:prstGeom>
          <a:noFill/>
          <a:ln/>
        </p:spPr>
        <p:txBody>
          <a:bodyPr wrap="square" lIns="0" tIns="0" rIns="0" bIns="0" rtlCol="0" anchor="ctr"/>
          <a:lstStyle/>
          <a:p>
            <a:pPr indent="0" marL="0">
              <a:buNone/>
            </a:pPr>
            <a:r>
              <a:rPr lang="en-US" sz="1100" b="1" dirty="0">
                <a:solidFill>
                  <a:srgbClr val="C9DDE9"/>
                </a:solidFill>
                <a:latin typeface="Calibri" pitchFamily="34" charset="0"/>
                <a:ea typeface="Calibri" pitchFamily="34" charset="-122"/>
                <a:cs typeface="Calibri" pitchFamily="34" charset="-120"/>
              </a:rPr>
              <a:t>4 tables</a:t>
            </a:r>
            <a:endParaRPr lang="en-US" sz="1100" dirty="0"/>
          </a:p>
        </p:txBody>
      </p:sp>
      <p:sp>
        <p:nvSpPr>
          <p:cNvPr id="8" name="Text 6"/>
          <p:cNvSpPr txBox="1"/>
          <p:nvPr/>
        </p:nvSpPr>
        <p:spPr>
          <a:xfrm>
            <a:off x="896112" y="3127248"/>
            <a:ext cx="3008376" cy="1280160"/>
          </a:xfrm>
          <a:prstGeom prst="rect">
            <a:avLst/>
          </a:prstGeom>
          <a:noFill/>
          <a:ln/>
        </p:spPr>
        <p:txBody>
          <a:bodyPr wrap="square" lIns="0" tIns="0" rIns="0" bIns="0" rtlCol="0" anchor="ctr"/>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What taxonomies exist.</a:t>
            </a:r>
            <a:endParaRPr lang="en-US" sz="1250" dirty="0"/>
          </a:p>
          <a:p>
            <a:pPr indent="0" marL="0">
              <a:lnSpc>
                <a:spcPts val="1600"/>
              </a:lnSpc>
              <a:buNone/>
            </a:pPr>
            <a:endParaRPr lang="en-US" sz="1250" dirty="0"/>
          </a:p>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Category sets, their dated versions, the categories inside, and what extra detail to extract.</a:t>
            </a:r>
            <a:endParaRPr lang="en-US" sz="1250" dirty="0"/>
          </a:p>
        </p:txBody>
      </p:sp>
      <p:sp>
        <p:nvSpPr>
          <p:cNvPr id="9" name="Text 7"/>
          <p:cNvSpPr txBox="1"/>
          <p:nvPr/>
        </p:nvSpPr>
        <p:spPr>
          <a:xfrm>
            <a:off x="896112" y="4498848"/>
            <a:ext cx="3008376" cy="320040"/>
          </a:xfrm>
          <a:prstGeom prst="rect">
            <a:avLst/>
          </a:prstGeom>
          <a:noFill/>
          <a:ln/>
        </p:spPr>
        <p:txBody>
          <a:bodyPr wrap="square" lIns="0" tIns="0" rIns="0" bIns="0" rtlCol="0" anchor="ctr"/>
          <a:lstStyle/>
          <a:p>
            <a:pPr indent="0" marL="0">
              <a:buNone/>
            </a:pPr>
            <a:r>
              <a:rPr lang="en-US" sz="1100" i="1" dirty="0">
                <a:solidFill>
                  <a:srgbClr val="C9DDE9"/>
                </a:solidFill>
                <a:latin typeface="Calibri" pitchFamily="34" charset="0"/>
                <a:ea typeface="Calibri" pitchFamily="34" charset="-122"/>
                <a:cs typeface="Calibri" pitchFamily="34" charset="-120"/>
              </a:rPr>
              <a:t>~50 rows. Changes twice a year.</a:t>
            </a:r>
            <a:endParaRPr lang="en-US" sz="1100" dirty="0"/>
          </a:p>
        </p:txBody>
      </p:sp>
      <p:sp>
        <p:nvSpPr>
          <p:cNvPr id="10" name="Shape 8"/>
          <p:cNvSpPr/>
          <p:nvPr/>
        </p:nvSpPr>
        <p:spPr>
          <a:xfrm>
            <a:off x="4453128" y="1417320"/>
            <a:ext cx="3520440" cy="3611880"/>
          </a:xfrm>
          <a:prstGeom prst="roundRect">
            <a:avLst>
              <a:gd name="adj" fmla="val 2078"/>
            </a:avLst>
          </a:prstGeom>
          <a:solidFill>
            <a:srgbClr val="1C7293"/>
          </a:solidFill>
          <a:ln/>
        </p:spPr>
      </p:sp>
      <p:sp>
        <p:nvSpPr>
          <p:cNvPr id="11" name="Text 9"/>
          <p:cNvSpPr txBox="1"/>
          <p:nvPr/>
        </p:nvSpPr>
        <p:spPr>
          <a:xfrm>
            <a:off x="4709160" y="1572768"/>
            <a:ext cx="109728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2</a:t>
            </a:r>
            <a:endParaRPr lang="en-US" sz="4400" dirty="0"/>
          </a:p>
        </p:txBody>
      </p:sp>
      <p:sp>
        <p:nvSpPr>
          <p:cNvPr id="12" name="Text 10"/>
          <p:cNvSpPr txBox="1"/>
          <p:nvPr/>
        </p:nvSpPr>
        <p:spPr>
          <a:xfrm>
            <a:off x="4709160" y="2377440"/>
            <a:ext cx="3008376"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Routing</a:t>
            </a:r>
            <a:endParaRPr lang="en-US" sz="2100" dirty="0"/>
          </a:p>
        </p:txBody>
      </p:sp>
      <p:sp>
        <p:nvSpPr>
          <p:cNvPr id="13" name="Text 11"/>
          <p:cNvSpPr txBox="1"/>
          <p:nvPr/>
        </p:nvSpPr>
        <p:spPr>
          <a:xfrm>
            <a:off x="4709160" y="2779776"/>
            <a:ext cx="3008376" cy="274320"/>
          </a:xfrm>
          <a:prstGeom prst="rect">
            <a:avLst/>
          </a:prstGeom>
          <a:noFill/>
          <a:ln/>
        </p:spPr>
        <p:txBody>
          <a:bodyPr wrap="square" lIns="0" tIns="0" rIns="0" bIns="0" rtlCol="0" anchor="ctr"/>
          <a:lstStyle/>
          <a:p>
            <a:pPr indent="0" marL="0">
              <a:buNone/>
            </a:pPr>
            <a:r>
              <a:rPr lang="en-US" sz="1100" b="1" dirty="0">
                <a:solidFill>
                  <a:srgbClr val="CDE4EE"/>
                </a:solidFill>
                <a:latin typeface="Calibri" pitchFamily="34" charset="0"/>
                <a:ea typeface="Calibri" pitchFamily="34" charset="-122"/>
                <a:cs typeface="Calibri" pitchFamily="34" charset="-120"/>
              </a:rPr>
              <a:t>1 table</a:t>
            </a:r>
            <a:endParaRPr lang="en-US" sz="1100" dirty="0"/>
          </a:p>
        </p:txBody>
      </p:sp>
      <p:sp>
        <p:nvSpPr>
          <p:cNvPr id="14" name="Text 12"/>
          <p:cNvSpPr txBox="1"/>
          <p:nvPr/>
        </p:nvSpPr>
        <p:spPr>
          <a:xfrm>
            <a:off x="4709160" y="3127248"/>
            <a:ext cx="3008376" cy="1280160"/>
          </a:xfrm>
          <a:prstGeom prst="rect">
            <a:avLst/>
          </a:prstGeom>
          <a:noFill/>
          <a:ln/>
        </p:spPr>
        <p:txBody>
          <a:bodyPr wrap="square" lIns="0" tIns="0" rIns="0" bIns="0" rtlCol="0" anchor="ctr"/>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Which taxonomy applies to which interaction.</a:t>
            </a:r>
            <a:endParaRPr lang="en-US" sz="1250" dirty="0"/>
          </a:p>
          <a:p>
            <a:pPr indent="0" marL="0">
              <a:lnSpc>
                <a:spcPts val="1600"/>
              </a:lnSpc>
              <a:buNone/>
            </a:pPr>
            <a:endParaRPr lang="en-US" sz="1250" dirty="0"/>
          </a:p>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Matched on client, caller type and channel.</a:t>
            </a:r>
            <a:endParaRPr lang="en-US" sz="1250" dirty="0"/>
          </a:p>
        </p:txBody>
      </p:sp>
      <p:sp>
        <p:nvSpPr>
          <p:cNvPr id="15" name="Text 13"/>
          <p:cNvSpPr txBox="1"/>
          <p:nvPr/>
        </p:nvSpPr>
        <p:spPr>
          <a:xfrm>
            <a:off x="4709160" y="4498848"/>
            <a:ext cx="3008376" cy="320040"/>
          </a:xfrm>
          <a:prstGeom prst="rect">
            <a:avLst/>
          </a:prstGeom>
          <a:noFill/>
          <a:ln/>
        </p:spPr>
        <p:txBody>
          <a:bodyPr wrap="square" lIns="0" tIns="0" rIns="0" bIns="0" rtlCol="0" anchor="ctr"/>
          <a:lstStyle/>
          <a:p>
            <a:pPr indent="0" marL="0">
              <a:buNone/>
            </a:pPr>
            <a:r>
              <a:rPr lang="en-US" sz="1100" i="1" dirty="0">
                <a:solidFill>
                  <a:srgbClr val="CDE4EE"/>
                </a:solidFill>
                <a:latin typeface="Calibri" pitchFamily="34" charset="0"/>
                <a:ea typeface="Calibri" pitchFamily="34" charset="-122"/>
                <a:cs typeface="Calibri" pitchFamily="34" charset="-120"/>
              </a:rPr>
              <a:t>3 rows today.</a:t>
            </a:r>
            <a:endParaRPr lang="en-US" sz="1100" dirty="0"/>
          </a:p>
        </p:txBody>
      </p:sp>
      <p:sp>
        <p:nvSpPr>
          <p:cNvPr id="16" name="Shape 14"/>
          <p:cNvSpPr/>
          <p:nvPr/>
        </p:nvSpPr>
        <p:spPr>
          <a:xfrm>
            <a:off x="8266176" y="1417320"/>
            <a:ext cx="3520440" cy="3611880"/>
          </a:xfrm>
          <a:prstGeom prst="roundRect">
            <a:avLst>
              <a:gd name="adj" fmla="val 2078"/>
            </a:avLst>
          </a:prstGeom>
          <a:solidFill>
            <a:srgbClr val="EEF3F7"/>
          </a:solidFill>
          <a:ln/>
        </p:spPr>
      </p:sp>
      <p:sp>
        <p:nvSpPr>
          <p:cNvPr id="17" name="Text 15"/>
          <p:cNvSpPr txBox="1"/>
          <p:nvPr/>
        </p:nvSpPr>
        <p:spPr>
          <a:xfrm>
            <a:off x="8522208" y="1572768"/>
            <a:ext cx="1097280" cy="777240"/>
          </a:xfrm>
          <a:prstGeom prst="rect">
            <a:avLst/>
          </a:prstGeom>
          <a:noFill/>
          <a:ln/>
        </p:spPr>
        <p:txBody>
          <a:bodyPr wrap="square" lIns="0" tIns="0" rIns="0" bIns="0" rtlCol="0" anchor="ctr"/>
          <a:lstStyle/>
          <a:p>
            <a:pPr indent="0" marL="0">
              <a:buNone/>
            </a:pPr>
            <a:r>
              <a:rPr lang="en-US" sz="4400" b="1" dirty="0">
                <a:solidFill>
                  <a:srgbClr val="C3D3DF"/>
                </a:solidFill>
                <a:latin typeface="Cambria" pitchFamily="34" charset="0"/>
                <a:ea typeface="Cambria" pitchFamily="34" charset="-122"/>
                <a:cs typeface="Cambria" pitchFamily="34" charset="-120"/>
              </a:rPr>
              <a:t>3</a:t>
            </a:r>
            <a:endParaRPr lang="en-US" sz="4400" dirty="0"/>
          </a:p>
        </p:txBody>
      </p:sp>
      <p:sp>
        <p:nvSpPr>
          <p:cNvPr id="18" name="Text 16"/>
          <p:cNvSpPr txBox="1"/>
          <p:nvPr/>
        </p:nvSpPr>
        <p:spPr>
          <a:xfrm>
            <a:off x="8522208" y="2377440"/>
            <a:ext cx="3008376" cy="411480"/>
          </a:xfrm>
          <a:prstGeom prst="rect">
            <a:avLst/>
          </a:prstGeom>
          <a:noFill/>
          <a:ln/>
        </p:spPr>
        <p:txBody>
          <a:bodyPr wrap="square" lIns="0" tIns="0" rIns="0" bIns="0" rtlCol="0" anchor="ctr"/>
          <a:lstStyle/>
          <a:p>
            <a:pPr indent="0" marL="0">
              <a:buNone/>
            </a:pPr>
            <a:r>
              <a:rPr lang="en-US" sz="2100" b="1" dirty="0">
                <a:solidFill>
                  <a:srgbClr val="1A2233"/>
                </a:solidFill>
                <a:latin typeface="Cambria" pitchFamily="34" charset="0"/>
                <a:ea typeface="Cambria" pitchFamily="34" charset="-122"/>
                <a:cs typeface="Cambria" pitchFamily="34" charset="-120"/>
              </a:rPr>
              <a:t>Results</a:t>
            </a:r>
            <a:endParaRPr lang="en-US" sz="2100" dirty="0"/>
          </a:p>
        </p:txBody>
      </p:sp>
      <p:sp>
        <p:nvSpPr>
          <p:cNvPr id="19" name="Text 17"/>
          <p:cNvSpPr txBox="1"/>
          <p:nvPr/>
        </p:nvSpPr>
        <p:spPr>
          <a:xfrm>
            <a:off x="8522208" y="2779776"/>
            <a:ext cx="3008376" cy="274320"/>
          </a:xfrm>
          <a:prstGeom prst="rect">
            <a:avLst/>
          </a:prstGeom>
          <a:noFill/>
          <a:ln/>
        </p:spPr>
        <p:txBody>
          <a:bodyPr wrap="square" lIns="0" tIns="0" rIns="0" bIns="0" rtlCol="0" anchor="ctr"/>
          <a:lstStyle/>
          <a:p>
            <a:pPr indent="0" marL="0">
              <a:buNone/>
            </a:pPr>
            <a:r>
              <a:rPr lang="en-US" sz="1100" b="1" dirty="0">
                <a:solidFill>
                  <a:srgbClr val="5A6675"/>
                </a:solidFill>
                <a:latin typeface="Calibri" pitchFamily="34" charset="0"/>
                <a:ea typeface="Calibri" pitchFamily="34" charset="-122"/>
                <a:cs typeface="Calibri" pitchFamily="34" charset="-120"/>
              </a:rPr>
              <a:t>4 tables</a:t>
            </a:r>
            <a:endParaRPr lang="en-US" sz="1100" dirty="0"/>
          </a:p>
        </p:txBody>
      </p:sp>
      <p:sp>
        <p:nvSpPr>
          <p:cNvPr id="20" name="Text 18"/>
          <p:cNvSpPr txBox="1"/>
          <p:nvPr/>
        </p:nvSpPr>
        <p:spPr>
          <a:xfrm>
            <a:off x="8522208" y="3127248"/>
            <a:ext cx="3008376" cy="1280160"/>
          </a:xfrm>
          <a:prstGeom prst="rect">
            <a:avLst/>
          </a:prstGeom>
          <a:noFill/>
          <a:ln/>
        </p:spPr>
        <p:txBody>
          <a:bodyPr wrap="square" lIns="0" tIns="0" rIns="0" bIns="0" rtlCol="0" anchor="ctr"/>
          <a:lstStyle/>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What actually got assigned.</a:t>
            </a:r>
            <a:endParaRPr lang="en-US" sz="1250" dirty="0"/>
          </a:p>
          <a:p>
            <a:pPr indent="0" marL="0">
              <a:lnSpc>
                <a:spcPts val="1600"/>
              </a:lnSpc>
              <a:buNone/>
            </a:pPr>
            <a:endParaRPr lang="en-US" sz="1250" dirty="0"/>
          </a:p>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One row per categorization run, per reason, per category, per attribute.</a:t>
            </a:r>
            <a:endParaRPr lang="en-US" sz="1250" dirty="0"/>
          </a:p>
        </p:txBody>
      </p:sp>
      <p:sp>
        <p:nvSpPr>
          <p:cNvPr id="21" name="Text 19"/>
          <p:cNvSpPr txBox="1"/>
          <p:nvPr/>
        </p:nvSpPr>
        <p:spPr>
          <a:xfrm>
            <a:off x="8522208" y="4498848"/>
            <a:ext cx="3008376" cy="320040"/>
          </a:xfrm>
          <a:prstGeom prst="rect">
            <a:avLst/>
          </a:prstGeom>
          <a:noFill/>
          <a:ln/>
        </p:spPr>
        <p:txBody>
          <a:bodyPr wrap="square" lIns="0" tIns="0" rIns="0" bIns="0" rtlCol="0" anchor="ctr"/>
          <a:lstStyle/>
          <a:p>
            <a:pPr indent="0" marL="0">
              <a:buNone/>
            </a:pPr>
            <a:r>
              <a:rPr lang="en-US" sz="1100" i="1" dirty="0">
                <a:solidFill>
                  <a:srgbClr val="5A6675"/>
                </a:solidFill>
                <a:latin typeface="Calibri" pitchFamily="34" charset="0"/>
                <a:ea typeface="Calibri" pitchFamily="34" charset="-122"/>
                <a:cs typeface="Calibri" pitchFamily="34" charset="-120"/>
              </a:rPr>
              <a:t>This is the one that grows.</a:t>
            </a:r>
            <a:endParaRPr lang="en-US" sz="1100" dirty="0"/>
          </a:p>
        </p:txBody>
      </p:sp>
      <p:sp>
        <p:nvSpPr>
          <p:cNvPr id="22" name="Shape 20"/>
          <p:cNvSpPr/>
          <p:nvPr/>
        </p:nvSpPr>
        <p:spPr>
          <a:xfrm>
            <a:off x="640080" y="5257800"/>
            <a:ext cx="10908792" cy="868680"/>
          </a:xfrm>
          <a:prstGeom prst="roundRect">
            <a:avLst>
              <a:gd name="adj" fmla="val 8421"/>
            </a:avLst>
          </a:prstGeom>
          <a:solidFill>
            <a:srgbClr val="F7FAFC"/>
          </a:solidFill>
          <a:ln/>
        </p:spPr>
      </p:sp>
      <p:sp>
        <p:nvSpPr>
          <p:cNvPr id="23" name="Text 21"/>
          <p:cNvSpPr txBox="1"/>
          <p:nvPr/>
        </p:nvSpPr>
        <p:spPr>
          <a:xfrm>
            <a:off x="960120" y="5440680"/>
            <a:ext cx="10268712" cy="502920"/>
          </a:xfrm>
          <a:prstGeom prst="rect">
            <a:avLst/>
          </a:prstGeom>
          <a:noFill/>
          <a:ln/>
        </p:spPr>
        <p:txBody>
          <a:bodyPr wrap="square" lIns="0" tIns="0" rIns="0" bIns="0" rtlCol="0" anchor="ctr"/>
          <a:lstStyle/>
          <a:p>
            <a:pPr indent="0" marL="0">
              <a:buNone/>
            </a:pPr>
            <a:r>
              <a:rPr lang="en-US" sz="1700" i="1" dirty="0">
                <a:solidFill>
                  <a:srgbClr val="065A82"/>
                </a:solidFill>
                <a:latin typeface="Cambria" pitchFamily="34" charset="0"/>
                <a:ea typeface="Cambria" pitchFamily="34" charset="-122"/>
                <a:cs typeface="Cambria" pitchFamily="34" charset="-120"/>
              </a:rPr>
              <a:t>Group 1 is a menu.  Group 2 says which menu this diner gets.  Group 3 records what they ordered.</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GROUP 1 — CONFIGURATION</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Two category sets, versioned by date</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908792" cy="914400"/>
        </p:xfrm>
        <a:graphic>
          <a:graphicData uri="http://schemas.openxmlformats.org/drawingml/2006/table">
            <a:tbl>
              <a:tblPr/>
              <a:tblGrid>
                <a:gridCol w="3017520"/>
                <a:gridCol w="3017520"/>
                <a:gridCol w="2011680"/>
                <a:gridCol w="2862072"/>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DEPTH</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VERSIONS</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r>
              <a:tr h="457200">
                <a:tc>
                  <a:txBody>
                    <a:bodyPr/>
                    <a:lstStyle/>
                    <a:p>
                      <a:pPr algn="l" indent="0" marL="0">
                        <a:buNone/>
                      </a:pPr>
                      <a:r>
                        <a:rPr lang="en-US" sz="1300" dirty="0">
                          <a:solidFill>
                            <a:srgbClr val="1A2233"/>
                          </a:solidFill>
                          <a:latin typeface="Calibri" pitchFamily="34" charset="0"/>
                          <a:ea typeface="Calibri" pitchFamily="34" charset="-122"/>
                          <a:cs typeface="Calibri" pitchFamily="34" charset="-120"/>
                        </a:rPr>
                        <a:t>CARESOURCE_OH</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c>
                  <a:txBody>
                    <a:bodyPr/>
                    <a:lstStyle/>
                    <a:p>
                      <a:pPr algn="l" indent="0" marL="0">
                        <a:buNone/>
                      </a:pPr>
                      <a:r>
                        <a:rPr lang="en-US" sz="1300" dirty="0">
                          <a:solidFill>
                            <a:srgbClr val="1A2233"/>
                          </a:solidFill>
                          <a:latin typeface="Calibri" pitchFamily="34" charset="0"/>
                          <a:ea typeface="Calibri" pitchFamily="34" charset="-122"/>
                          <a:cs typeface="Calibri" pitchFamily="34" charset="-120"/>
                        </a:rPr>
                        <a:t>Client supplied</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c>
                  <a:txBody>
                    <a:bodyPr/>
                    <a:lstStyle/>
                    <a:p>
                      <a:pPr algn="l" indent="0" marL="0">
                        <a:buNone/>
                      </a:pPr>
                      <a:r>
                        <a:rPr lang="en-US" sz="1300" dirty="0">
                          <a:solidFill>
                            <a:srgbClr val="1A2233"/>
                          </a:solidFill>
                          <a:latin typeface="Calibri" pitchFamily="34" charset="0"/>
                          <a:ea typeface="Calibri" pitchFamily="34" charset="-122"/>
                          <a:cs typeface="Calibri" pitchFamily="34" charset="-120"/>
                        </a:rPr>
                        <a:t>2 levels</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c>
                  <a:txBody>
                    <a:bodyPr/>
                    <a:lstStyle/>
                    <a:p>
                      <a:pPr algn="l" indent="0" marL="0">
                        <a:buNone/>
                      </a:pPr>
                      <a:r>
                        <a:rPr lang="en-US" sz="1300" dirty="0">
                          <a:solidFill>
                            <a:srgbClr val="1A2233"/>
                          </a:solidFill>
                          <a:latin typeface="Calibri" pitchFamily="34" charset="0"/>
                          <a:ea typeface="Calibri" pitchFamily="34" charset="-122"/>
                          <a:cs typeface="Calibri" pitchFamily="34" charset="-120"/>
                        </a:rPr>
                        <a:t>v1  ·  Jan 2026 → open</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r>
              <a:tr h="658368">
                <a:tc>
                  <a:txBody>
                    <a:bodyPr/>
                    <a:lstStyle/>
                    <a:p>
                      <a:pPr algn="l" indent="0" marL="0">
                        <a:buNone/>
                      </a:pPr>
                      <a:r>
                        <a:rPr lang="en-US" sz="1300" dirty="0">
                          <a:solidFill>
                            <a:srgbClr val="1A2233"/>
                          </a:solidFill>
                          <a:latin typeface="Calibri" pitchFamily="34" charset="0"/>
                          <a:ea typeface="Calibri" pitchFamily="34" charset="-122"/>
                          <a:cs typeface="Calibri" pitchFamily="34" charset="-120"/>
                        </a:rPr>
                        <a:t>CALL_ANALYSIS</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c>
                  <a:txBody>
                    <a:bodyPr/>
                    <a:lstStyle/>
                    <a:p>
                      <a:pPr algn="l" indent="0" marL="0">
                        <a:buNone/>
                      </a:pPr>
                      <a:r>
                        <a:rPr lang="en-US" sz="1300" dirty="0">
                          <a:solidFill>
                            <a:srgbClr val="1A2233"/>
                          </a:solidFill>
                          <a:latin typeface="Calibri" pitchFamily="34" charset="0"/>
                          <a:ea typeface="Calibri" pitchFamily="34" charset="-122"/>
                          <a:cs typeface="Calibri" pitchFamily="34" charset="-120"/>
                        </a:rPr>
                        <a:t>Quarterly clustering</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c>
                  <a:txBody>
                    <a:bodyPr/>
                    <a:lstStyle/>
                    <a:p>
                      <a:pPr algn="l" indent="0" marL="0">
                        <a:buNone/>
                      </a:pPr>
                      <a:r>
                        <a:rPr lang="en-US" sz="1300" dirty="0">
                          <a:solidFill>
                            <a:srgbClr val="1A2233"/>
                          </a:solidFill>
                          <a:latin typeface="Calibri" pitchFamily="34" charset="0"/>
                          <a:ea typeface="Calibri" pitchFamily="34" charset="-122"/>
                          <a:cs typeface="Calibri" pitchFamily="34" charset="-120"/>
                        </a:rPr>
                        <a:t>2 levels</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c>
                  <a:txBody>
                    <a:bodyPr/>
                    <a:lstStyle/>
                    <a:p>
                      <a:pPr algn="l" indent="0" marL="0">
                        <a:buNone/>
                      </a:pPr>
                      <a:r>
                        <a:rPr lang="en-US" sz="1300" dirty="0">
                          <a:solidFill>
                            <a:srgbClr val="1A2233"/>
                          </a:solidFill>
                          <a:latin typeface="Calibri" pitchFamily="34" charset="0"/>
                          <a:ea typeface="Calibri" pitchFamily="34" charset="-122"/>
                          <a:cs typeface="Calibri" pitchFamily="34" charset="-120"/>
                        </a:rPr>
                        <a:t>v1  ·  Apr–Jun</a:t>
                      </a:r>
                      <a:endParaRPr lang="en-US" sz="1300" dirty="0">
                        <a:latin typeface="Calibri" charset="0"/>
                        <a:ea typeface="Calibri" charset="0"/>
                        <a:cs typeface="Calibri" charset="0"/>
                      </a:endParaRPr>
                    </a:p>
                    <a:p>
                      <a:pPr algn="l" indent="0" marL="0">
                        <a:buNone/>
                      </a:pPr>
                      <a:r>
                        <a:rPr lang="en-US" sz="1300" dirty="0">
                          <a:solidFill>
                            <a:srgbClr val="1A2233"/>
                          </a:solidFill>
                          <a:latin typeface="Calibri" pitchFamily="34" charset="0"/>
                          <a:ea typeface="Calibri" pitchFamily="34" charset="-122"/>
                          <a:cs typeface="Calibri" pitchFamily="34" charset="-120"/>
                        </a:rPr>
                        <a:t>v2  ·  Jul → open</a:t>
                      </a:r>
                      <a:endParaRPr lang="en-US" sz="1300" dirty="0">
                        <a:latin typeface="Calibri" charset="0"/>
                        <a:ea typeface="Calibri" charset="0"/>
                        <a:cs typeface="Calibri" charset="0"/>
                      </a:endParaRPr>
                    </a:p>
                  </a:txBody>
                  <a:tcPr marL="128016" marR="128016" marT="73152" marB="73152" anchor="ctr">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7FAFC"/>
                    </a:solidFill>
                  </a:tcPr>
                </a:tc>
              </a:tr>
            </a:tbl>
          </a:graphicData>
        </a:graphic>
      </p:graphicFrame>
      <p:sp>
        <p:nvSpPr>
          <p:cNvPr id="5" name="Shape 2"/>
          <p:cNvSpPr/>
          <p:nvPr/>
        </p:nvSpPr>
        <p:spPr>
          <a:xfrm>
            <a:off x="640080" y="1371600"/>
            <a:ext cx="10908792" cy="384048"/>
          </a:xfrm>
          <a:prstGeom prst="rect">
            <a:avLst/>
          </a:prstGeom>
          <a:solidFill>
            <a:srgbClr val="065A82"/>
          </a:solidFill>
          <a:ln/>
        </p:spPr>
      </p:sp>
      <p:sp>
        <p:nvSpPr>
          <p:cNvPr id="6" name="Text 3"/>
          <p:cNvSpPr txBox="1"/>
          <p:nvPr/>
        </p:nvSpPr>
        <p:spPr>
          <a:xfrm>
            <a:off x="768096" y="1371600"/>
            <a:ext cx="2834640" cy="384048"/>
          </a:xfrm>
          <a:prstGeom prst="rect">
            <a:avLst/>
          </a:prstGeom>
          <a:noFill/>
          <a:ln/>
        </p:spPr>
        <p:txBody>
          <a:bodyPr wrap="square" lIns="0" tIns="0" rIns="0" bIns="0"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SET</a:t>
            </a:r>
            <a:endParaRPr lang="en-US" sz="1150" dirty="0"/>
          </a:p>
        </p:txBody>
      </p:sp>
      <p:sp>
        <p:nvSpPr>
          <p:cNvPr id="7" name="Text 4"/>
          <p:cNvSpPr txBox="1"/>
          <p:nvPr/>
        </p:nvSpPr>
        <p:spPr>
          <a:xfrm>
            <a:off x="3785616" y="1371600"/>
            <a:ext cx="2834640" cy="384048"/>
          </a:xfrm>
          <a:prstGeom prst="rect">
            <a:avLst/>
          </a:prstGeom>
          <a:noFill/>
          <a:ln/>
        </p:spPr>
        <p:txBody>
          <a:bodyPr wrap="square" lIns="0" tIns="0" rIns="0" bIns="0"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SOURCE</a:t>
            </a:r>
            <a:endParaRPr lang="en-US" sz="1150" dirty="0"/>
          </a:p>
        </p:txBody>
      </p:sp>
      <p:sp>
        <p:nvSpPr>
          <p:cNvPr id="8" name="Text 5"/>
          <p:cNvSpPr txBox="1"/>
          <p:nvPr/>
        </p:nvSpPr>
        <p:spPr>
          <a:xfrm>
            <a:off x="6803136" y="1371600"/>
            <a:ext cx="1828800" cy="384048"/>
          </a:xfrm>
          <a:prstGeom prst="rect">
            <a:avLst/>
          </a:prstGeom>
          <a:noFill/>
          <a:ln/>
        </p:spPr>
        <p:txBody>
          <a:bodyPr wrap="square" lIns="0" tIns="0" rIns="0" bIns="0"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DEPTH</a:t>
            </a:r>
            <a:endParaRPr lang="en-US" sz="1150" dirty="0"/>
          </a:p>
        </p:txBody>
      </p:sp>
      <p:sp>
        <p:nvSpPr>
          <p:cNvPr id="9" name="Text 6"/>
          <p:cNvSpPr txBox="1"/>
          <p:nvPr/>
        </p:nvSpPr>
        <p:spPr>
          <a:xfrm>
            <a:off x="8814816" y="1371600"/>
            <a:ext cx="2651760" cy="384048"/>
          </a:xfrm>
          <a:prstGeom prst="rect">
            <a:avLst/>
          </a:prstGeom>
          <a:noFill/>
          <a:ln/>
        </p:spPr>
        <p:txBody>
          <a:bodyPr wrap="square" lIns="0" tIns="0" rIns="0" bIns="0"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VERSIONS</a:t>
            </a:r>
            <a:endParaRPr lang="en-US" sz="1150" dirty="0"/>
          </a:p>
        </p:txBody>
      </p:sp>
      <p:sp>
        <p:nvSpPr>
          <p:cNvPr id="10" name="Shape 7"/>
          <p:cNvSpPr/>
          <p:nvPr/>
        </p:nvSpPr>
        <p:spPr>
          <a:xfrm>
            <a:off x="640080" y="3200400"/>
            <a:ext cx="5394960" cy="2697480"/>
          </a:xfrm>
          <a:prstGeom prst="roundRect">
            <a:avLst>
              <a:gd name="adj" fmla="val 2712"/>
            </a:avLst>
          </a:prstGeom>
          <a:solidFill>
            <a:srgbClr val="EEF3F7"/>
          </a:solidFill>
          <a:ln/>
        </p:spPr>
      </p:sp>
      <p:sp>
        <p:nvSpPr>
          <p:cNvPr id="11" name="Text 8"/>
          <p:cNvSpPr txBox="1"/>
          <p:nvPr/>
        </p:nvSpPr>
        <p:spPr>
          <a:xfrm>
            <a:off x="914400" y="3456432"/>
            <a:ext cx="4846320" cy="365760"/>
          </a:xfrm>
          <a:prstGeom prst="rect">
            <a:avLst/>
          </a:prstGeom>
          <a:noFill/>
          <a:ln/>
        </p:spPr>
        <p:txBody>
          <a:bodyPr wrap="square" lIns="0" tIns="0" rIns="0" bIns="0" rtlCol="0" anchor="ctr"/>
          <a:lstStyle/>
          <a:p>
            <a:pPr indent="0" marL="0">
              <a:buNone/>
            </a:pPr>
            <a:r>
              <a:rPr lang="en-US" sz="1800" b="1" dirty="0">
                <a:solidFill>
                  <a:srgbClr val="1A2233"/>
                </a:solidFill>
                <a:latin typeface="Cambria" pitchFamily="34" charset="0"/>
                <a:ea typeface="Cambria" pitchFamily="34" charset="-122"/>
                <a:cs typeface="Cambria" pitchFamily="34" charset="-120"/>
              </a:rPr>
              <a:t>Why versions</a:t>
            </a:r>
            <a:endParaRPr lang="en-US" sz="1800" dirty="0"/>
          </a:p>
        </p:txBody>
      </p:sp>
      <p:sp>
        <p:nvSpPr>
          <p:cNvPr id="12" name="Text 9"/>
          <p:cNvSpPr txBox="1"/>
          <p:nvPr/>
        </p:nvSpPr>
        <p:spPr>
          <a:xfrm>
            <a:off x="914400" y="3931920"/>
            <a:ext cx="4846320" cy="1737360"/>
          </a:xfrm>
          <a:prstGeom prst="rect">
            <a:avLst/>
          </a:prstGeom>
          <a:noFill/>
          <a:ln/>
        </p:spPr>
        <p:txBody>
          <a:bodyPr wrap="square" lIns="0" tIns="0" rIns="0" bIns="0" rtlCol="0" anchor="ctr"/>
          <a:lstStyle/>
          <a:p>
            <a:pPr indent="0" marL="0">
              <a:lnSpc>
                <a:spcPts val="1700"/>
              </a:lnSpc>
              <a:buNone/>
            </a:pPr>
            <a:r>
              <a:rPr lang="en-US" sz="1300" dirty="0">
                <a:solidFill>
                  <a:srgbClr val="5A6675"/>
                </a:solidFill>
                <a:latin typeface="Calibri" pitchFamily="34" charset="0"/>
                <a:ea typeface="Calibri" pitchFamily="34" charset="-122"/>
                <a:cs typeface="Calibri" pitchFamily="34" charset="-120"/>
              </a:rPr>
              <a:t>Assignments point at a version, not a set.</a:t>
            </a:r>
            <a:endParaRPr lang="en-US" sz="1300" dirty="0"/>
          </a:p>
          <a:p>
            <a:pPr indent="0" marL="0">
              <a:lnSpc>
                <a:spcPts val="1700"/>
              </a:lnSpc>
              <a:buNone/>
            </a:pPr>
            <a:endParaRPr lang="en-US" sz="1300" dirty="0"/>
          </a:p>
          <a:p>
            <a:pPr indent="0" marL="0">
              <a:lnSpc>
                <a:spcPts val="1700"/>
              </a:lnSpc>
              <a:buNone/>
            </a:pPr>
            <a:r>
              <a:rPr lang="en-US" sz="1300" dirty="0">
                <a:solidFill>
                  <a:srgbClr val="5A6675"/>
                </a:solidFill>
                <a:latin typeface="Calibri" pitchFamily="34" charset="0"/>
                <a:ea typeface="Calibri" pitchFamily="34" charset="-122"/>
                <a:cs typeface="Calibri" pitchFamily="34" charset="-120"/>
              </a:rPr>
              <a:t>So a call keeps forever the exact list it was scored against. Confirmed: we never reclassify history — only new interactions get the new set.</a:t>
            </a:r>
            <a:endParaRPr lang="en-US" sz="1300" dirty="0"/>
          </a:p>
        </p:txBody>
      </p:sp>
      <p:sp>
        <p:nvSpPr>
          <p:cNvPr id="13" name="Shape 10"/>
          <p:cNvSpPr/>
          <p:nvPr/>
        </p:nvSpPr>
        <p:spPr>
          <a:xfrm>
            <a:off x="6309360" y="3200400"/>
            <a:ext cx="5239512" cy="2697480"/>
          </a:xfrm>
          <a:prstGeom prst="roundRect">
            <a:avLst>
              <a:gd name="adj" fmla="val 2712"/>
            </a:avLst>
          </a:prstGeom>
          <a:solidFill>
            <a:srgbClr val="EEF3F7"/>
          </a:solidFill>
          <a:ln/>
        </p:spPr>
      </p:sp>
      <p:sp>
        <p:nvSpPr>
          <p:cNvPr id="14" name="Text 11"/>
          <p:cNvSpPr txBox="1"/>
          <p:nvPr/>
        </p:nvSpPr>
        <p:spPr>
          <a:xfrm>
            <a:off x="6583680" y="3456432"/>
            <a:ext cx="4663440" cy="365760"/>
          </a:xfrm>
          <a:prstGeom prst="rect">
            <a:avLst/>
          </a:prstGeom>
          <a:noFill/>
          <a:ln/>
        </p:spPr>
        <p:txBody>
          <a:bodyPr wrap="square" lIns="0" tIns="0" rIns="0" bIns="0" rtlCol="0" anchor="ctr"/>
          <a:lstStyle/>
          <a:p>
            <a:pPr indent="0" marL="0">
              <a:buNone/>
            </a:pPr>
            <a:r>
              <a:rPr lang="en-US" sz="1800" b="1" dirty="0">
                <a:solidFill>
                  <a:srgbClr val="1A2233"/>
                </a:solidFill>
                <a:latin typeface="Cambria" pitchFamily="34" charset="0"/>
                <a:ea typeface="Cambria" pitchFamily="34" charset="-122"/>
                <a:cs typeface="Cambria" pitchFamily="34" charset="-120"/>
              </a:rPr>
              <a:t>Adding a client</a:t>
            </a:r>
            <a:endParaRPr lang="en-US" sz="1800" dirty="0"/>
          </a:p>
        </p:txBody>
      </p:sp>
      <p:sp>
        <p:nvSpPr>
          <p:cNvPr id="15" name="Text 12"/>
          <p:cNvSpPr txBox="1"/>
          <p:nvPr/>
        </p:nvSpPr>
        <p:spPr>
          <a:xfrm>
            <a:off x="6583680" y="3931920"/>
            <a:ext cx="4663440" cy="1737360"/>
          </a:xfrm>
          <a:prstGeom prst="rect">
            <a:avLst/>
          </a:prstGeom>
          <a:noFill/>
          <a:ln/>
        </p:spPr>
        <p:txBody>
          <a:bodyPr wrap="square" lIns="0" tIns="0" rIns="0" bIns="0" rtlCol="0" anchor="ctr"/>
          <a:lstStyle/>
          <a:p>
            <a:pPr indent="0" marL="0">
              <a:lnSpc>
                <a:spcPts val="1700"/>
              </a:lnSpc>
              <a:buNone/>
            </a:pPr>
            <a:r>
              <a:rPr lang="en-US" sz="1300" dirty="0">
                <a:solidFill>
                  <a:srgbClr val="5A6675"/>
                </a:solidFill>
                <a:latin typeface="Calibri" pitchFamily="34" charset="0"/>
                <a:ea typeface="Calibri" pitchFamily="34" charset="-122"/>
                <a:cs typeface="Calibri" pitchFamily="34" charset="-120"/>
              </a:rPr>
              <a:t>One row in the set table, one routing rule, their categories loaded in.</a:t>
            </a:r>
            <a:endParaRPr lang="en-US" sz="1300" dirty="0"/>
          </a:p>
          <a:p>
            <a:pPr indent="0" marL="0">
              <a:lnSpc>
                <a:spcPts val="1700"/>
              </a:lnSpc>
              <a:buNone/>
            </a:pPr>
            <a:endParaRPr lang="en-US" sz="1300" dirty="0"/>
          </a:p>
          <a:p>
            <a:pPr indent="0" marL="0">
              <a:lnSpc>
                <a:spcPts val="1700"/>
              </a:lnSpc>
              <a:buNone/>
            </a:pPr>
            <a:r>
              <a:rPr lang="en-US" sz="1300" dirty="0">
                <a:solidFill>
                  <a:srgbClr val="5A6675"/>
                </a:solidFill>
                <a:latin typeface="Calibri" pitchFamily="34" charset="0"/>
                <a:ea typeface="Calibri" pitchFamily="34" charset="-122"/>
                <a:cs typeface="Calibri" pitchFamily="34" charset="-120"/>
              </a:rPr>
              <a:t>No DDL. No code change. No migration.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GROUP 1 — SAMPLE ROWS</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What the category tables actually hold</a:t>
            </a:r>
            <a:endParaRPr lang="en-US" sz="3200" dirty="0"/>
          </a:p>
        </p:txBody>
      </p:sp>
      <p:sp>
        <p:nvSpPr>
          <p:cNvPr id="4" name="Text 2"/>
          <p:cNvSpPr txBox="1"/>
          <p:nvPr/>
        </p:nvSpPr>
        <p:spPr>
          <a:xfrm>
            <a:off x="640080" y="1197864"/>
            <a:ext cx="5212080" cy="274320"/>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ANALYTIC_CATEGORY_SET</a:t>
            </a:r>
            <a:endParaRPr lang="en-US" sz="1050" dirty="0"/>
          </a:p>
        </p:txBody>
      </p:sp>
      <p:sp>
        <p:nvSpPr>
          <p:cNvPr id="5" name="Shape 3"/>
          <p:cNvSpPr/>
          <p:nvPr/>
        </p:nvSpPr>
        <p:spPr>
          <a:xfrm>
            <a:off x="640080" y="1508760"/>
            <a:ext cx="5212080" cy="310896"/>
          </a:xfrm>
          <a:prstGeom prst="rect">
            <a:avLst/>
          </a:prstGeom>
          <a:solidFill>
            <a:srgbClr val="065A82"/>
          </a:solidFill>
          <a:ln/>
        </p:spPr>
      </p:sp>
      <p:sp>
        <p:nvSpPr>
          <p:cNvPr id="6" name="Text 4"/>
          <p:cNvSpPr txBox="1"/>
          <p:nvPr/>
        </p:nvSpPr>
        <p:spPr>
          <a:xfrm>
            <a:off x="731520" y="1508760"/>
            <a:ext cx="5577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p>
        </p:txBody>
      </p:sp>
      <p:sp>
        <p:nvSpPr>
          <p:cNvPr id="7" name="Text 5"/>
          <p:cNvSpPr txBox="1"/>
          <p:nvPr/>
        </p:nvSpPr>
        <p:spPr>
          <a:xfrm>
            <a:off x="1417320" y="1508760"/>
            <a:ext cx="21579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SET_CODE</a:t>
            </a:r>
            <a:endParaRPr lang="en-US" sz="1000" dirty="0"/>
          </a:p>
        </p:txBody>
      </p:sp>
      <p:sp>
        <p:nvSpPr>
          <p:cNvPr id="8" name="Text 6"/>
          <p:cNvSpPr txBox="1"/>
          <p:nvPr/>
        </p:nvSpPr>
        <p:spPr>
          <a:xfrm>
            <a:off x="3703320" y="1508760"/>
            <a:ext cx="211226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DERIVATION</a:t>
            </a:r>
            <a:endParaRPr lang="en-US" sz="1000" dirty="0"/>
          </a:p>
        </p:txBody>
      </p:sp>
      <p:sp>
        <p:nvSpPr>
          <p:cNvPr id="9" name="Shape 7"/>
          <p:cNvSpPr/>
          <p:nvPr/>
        </p:nvSpPr>
        <p:spPr>
          <a:xfrm>
            <a:off x="640080" y="1819656"/>
            <a:ext cx="5212080" cy="310896"/>
          </a:xfrm>
          <a:prstGeom prst="rect">
            <a:avLst/>
          </a:prstGeom>
          <a:solidFill>
            <a:srgbClr val="F7FAFC"/>
          </a:solidFill>
          <a:ln/>
        </p:spPr>
      </p:sp>
      <p:sp>
        <p:nvSpPr>
          <p:cNvPr id="10" name="Text 8"/>
          <p:cNvSpPr txBox="1"/>
          <p:nvPr/>
        </p:nvSpPr>
        <p:spPr>
          <a:xfrm>
            <a:off x="731520" y="1819656"/>
            <a:ext cx="55778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a:t>
            </a:r>
            <a:endParaRPr lang="en-US" sz="1150" dirty="0"/>
          </a:p>
        </p:txBody>
      </p:sp>
      <p:sp>
        <p:nvSpPr>
          <p:cNvPr id="11" name="Text 9"/>
          <p:cNvSpPr txBox="1"/>
          <p:nvPr/>
        </p:nvSpPr>
        <p:spPr>
          <a:xfrm>
            <a:off x="1417320" y="1819656"/>
            <a:ext cx="215798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CARESOURCE_OH</a:t>
            </a:r>
            <a:endParaRPr lang="en-US" sz="1150" dirty="0"/>
          </a:p>
        </p:txBody>
      </p:sp>
      <p:sp>
        <p:nvSpPr>
          <p:cNvPr id="12" name="Text 10"/>
          <p:cNvSpPr txBox="1"/>
          <p:nvPr/>
        </p:nvSpPr>
        <p:spPr>
          <a:xfrm>
            <a:off x="3703320" y="1819656"/>
            <a:ext cx="211226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CLIENT_SUPPLIED</a:t>
            </a:r>
            <a:endParaRPr lang="en-US" sz="1150" dirty="0"/>
          </a:p>
        </p:txBody>
      </p:sp>
      <p:sp>
        <p:nvSpPr>
          <p:cNvPr id="13" name="Shape 11"/>
          <p:cNvSpPr/>
          <p:nvPr/>
        </p:nvSpPr>
        <p:spPr>
          <a:xfrm>
            <a:off x="640080" y="2130552"/>
            <a:ext cx="5212080" cy="310896"/>
          </a:xfrm>
          <a:prstGeom prst="rect">
            <a:avLst/>
          </a:prstGeom>
          <a:solidFill>
            <a:srgbClr val="FFFFFF"/>
          </a:solidFill>
          <a:ln/>
        </p:spPr>
      </p:sp>
      <p:sp>
        <p:nvSpPr>
          <p:cNvPr id="14" name="Text 12"/>
          <p:cNvSpPr txBox="1"/>
          <p:nvPr/>
        </p:nvSpPr>
        <p:spPr>
          <a:xfrm>
            <a:off x="731520" y="2130552"/>
            <a:ext cx="55778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3</a:t>
            </a:r>
            <a:endParaRPr lang="en-US" sz="1150" dirty="0"/>
          </a:p>
        </p:txBody>
      </p:sp>
      <p:sp>
        <p:nvSpPr>
          <p:cNvPr id="15" name="Text 13"/>
          <p:cNvSpPr txBox="1"/>
          <p:nvPr/>
        </p:nvSpPr>
        <p:spPr>
          <a:xfrm>
            <a:off x="1417320" y="2130552"/>
            <a:ext cx="215798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CALL_ANALYSIS</a:t>
            </a:r>
            <a:endParaRPr lang="en-US" sz="1150" dirty="0"/>
          </a:p>
        </p:txBody>
      </p:sp>
      <p:sp>
        <p:nvSpPr>
          <p:cNvPr id="16" name="Text 14"/>
          <p:cNvSpPr txBox="1"/>
          <p:nvPr/>
        </p:nvSpPr>
        <p:spPr>
          <a:xfrm>
            <a:off x="3703320" y="2130552"/>
            <a:ext cx="211226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CLUSTERING</a:t>
            </a:r>
            <a:endParaRPr lang="en-US" sz="1150" dirty="0"/>
          </a:p>
        </p:txBody>
      </p:sp>
      <p:sp>
        <p:nvSpPr>
          <p:cNvPr id="17" name="Text 15"/>
          <p:cNvSpPr txBox="1"/>
          <p:nvPr/>
        </p:nvSpPr>
        <p:spPr>
          <a:xfrm>
            <a:off x="6336792" y="1197864"/>
            <a:ext cx="5212080" cy="274320"/>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ANALYTIC_CATEGORY_SET_VERSION</a:t>
            </a:r>
            <a:endParaRPr lang="en-US" sz="1050" dirty="0"/>
          </a:p>
        </p:txBody>
      </p:sp>
      <p:sp>
        <p:nvSpPr>
          <p:cNvPr id="18" name="Shape 16"/>
          <p:cNvSpPr/>
          <p:nvPr/>
        </p:nvSpPr>
        <p:spPr>
          <a:xfrm>
            <a:off x="6336792" y="1508760"/>
            <a:ext cx="5212080" cy="310896"/>
          </a:xfrm>
          <a:prstGeom prst="rect">
            <a:avLst/>
          </a:prstGeom>
          <a:solidFill>
            <a:srgbClr val="065A82"/>
          </a:solidFill>
          <a:ln/>
        </p:spPr>
      </p:sp>
      <p:sp>
        <p:nvSpPr>
          <p:cNvPr id="19" name="Text 17"/>
          <p:cNvSpPr txBox="1"/>
          <p:nvPr/>
        </p:nvSpPr>
        <p:spPr>
          <a:xfrm>
            <a:off x="6428232" y="1508760"/>
            <a:ext cx="5577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p>
        </p:txBody>
      </p:sp>
      <p:sp>
        <p:nvSpPr>
          <p:cNvPr id="20" name="Text 18"/>
          <p:cNvSpPr txBox="1"/>
          <p:nvPr/>
        </p:nvSpPr>
        <p:spPr>
          <a:xfrm>
            <a:off x="7114032" y="1508760"/>
            <a:ext cx="60350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SET</a:t>
            </a:r>
            <a:endParaRPr lang="en-US" sz="1000" dirty="0"/>
          </a:p>
        </p:txBody>
      </p:sp>
      <p:sp>
        <p:nvSpPr>
          <p:cNvPr id="21" name="Text 19"/>
          <p:cNvSpPr txBox="1"/>
          <p:nvPr/>
        </p:nvSpPr>
        <p:spPr>
          <a:xfrm>
            <a:off x="7845552" y="1508760"/>
            <a:ext cx="64922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VER</a:t>
            </a:r>
            <a:endParaRPr lang="en-US" sz="1000" dirty="0"/>
          </a:p>
        </p:txBody>
      </p:sp>
      <p:sp>
        <p:nvSpPr>
          <p:cNvPr id="22" name="Text 20"/>
          <p:cNvSpPr txBox="1"/>
          <p:nvPr/>
        </p:nvSpPr>
        <p:spPr>
          <a:xfrm>
            <a:off x="8622792" y="1508760"/>
            <a:ext cx="288950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EFFECTIVE</a:t>
            </a:r>
            <a:endParaRPr lang="en-US" sz="1000" dirty="0"/>
          </a:p>
        </p:txBody>
      </p:sp>
      <p:sp>
        <p:nvSpPr>
          <p:cNvPr id="23" name="Shape 21"/>
          <p:cNvSpPr/>
          <p:nvPr/>
        </p:nvSpPr>
        <p:spPr>
          <a:xfrm>
            <a:off x="6336792" y="1819656"/>
            <a:ext cx="5212080" cy="310896"/>
          </a:xfrm>
          <a:prstGeom prst="rect">
            <a:avLst/>
          </a:prstGeom>
          <a:solidFill>
            <a:srgbClr val="F7FAFC"/>
          </a:solidFill>
          <a:ln/>
        </p:spPr>
      </p:sp>
      <p:sp>
        <p:nvSpPr>
          <p:cNvPr id="24" name="Text 22"/>
          <p:cNvSpPr txBox="1"/>
          <p:nvPr/>
        </p:nvSpPr>
        <p:spPr>
          <a:xfrm>
            <a:off x="6428232" y="1819656"/>
            <a:ext cx="55778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101</a:t>
            </a:r>
            <a:endParaRPr lang="en-US" sz="1150" dirty="0"/>
          </a:p>
        </p:txBody>
      </p:sp>
      <p:sp>
        <p:nvSpPr>
          <p:cNvPr id="25" name="Text 23"/>
          <p:cNvSpPr txBox="1"/>
          <p:nvPr/>
        </p:nvSpPr>
        <p:spPr>
          <a:xfrm>
            <a:off x="7114032" y="1819656"/>
            <a:ext cx="60350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a:t>
            </a:r>
            <a:endParaRPr lang="en-US" sz="1150" dirty="0"/>
          </a:p>
        </p:txBody>
      </p:sp>
      <p:sp>
        <p:nvSpPr>
          <p:cNvPr id="26" name="Text 24"/>
          <p:cNvSpPr txBox="1"/>
          <p:nvPr/>
        </p:nvSpPr>
        <p:spPr>
          <a:xfrm>
            <a:off x="7845552" y="1819656"/>
            <a:ext cx="64922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v1</a:t>
            </a:r>
            <a:endParaRPr lang="en-US" sz="1150" dirty="0"/>
          </a:p>
        </p:txBody>
      </p:sp>
      <p:sp>
        <p:nvSpPr>
          <p:cNvPr id="27" name="Text 25"/>
          <p:cNvSpPr txBox="1"/>
          <p:nvPr/>
        </p:nvSpPr>
        <p:spPr>
          <a:xfrm>
            <a:off x="8622792" y="1819656"/>
            <a:ext cx="288950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2026-01-01  →  open</a:t>
            </a:r>
            <a:endParaRPr lang="en-US" sz="1150" dirty="0"/>
          </a:p>
        </p:txBody>
      </p:sp>
      <p:sp>
        <p:nvSpPr>
          <p:cNvPr id="28" name="Shape 26"/>
          <p:cNvSpPr/>
          <p:nvPr/>
        </p:nvSpPr>
        <p:spPr>
          <a:xfrm>
            <a:off x="6336792" y="2130552"/>
            <a:ext cx="5212080" cy="310896"/>
          </a:xfrm>
          <a:prstGeom prst="rect">
            <a:avLst/>
          </a:prstGeom>
          <a:solidFill>
            <a:srgbClr val="FFFFFF"/>
          </a:solidFill>
          <a:ln/>
        </p:spPr>
      </p:sp>
      <p:sp>
        <p:nvSpPr>
          <p:cNvPr id="29" name="Text 27"/>
          <p:cNvSpPr txBox="1"/>
          <p:nvPr/>
        </p:nvSpPr>
        <p:spPr>
          <a:xfrm>
            <a:off x="6428232" y="2130552"/>
            <a:ext cx="55778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103</a:t>
            </a:r>
            <a:endParaRPr lang="en-US" sz="1150" dirty="0"/>
          </a:p>
        </p:txBody>
      </p:sp>
      <p:sp>
        <p:nvSpPr>
          <p:cNvPr id="30" name="Text 28"/>
          <p:cNvSpPr txBox="1"/>
          <p:nvPr/>
        </p:nvSpPr>
        <p:spPr>
          <a:xfrm>
            <a:off x="7114032" y="2130552"/>
            <a:ext cx="60350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3</a:t>
            </a:r>
            <a:endParaRPr lang="en-US" sz="1150" dirty="0"/>
          </a:p>
        </p:txBody>
      </p:sp>
      <p:sp>
        <p:nvSpPr>
          <p:cNvPr id="31" name="Text 29"/>
          <p:cNvSpPr txBox="1"/>
          <p:nvPr/>
        </p:nvSpPr>
        <p:spPr>
          <a:xfrm>
            <a:off x="7845552" y="2130552"/>
            <a:ext cx="64922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v1</a:t>
            </a:r>
            <a:endParaRPr lang="en-US" sz="1150" dirty="0"/>
          </a:p>
        </p:txBody>
      </p:sp>
      <p:sp>
        <p:nvSpPr>
          <p:cNvPr id="32" name="Text 30"/>
          <p:cNvSpPr txBox="1"/>
          <p:nvPr/>
        </p:nvSpPr>
        <p:spPr>
          <a:xfrm>
            <a:off x="8622792" y="2130552"/>
            <a:ext cx="288950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2026-04-01  →  2026-06-30</a:t>
            </a:r>
            <a:endParaRPr lang="en-US" sz="1150" dirty="0"/>
          </a:p>
        </p:txBody>
      </p:sp>
      <p:sp>
        <p:nvSpPr>
          <p:cNvPr id="33" name="Shape 31"/>
          <p:cNvSpPr/>
          <p:nvPr/>
        </p:nvSpPr>
        <p:spPr>
          <a:xfrm>
            <a:off x="6336792" y="2441448"/>
            <a:ext cx="5212080" cy="310896"/>
          </a:xfrm>
          <a:prstGeom prst="rect">
            <a:avLst/>
          </a:prstGeom>
          <a:solidFill>
            <a:srgbClr val="F7FAFC"/>
          </a:solidFill>
          <a:ln/>
        </p:spPr>
      </p:sp>
      <p:sp>
        <p:nvSpPr>
          <p:cNvPr id="34" name="Text 32"/>
          <p:cNvSpPr txBox="1"/>
          <p:nvPr/>
        </p:nvSpPr>
        <p:spPr>
          <a:xfrm>
            <a:off x="6428232" y="2441448"/>
            <a:ext cx="55778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104</a:t>
            </a:r>
            <a:endParaRPr lang="en-US" sz="1150" dirty="0"/>
          </a:p>
        </p:txBody>
      </p:sp>
      <p:sp>
        <p:nvSpPr>
          <p:cNvPr id="35" name="Text 33"/>
          <p:cNvSpPr txBox="1"/>
          <p:nvPr/>
        </p:nvSpPr>
        <p:spPr>
          <a:xfrm>
            <a:off x="7114032" y="2441448"/>
            <a:ext cx="60350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3</a:t>
            </a:r>
            <a:endParaRPr lang="en-US" sz="1150" dirty="0"/>
          </a:p>
        </p:txBody>
      </p:sp>
      <p:sp>
        <p:nvSpPr>
          <p:cNvPr id="36" name="Text 34"/>
          <p:cNvSpPr txBox="1"/>
          <p:nvPr/>
        </p:nvSpPr>
        <p:spPr>
          <a:xfrm>
            <a:off x="7845552" y="2441448"/>
            <a:ext cx="64922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v2</a:t>
            </a:r>
            <a:endParaRPr lang="en-US" sz="1150" dirty="0"/>
          </a:p>
        </p:txBody>
      </p:sp>
      <p:sp>
        <p:nvSpPr>
          <p:cNvPr id="37" name="Text 35"/>
          <p:cNvSpPr txBox="1"/>
          <p:nvPr/>
        </p:nvSpPr>
        <p:spPr>
          <a:xfrm>
            <a:off x="8622792" y="2441448"/>
            <a:ext cx="2889504" cy="310896"/>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2026-07-01  →  open</a:t>
            </a:r>
            <a:endParaRPr lang="en-US" sz="1150" dirty="0"/>
          </a:p>
        </p:txBody>
      </p:sp>
      <p:sp>
        <p:nvSpPr>
          <p:cNvPr id="38" name="Text 36"/>
          <p:cNvSpPr txBox="1"/>
          <p:nvPr/>
        </p:nvSpPr>
        <p:spPr>
          <a:xfrm>
            <a:off x="640080" y="2843784"/>
            <a:ext cx="10908792"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ANALYTIC_CATEGORY   —   parent_id is what gives us subcategories; a flat client list simply has none</a:t>
            </a:r>
            <a:endParaRPr lang="en-US" sz="1050" dirty="0"/>
          </a:p>
        </p:txBody>
      </p:sp>
      <p:sp>
        <p:nvSpPr>
          <p:cNvPr id="39" name="Shape 37"/>
          <p:cNvSpPr/>
          <p:nvPr/>
        </p:nvSpPr>
        <p:spPr>
          <a:xfrm>
            <a:off x="640080" y="3154680"/>
            <a:ext cx="10908792" cy="310896"/>
          </a:xfrm>
          <a:prstGeom prst="rect">
            <a:avLst/>
          </a:prstGeom>
          <a:solidFill>
            <a:srgbClr val="1C7293"/>
          </a:solidFill>
          <a:ln/>
        </p:spPr>
      </p:sp>
      <p:sp>
        <p:nvSpPr>
          <p:cNvPr id="40" name="Text 38"/>
          <p:cNvSpPr txBox="1"/>
          <p:nvPr/>
        </p:nvSpPr>
        <p:spPr>
          <a:xfrm>
            <a:off x="731520" y="3154680"/>
            <a:ext cx="64922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p>
        </p:txBody>
      </p:sp>
      <p:sp>
        <p:nvSpPr>
          <p:cNvPr id="41" name="Text 39"/>
          <p:cNvSpPr txBox="1"/>
          <p:nvPr/>
        </p:nvSpPr>
        <p:spPr>
          <a:xfrm>
            <a:off x="1508760" y="3154680"/>
            <a:ext cx="7863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p>
        </p:txBody>
      </p:sp>
      <p:sp>
        <p:nvSpPr>
          <p:cNvPr id="42" name="Text 40"/>
          <p:cNvSpPr txBox="1"/>
          <p:nvPr/>
        </p:nvSpPr>
        <p:spPr>
          <a:xfrm>
            <a:off x="2423160" y="3154680"/>
            <a:ext cx="87782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PARENT</a:t>
            </a:r>
            <a:endParaRPr lang="en-US" sz="1000" dirty="0"/>
          </a:p>
        </p:txBody>
      </p:sp>
      <p:sp>
        <p:nvSpPr>
          <p:cNvPr id="43" name="Text 41"/>
          <p:cNvSpPr txBox="1"/>
          <p:nvPr/>
        </p:nvSpPr>
        <p:spPr>
          <a:xfrm>
            <a:off x="3429000" y="3154680"/>
            <a:ext cx="30723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CATEGORY_VALUE</a:t>
            </a:r>
            <a:endParaRPr lang="en-US" sz="1000" dirty="0"/>
          </a:p>
        </p:txBody>
      </p:sp>
      <p:sp>
        <p:nvSpPr>
          <p:cNvPr id="44" name="Text 42"/>
          <p:cNvSpPr txBox="1"/>
          <p:nvPr/>
        </p:nvSpPr>
        <p:spPr>
          <a:xfrm>
            <a:off x="6629400" y="3154680"/>
            <a:ext cx="26151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CATEGORY_NAME</a:t>
            </a:r>
            <a:endParaRPr lang="en-US" sz="1000" dirty="0"/>
          </a:p>
        </p:txBody>
      </p:sp>
      <p:sp>
        <p:nvSpPr>
          <p:cNvPr id="45" name="Text 43"/>
          <p:cNvSpPr txBox="1"/>
          <p:nvPr/>
        </p:nvSpPr>
        <p:spPr>
          <a:xfrm>
            <a:off x="9372600" y="3154680"/>
            <a:ext cx="69494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LVL</a:t>
            </a:r>
            <a:endParaRPr lang="en-US" sz="1000" dirty="0"/>
          </a:p>
        </p:txBody>
      </p:sp>
      <p:sp>
        <p:nvSpPr>
          <p:cNvPr id="46" name="Text 44"/>
          <p:cNvSpPr txBox="1"/>
          <p:nvPr/>
        </p:nvSpPr>
        <p:spPr>
          <a:xfrm>
            <a:off x="10195560" y="3154680"/>
            <a:ext cx="1316736"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SET</a:t>
            </a:r>
            <a:endParaRPr lang="en-US" sz="1000" dirty="0"/>
          </a:p>
        </p:txBody>
      </p:sp>
      <p:sp>
        <p:nvSpPr>
          <p:cNvPr id="47" name="Shape 45"/>
          <p:cNvSpPr/>
          <p:nvPr/>
        </p:nvSpPr>
        <p:spPr>
          <a:xfrm>
            <a:off x="640080" y="3465576"/>
            <a:ext cx="10908792" cy="301752"/>
          </a:xfrm>
          <a:prstGeom prst="rect">
            <a:avLst/>
          </a:prstGeom>
          <a:solidFill>
            <a:srgbClr val="F7FAFC"/>
          </a:solidFill>
          <a:ln/>
        </p:spPr>
      </p:sp>
      <p:sp>
        <p:nvSpPr>
          <p:cNvPr id="48" name="Text 46"/>
          <p:cNvSpPr txBox="1"/>
          <p:nvPr/>
        </p:nvSpPr>
        <p:spPr>
          <a:xfrm>
            <a:off x="731520" y="3465576"/>
            <a:ext cx="6492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1000</a:t>
            </a:r>
            <a:endParaRPr lang="en-US" sz="1150" dirty="0"/>
          </a:p>
        </p:txBody>
      </p:sp>
      <p:sp>
        <p:nvSpPr>
          <p:cNvPr id="49" name="Text 47"/>
          <p:cNvSpPr txBox="1"/>
          <p:nvPr/>
        </p:nvSpPr>
        <p:spPr>
          <a:xfrm>
            <a:off x="1508760" y="3465576"/>
            <a:ext cx="786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101</a:t>
            </a:r>
            <a:endParaRPr lang="en-US" sz="1150" dirty="0"/>
          </a:p>
        </p:txBody>
      </p:sp>
      <p:sp>
        <p:nvSpPr>
          <p:cNvPr id="50" name="Text 48"/>
          <p:cNvSpPr txBox="1"/>
          <p:nvPr/>
        </p:nvSpPr>
        <p:spPr>
          <a:xfrm>
            <a:off x="2423160" y="3465576"/>
            <a:ext cx="877824" cy="301752"/>
          </a:xfrm>
          <a:prstGeom prst="rect">
            <a:avLst/>
          </a:prstGeom>
          <a:noFill/>
          <a:ln/>
        </p:spPr>
        <p:txBody>
          <a:bodyPr wrap="square" lIns="0" tIns="0" rIns="0" bIns="0" rtlCol="0" anchor="ctr"/>
          <a:lstStyle/>
          <a:p>
            <a:pPr indent="0" marL="0">
              <a:buNone/>
            </a:pPr>
            <a:r>
              <a:rPr lang="en-US" sz="1150" dirty="0">
                <a:solidFill>
                  <a:srgbClr val="A8B4C0"/>
                </a:solidFill>
                <a:latin typeface="Calibri" pitchFamily="34" charset="0"/>
                <a:ea typeface="Calibri" pitchFamily="34" charset="-122"/>
                <a:cs typeface="Calibri" pitchFamily="34" charset="-120"/>
              </a:rPr>
              <a:t>—</a:t>
            </a:r>
            <a:endParaRPr lang="en-US" sz="1150" dirty="0"/>
          </a:p>
        </p:txBody>
      </p:sp>
      <p:sp>
        <p:nvSpPr>
          <p:cNvPr id="51" name="Text 49"/>
          <p:cNvSpPr txBox="1"/>
          <p:nvPr/>
        </p:nvSpPr>
        <p:spPr>
          <a:xfrm>
            <a:off x="3429000" y="3465576"/>
            <a:ext cx="3072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DISPUTE</a:t>
            </a:r>
            <a:endParaRPr lang="en-US" sz="1150" dirty="0"/>
          </a:p>
        </p:txBody>
      </p:sp>
      <p:sp>
        <p:nvSpPr>
          <p:cNvPr id="52" name="Text 50"/>
          <p:cNvSpPr txBox="1"/>
          <p:nvPr/>
        </p:nvSpPr>
        <p:spPr>
          <a:xfrm>
            <a:off x="6629400" y="3465576"/>
            <a:ext cx="26151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Dispute</a:t>
            </a:r>
            <a:endParaRPr lang="en-US" sz="1150" dirty="0"/>
          </a:p>
        </p:txBody>
      </p:sp>
      <p:sp>
        <p:nvSpPr>
          <p:cNvPr id="53" name="Text 51"/>
          <p:cNvSpPr txBox="1"/>
          <p:nvPr/>
        </p:nvSpPr>
        <p:spPr>
          <a:xfrm>
            <a:off x="9372600" y="3465576"/>
            <a:ext cx="6949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a:t>
            </a:r>
            <a:endParaRPr lang="en-US" sz="1150" dirty="0"/>
          </a:p>
        </p:txBody>
      </p:sp>
      <p:sp>
        <p:nvSpPr>
          <p:cNvPr id="54" name="Text 52"/>
          <p:cNvSpPr txBox="1"/>
          <p:nvPr/>
        </p:nvSpPr>
        <p:spPr>
          <a:xfrm>
            <a:off x="10195560" y="3465576"/>
            <a:ext cx="131673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CareSource</a:t>
            </a:r>
            <a:endParaRPr lang="en-US" sz="1150" dirty="0"/>
          </a:p>
        </p:txBody>
      </p:sp>
      <p:sp>
        <p:nvSpPr>
          <p:cNvPr id="55" name="Shape 53"/>
          <p:cNvSpPr/>
          <p:nvPr/>
        </p:nvSpPr>
        <p:spPr>
          <a:xfrm>
            <a:off x="640080" y="3767328"/>
            <a:ext cx="10908792" cy="301752"/>
          </a:xfrm>
          <a:prstGeom prst="rect">
            <a:avLst/>
          </a:prstGeom>
          <a:solidFill>
            <a:srgbClr val="FFFFFF"/>
          </a:solidFill>
          <a:ln/>
        </p:spPr>
      </p:sp>
      <p:sp>
        <p:nvSpPr>
          <p:cNvPr id="56" name="Text 54"/>
          <p:cNvSpPr txBox="1"/>
          <p:nvPr/>
        </p:nvSpPr>
        <p:spPr>
          <a:xfrm>
            <a:off x="731520" y="3767328"/>
            <a:ext cx="6492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1004</a:t>
            </a:r>
            <a:endParaRPr lang="en-US" sz="1150" dirty="0"/>
          </a:p>
        </p:txBody>
      </p:sp>
      <p:sp>
        <p:nvSpPr>
          <p:cNvPr id="57" name="Text 55"/>
          <p:cNvSpPr txBox="1"/>
          <p:nvPr/>
        </p:nvSpPr>
        <p:spPr>
          <a:xfrm>
            <a:off x="1508760" y="3767328"/>
            <a:ext cx="786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101</a:t>
            </a:r>
            <a:endParaRPr lang="en-US" sz="1150" dirty="0"/>
          </a:p>
        </p:txBody>
      </p:sp>
      <p:sp>
        <p:nvSpPr>
          <p:cNvPr id="58" name="Text 56"/>
          <p:cNvSpPr txBox="1"/>
          <p:nvPr/>
        </p:nvSpPr>
        <p:spPr>
          <a:xfrm>
            <a:off x="2423160" y="3767328"/>
            <a:ext cx="8778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1000</a:t>
            </a:r>
            <a:endParaRPr lang="en-US" sz="1150" dirty="0"/>
          </a:p>
        </p:txBody>
      </p:sp>
      <p:sp>
        <p:nvSpPr>
          <p:cNvPr id="59" name="Text 57"/>
          <p:cNvSpPr txBox="1"/>
          <p:nvPr/>
        </p:nvSpPr>
        <p:spPr>
          <a:xfrm>
            <a:off x="3429000" y="3767328"/>
            <a:ext cx="3072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DISP_PAYMENT_AMOUNT</a:t>
            </a:r>
            <a:endParaRPr lang="en-US" sz="1150" dirty="0"/>
          </a:p>
        </p:txBody>
      </p:sp>
      <p:sp>
        <p:nvSpPr>
          <p:cNvPr id="60" name="Text 58"/>
          <p:cNvSpPr txBox="1"/>
          <p:nvPr/>
        </p:nvSpPr>
        <p:spPr>
          <a:xfrm>
            <a:off x="6629400" y="3767328"/>
            <a:ext cx="26151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Payment Amount</a:t>
            </a:r>
            <a:endParaRPr lang="en-US" sz="1150" dirty="0"/>
          </a:p>
        </p:txBody>
      </p:sp>
      <p:sp>
        <p:nvSpPr>
          <p:cNvPr id="61" name="Text 59"/>
          <p:cNvSpPr txBox="1"/>
          <p:nvPr/>
        </p:nvSpPr>
        <p:spPr>
          <a:xfrm>
            <a:off x="9372600" y="3767328"/>
            <a:ext cx="6949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2</a:t>
            </a:r>
            <a:endParaRPr lang="en-US" sz="1150" dirty="0"/>
          </a:p>
        </p:txBody>
      </p:sp>
      <p:sp>
        <p:nvSpPr>
          <p:cNvPr id="62" name="Text 60"/>
          <p:cNvSpPr txBox="1"/>
          <p:nvPr/>
        </p:nvSpPr>
        <p:spPr>
          <a:xfrm>
            <a:off x="10195560" y="3767328"/>
            <a:ext cx="131673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CareSource</a:t>
            </a:r>
            <a:endParaRPr lang="en-US" sz="1150" dirty="0"/>
          </a:p>
        </p:txBody>
      </p:sp>
      <p:sp>
        <p:nvSpPr>
          <p:cNvPr id="63" name="Shape 61"/>
          <p:cNvSpPr/>
          <p:nvPr/>
        </p:nvSpPr>
        <p:spPr>
          <a:xfrm>
            <a:off x="640080" y="4069080"/>
            <a:ext cx="10908792" cy="301752"/>
          </a:xfrm>
          <a:prstGeom prst="rect">
            <a:avLst/>
          </a:prstGeom>
          <a:solidFill>
            <a:srgbClr val="F7FAFC"/>
          </a:solidFill>
          <a:ln/>
        </p:spPr>
      </p:sp>
      <p:sp>
        <p:nvSpPr>
          <p:cNvPr id="64" name="Text 62"/>
          <p:cNvSpPr txBox="1"/>
          <p:nvPr/>
        </p:nvSpPr>
        <p:spPr>
          <a:xfrm>
            <a:off x="731520" y="4069080"/>
            <a:ext cx="6492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1100</a:t>
            </a:r>
            <a:endParaRPr lang="en-US" sz="1150" dirty="0"/>
          </a:p>
        </p:txBody>
      </p:sp>
      <p:sp>
        <p:nvSpPr>
          <p:cNvPr id="65" name="Text 63"/>
          <p:cNvSpPr txBox="1"/>
          <p:nvPr/>
        </p:nvSpPr>
        <p:spPr>
          <a:xfrm>
            <a:off x="1508760" y="4069080"/>
            <a:ext cx="786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101</a:t>
            </a:r>
            <a:endParaRPr lang="en-US" sz="1150" dirty="0"/>
          </a:p>
        </p:txBody>
      </p:sp>
      <p:sp>
        <p:nvSpPr>
          <p:cNvPr id="66" name="Text 64"/>
          <p:cNvSpPr txBox="1"/>
          <p:nvPr/>
        </p:nvSpPr>
        <p:spPr>
          <a:xfrm>
            <a:off x="2423160" y="4069080"/>
            <a:ext cx="877824" cy="301752"/>
          </a:xfrm>
          <a:prstGeom prst="rect">
            <a:avLst/>
          </a:prstGeom>
          <a:noFill/>
          <a:ln/>
        </p:spPr>
        <p:txBody>
          <a:bodyPr wrap="square" lIns="0" tIns="0" rIns="0" bIns="0" rtlCol="0" anchor="ctr"/>
          <a:lstStyle/>
          <a:p>
            <a:pPr indent="0" marL="0">
              <a:buNone/>
            </a:pPr>
            <a:r>
              <a:rPr lang="en-US" sz="1150" dirty="0">
                <a:solidFill>
                  <a:srgbClr val="A8B4C0"/>
                </a:solidFill>
                <a:latin typeface="Calibri" pitchFamily="34" charset="0"/>
                <a:ea typeface="Calibri" pitchFamily="34" charset="-122"/>
                <a:cs typeface="Calibri" pitchFamily="34" charset="-120"/>
              </a:rPr>
              <a:t>—</a:t>
            </a:r>
            <a:endParaRPr lang="en-US" sz="1150" dirty="0"/>
          </a:p>
        </p:txBody>
      </p:sp>
      <p:sp>
        <p:nvSpPr>
          <p:cNvPr id="67" name="Text 65"/>
          <p:cNvSpPr txBox="1"/>
          <p:nvPr/>
        </p:nvSpPr>
        <p:spPr>
          <a:xfrm>
            <a:off x="3429000" y="4069080"/>
            <a:ext cx="3072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INQUIRY</a:t>
            </a:r>
            <a:endParaRPr lang="en-US" sz="1150" dirty="0"/>
          </a:p>
        </p:txBody>
      </p:sp>
      <p:sp>
        <p:nvSpPr>
          <p:cNvPr id="68" name="Text 66"/>
          <p:cNvSpPr txBox="1"/>
          <p:nvPr/>
        </p:nvSpPr>
        <p:spPr>
          <a:xfrm>
            <a:off x="6629400" y="4069080"/>
            <a:ext cx="26151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Inquiry</a:t>
            </a:r>
            <a:endParaRPr lang="en-US" sz="1150" dirty="0"/>
          </a:p>
        </p:txBody>
      </p:sp>
      <p:sp>
        <p:nvSpPr>
          <p:cNvPr id="69" name="Text 67"/>
          <p:cNvSpPr txBox="1"/>
          <p:nvPr/>
        </p:nvSpPr>
        <p:spPr>
          <a:xfrm>
            <a:off x="9372600" y="4069080"/>
            <a:ext cx="6949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a:t>
            </a:r>
            <a:endParaRPr lang="en-US" sz="1150" dirty="0"/>
          </a:p>
        </p:txBody>
      </p:sp>
      <p:sp>
        <p:nvSpPr>
          <p:cNvPr id="70" name="Text 68"/>
          <p:cNvSpPr txBox="1"/>
          <p:nvPr/>
        </p:nvSpPr>
        <p:spPr>
          <a:xfrm>
            <a:off x="10195560" y="4069080"/>
            <a:ext cx="131673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CareSource</a:t>
            </a:r>
            <a:endParaRPr lang="en-US" sz="1150" dirty="0"/>
          </a:p>
        </p:txBody>
      </p:sp>
      <p:sp>
        <p:nvSpPr>
          <p:cNvPr id="71" name="Shape 69"/>
          <p:cNvSpPr/>
          <p:nvPr/>
        </p:nvSpPr>
        <p:spPr>
          <a:xfrm>
            <a:off x="640080" y="4370832"/>
            <a:ext cx="10908792" cy="301752"/>
          </a:xfrm>
          <a:prstGeom prst="rect">
            <a:avLst/>
          </a:prstGeom>
          <a:solidFill>
            <a:srgbClr val="FFFFFF"/>
          </a:solidFill>
          <a:ln/>
        </p:spPr>
      </p:sp>
      <p:sp>
        <p:nvSpPr>
          <p:cNvPr id="72" name="Text 70"/>
          <p:cNvSpPr txBox="1"/>
          <p:nvPr/>
        </p:nvSpPr>
        <p:spPr>
          <a:xfrm>
            <a:off x="731520" y="4370832"/>
            <a:ext cx="6492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1102</a:t>
            </a:r>
            <a:endParaRPr lang="en-US" sz="1150" dirty="0"/>
          </a:p>
        </p:txBody>
      </p:sp>
      <p:sp>
        <p:nvSpPr>
          <p:cNvPr id="73" name="Text 71"/>
          <p:cNvSpPr txBox="1"/>
          <p:nvPr/>
        </p:nvSpPr>
        <p:spPr>
          <a:xfrm>
            <a:off x="1508760" y="4370832"/>
            <a:ext cx="786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101</a:t>
            </a:r>
            <a:endParaRPr lang="en-US" sz="1150" dirty="0"/>
          </a:p>
        </p:txBody>
      </p:sp>
      <p:sp>
        <p:nvSpPr>
          <p:cNvPr id="74" name="Text 72"/>
          <p:cNvSpPr txBox="1"/>
          <p:nvPr/>
        </p:nvSpPr>
        <p:spPr>
          <a:xfrm>
            <a:off x="2423160" y="4370832"/>
            <a:ext cx="8778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1100</a:t>
            </a:r>
            <a:endParaRPr lang="en-US" sz="1150" dirty="0"/>
          </a:p>
        </p:txBody>
      </p:sp>
      <p:sp>
        <p:nvSpPr>
          <p:cNvPr id="75" name="Text 73"/>
          <p:cNvSpPr txBox="1"/>
          <p:nvPr/>
        </p:nvSpPr>
        <p:spPr>
          <a:xfrm>
            <a:off x="3429000" y="4370832"/>
            <a:ext cx="3072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INQ_ELIGIBILITY</a:t>
            </a:r>
            <a:endParaRPr lang="en-US" sz="1150" dirty="0"/>
          </a:p>
        </p:txBody>
      </p:sp>
      <p:sp>
        <p:nvSpPr>
          <p:cNvPr id="76" name="Text 74"/>
          <p:cNvSpPr txBox="1"/>
          <p:nvPr/>
        </p:nvSpPr>
        <p:spPr>
          <a:xfrm>
            <a:off x="6629400" y="4370832"/>
            <a:ext cx="26151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Eligibility</a:t>
            </a:r>
            <a:endParaRPr lang="en-US" sz="1150" dirty="0"/>
          </a:p>
        </p:txBody>
      </p:sp>
      <p:sp>
        <p:nvSpPr>
          <p:cNvPr id="77" name="Text 75"/>
          <p:cNvSpPr txBox="1"/>
          <p:nvPr/>
        </p:nvSpPr>
        <p:spPr>
          <a:xfrm>
            <a:off x="9372600" y="4370832"/>
            <a:ext cx="6949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2</a:t>
            </a:r>
            <a:endParaRPr lang="en-US" sz="1150" dirty="0"/>
          </a:p>
        </p:txBody>
      </p:sp>
      <p:sp>
        <p:nvSpPr>
          <p:cNvPr id="78" name="Text 76"/>
          <p:cNvSpPr txBox="1"/>
          <p:nvPr/>
        </p:nvSpPr>
        <p:spPr>
          <a:xfrm>
            <a:off x="10195560" y="4370832"/>
            <a:ext cx="131673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CareSource</a:t>
            </a:r>
            <a:endParaRPr lang="en-US" sz="1150" dirty="0"/>
          </a:p>
        </p:txBody>
      </p:sp>
      <p:sp>
        <p:nvSpPr>
          <p:cNvPr id="79" name="Shape 77"/>
          <p:cNvSpPr/>
          <p:nvPr/>
        </p:nvSpPr>
        <p:spPr>
          <a:xfrm>
            <a:off x="640080" y="4672584"/>
            <a:ext cx="10908792" cy="301752"/>
          </a:xfrm>
          <a:prstGeom prst="rect">
            <a:avLst/>
          </a:prstGeom>
          <a:solidFill>
            <a:srgbClr val="F7FAFC"/>
          </a:solidFill>
          <a:ln/>
        </p:spPr>
      </p:sp>
      <p:sp>
        <p:nvSpPr>
          <p:cNvPr id="80" name="Text 78"/>
          <p:cNvSpPr txBox="1"/>
          <p:nvPr/>
        </p:nvSpPr>
        <p:spPr>
          <a:xfrm>
            <a:off x="731520" y="4672584"/>
            <a:ext cx="6492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1301</a:t>
            </a:r>
            <a:endParaRPr lang="en-US" sz="1150" dirty="0"/>
          </a:p>
        </p:txBody>
      </p:sp>
      <p:sp>
        <p:nvSpPr>
          <p:cNvPr id="81" name="Text 79"/>
          <p:cNvSpPr txBox="1"/>
          <p:nvPr/>
        </p:nvSpPr>
        <p:spPr>
          <a:xfrm>
            <a:off x="1508760" y="4672584"/>
            <a:ext cx="786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104</a:t>
            </a:r>
            <a:endParaRPr lang="en-US" sz="1150" dirty="0"/>
          </a:p>
        </p:txBody>
      </p:sp>
      <p:sp>
        <p:nvSpPr>
          <p:cNvPr id="82" name="Text 80"/>
          <p:cNvSpPr txBox="1"/>
          <p:nvPr/>
        </p:nvSpPr>
        <p:spPr>
          <a:xfrm>
            <a:off x="2423160" y="4672584"/>
            <a:ext cx="877824" cy="301752"/>
          </a:xfrm>
          <a:prstGeom prst="rect">
            <a:avLst/>
          </a:prstGeom>
          <a:noFill/>
          <a:ln/>
        </p:spPr>
        <p:txBody>
          <a:bodyPr wrap="square" lIns="0" tIns="0" rIns="0" bIns="0" rtlCol="0" anchor="ctr"/>
          <a:lstStyle/>
          <a:p>
            <a:pPr indent="0" marL="0">
              <a:buNone/>
            </a:pPr>
            <a:r>
              <a:rPr lang="en-US" sz="1150" dirty="0">
                <a:solidFill>
                  <a:srgbClr val="A8B4C0"/>
                </a:solidFill>
                <a:latin typeface="Calibri" pitchFamily="34" charset="0"/>
                <a:ea typeface="Calibri" pitchFamily="34" charset="-122"/>
                <a:cs typeface="Calibri" pitchFamily="34" charset="-120"/>
              </a:rPr>
              <a:t>—</a:t>
            </a:r>
            <a:endParaRPr lang="en-US" sz="1150" dirty="0"/>
          </a:p>
        </p:txBody>
      </p:sp>
      <p:sp>
        <p:nvSpPr>
          <p:cNvPr id="83" name="Text 81"/>
          <p:cNvSpPr txBox="1"/>
          <p:nvPr/>
        </p:nvSpPr>
        <p:spPr>
          <a:xfrm>
            <a:off x="3429000" y="4672584"/>
            <a:ext cx="3072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BENEFITS</a:t>
            </a:r>
            <a:endParaRPr lang="en-US" sz="1150" dirty="0"/>
          </a:p>
        </p:txBody>
      </p:sp>
      <p:sp>
        <p:nvSpPr>
          <p:cNvPr id="84" name="Text 82"/>
          <p:cNvSpPr txBox="1"/>
          <p:nvPr/>
        </p:nvSpPr>
        <p:spPr>
          <a:xfrm>
            <a:off x="6629400" y="4672584"/>
            <a:ext cx="26151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Benefits</a:t>
            </a:r>
            <a:endParaRPr lang="en-US" sz="1150" dirty="0"/>
          </a:p>
        </p:txBody>
      </p:sp>
      <p:sp>
        <p:nvSpPr>
          <p:cNvPr id="85" name="Text 83"/>
          <p:cNvSpPr txBox="1"/>
          <p:nvPr/>
        </p:nvSpPr>
        <p:spPr>
          <a:xfrm>
            <a:off x="9372600" y="4672584"/>
            <a:ext cx="6949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a:t>
            </a:r>
            <a:endParaRPr lang="en-US" sz="1150" dirty="0"/>
          </a:p>
        </p:txBody>
      </p:sp>
      <p:sp>
        <p:nvSpPr>
          <p:cNvPr id="86" name="Text 84"/>
          <p:cNvSpPr txBox="1"/>
          <p:nvPr/>
        </p:nvSpPr>
        <p:spPr>
          <a:xfrm>
            <a:off x="10195560" y="4672584"/>
            <a:ext cx="131673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Call analysis</a:t>
            </a:r>
            <a:endParaRPr lang="en-US" sz="1150" dirty="0"/>
          </a:p>
        </p:txBody>
      </p:sp>
      <p:sp>
        <p:nvSpPr>
          <p:cNvPr id="87" name="Shape 85"/>
          <p:cNvSpPr/>
          <p:nvPr/>
        </p:nvSpPr>
        <p:spPr>
          <a:xfrm>
            <a:off x="640080" y="4974336"/>
            <a:ext cx="10908792" cy="301752"/>
          </a:xfrm>
          <a:prstGeom prst="rect">
            <a:avLst/>
          </a:prstGeom>
          <a:solidFill>
            <a:srgbClr val="FFFFFF"/>
          </a:solidFill>
          <a:ln/>
        </p:spPr>
      </p:sp>
      <p:sp>
        <p:nvSpPr>
          <p:cNvPr id="88" name="Text 86"/>
          <p:cNvSpPr txBox="1"/>
          <p:nvPr/>
        </p:nvSpPr>
        <p:spPr>
          <a:xfrm>
            <a:off x="731520" y="4974336"/>
            <a:ext cx="6492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1302</a:t>
            </a:r>
            <a:endParaRPr lang="en-US" sz="1150" dirty="0"/>
          </a:p>
        </p:txBody>
      </p:sp>
      <p:sp>
        <p:nvSpPr>
          <p:cNvPr id="89" name="Text 87"/>
          <p:cNvSpPr txBox="1"/>
          <p:nvPr/>
        </p:nvSpPr>
        <p:spPr>
          <a:xfrm>
            <a:off x="1508760" y="4974336"/>
            <a:ext cx="786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104</a:t>
            </a:r>
            <a:endParaRPr lang="en-US" sz="1150" dirty="0"/>
          </a:p>
        </p:txBody>
      </p:sp>
      <p:sp>
        <p:nvSpPr>
          <p:cNvPr id="90" name="Text 88"/>
          <p:cNvSpPr txBox="1"/>
          <p:nvPr/>
        </p:nvSpPr>
        <p:spPr>
          <a:xfrm>
            <a:off x="2423160" y="4974336"/>
            <a:ext cx="8778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1301</a:t>
            </a:r>
            <a:endParaRPr lang="en-US" sz="1150" dirty="0"/>
          </a:p>
        </p:txBody>
      </p:sp>
      <p:sp>
        <p:nvSpPr>
          <p:cNvPr id="91" name="Text 89"/>
          <p:cNvSpPr txBox="1"/>
          <p:nvPr/>
        </p:nvSpPr>
        <p:spPr>
          <a:xfrm>
            <a:off x="3429000" y="4974336"/>
            <a:ext cx="3072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BENEFITS_COVERAGE</a:t>
            </a:r>
            <a:endParaRPr lang="en-US" sz="1150" dirty="0"/>
          </a:p>
        </p:txBody>
      </p:sp>
      <p:sp>
        <p:nvSpPr>
          <p:cNvPr id="92" name="Text 90"/>
          <p:cNvSpPr txBox="1"/>
          <p:nvPr/>
        </p:nvSpPr>
        <p:spPr>
          <a:xfrm>
            <a:off x="6629400" y="4974336"/>
            <a:ext cx="26151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Procedure Coverage</a:t>
            </a:r>
            <a:endParaRPr lang="en-US" sz="1150" dirty="0"/>
          </a:p>
        </p:txBody>
      </p:sp>
      <p:sp>
        <p:nvSpPr>
          <p:cNvPr id="93" name="Text 91"/>
          <p:cNvSpPr txBox="1"/>
          <p:nvPr/>
        </p:nvSpPr>
        <p:spPr>
          <a:xfrm>
            <a:off x="9372600" y="4974336"/>
            <a:ext cx="6949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2</a:t>
            </a:r>
            <a:endParaRPr lang="en-US" sz="1150" dirty="0"/>
          </a:p>
        </p:txBody>
      </p:sp>
      <p:sp>
        <p:nvSpPr>
          <p:cNvPr id="94" name="Text 92"/>
          <p:cNvSpPr txBox="1"/>
          <p:nvPr/>
        </p:nvSpPr>
        <p:spPr>
          <a:xfrm>
            <a:off x="10195560" y="4974336"/>
            <a:ext cx="131673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Call analysis</a:t>
            </a:r>
            <a:endParaRPr lang="en-US" sz="1150" dirty="0"/>
          </a:p>
        </p:txBody>
      </p:sp>
      <p:sp>
        <p:nvSpPr>
          <p:cNvPr id="95" name="Shape 93"/>
          <p:cNvSpPr/>
          <p:nvPr/>
        </p:nvSpPr>
        <p:spPr>
          <a:xfrm>
            <a:off x="640080" y="5276088"/>
            <a:ext cx="10908792" cy="301752"/>
          </a:xfrm>
          <a:prstGeom prst="rect">
            <a:avLst/>
          </a:prstGeom>
          <a:solidFill>
            <a:srgbClr val="F7FAFC"/>
          </a:solidFill>
          <a:ln/>
        </p:spPr>
      </p:sp>
      <p:sp>
        <p:nvSpPr>
          <p:cNvPr id="96" name="Text 94"/>
          <p:cNvSpPr txBox="1"/>
          <p:nvPr/>
        </p:nvSpPr>
        <p:spPr>
          <a:xfrm>
            <a:off x="731520" y="5276088"/>
            <a:ext cx="6492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1308</a:t>
            </a:r>
            <a:endParaRPr lang="en-US" sz="1150" dirty="0"/>
          </a:p>
        </p:txBody>
      </p:sp>
      <p:sp>
        <p:nvSpPr>
          <p:cNvPr id="97" name="Text 95"/>
          <p:cNvSpPr txBox="1"/>
          <p:nvPr/>
        </p:nvSpPr>
        <p:spPr>
          <a:xfrm>
            <a:off x="1508760" y="5276088"/>
            <a:ext cx="786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104</a:t>
            </a:r>
            <a:endParaRPr lang="en-US" sz="1150" dirty="0"/>
          </a:p>
        </p:txBody>
      </p:sp>
      <p:sp>
        <p:nvSpPr>
          <p:cNvPr id="98" name="Text 96"/>
          <p:cNvSpPr txBox="1"/>
          <p:nvPr/>
        </p:nvSpPr>
        <p:spPr>
          <a:xfrm>
            <a:off x="2423160" y="5276088"/>
            <a:ext cx="877824" cy="301752"/>
          </a:xfrm>
          <a:prstGeom prst="rect">
            <a:avLst/>
          </a:prstGeom>
          <a:noFill/>
          <a:ln/>
        </p:spPr>
        <p:txBody>
          <a:bodyPr wrap="square" lIns="0" tIns="0" rIns="0" bIns="0" rtlCol="0" anchor="ctr"/>
          <a:lstStyle/>
          <a:p>
            <a:pPr indent="0" marL="0">
              <a:buNone/>
            </a:pPr>
            <a:r>
              <a:rPr lang="en-US" sz="1150" dirty="0">
                <a:solidFill>
                  <a:srgbClr val="A8B4C0"/>
                </a:solidFill>
                <a:latin typeface="Calibri" pitchFamily="34" charset="0"/>
                <a:ea typeface="Calibri" pitchFamily="34" charset="-122"/>
                <a:cs typeface="Calibri" pitchFamily="34" charset="-120"/>
              </a:rPr>
              <a:t>—</a:t>
            </a:r>
            <a:endParaRPr lang="en-US" sz="1150" dirty="0"/>
          </a:p>
        </p:txBody>
      </p:sp>
      <p:sp>
        <p:nvSpPr>
          <p:cNvPr id="99" name="Text 97"/>
          <p:cNvSpPr txBox="1"/>
          <p:nvPr/>
        </p:nvSpPr>
        <p:spPr>
          <a:xfrm>
            <a:off x="3429000" y="5276088"/>
            <a:ext cx="3072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ELIGIBILITY</a:t>
            </a:r>
            <a:endParaRPr lang="en-US" sz="1150" dirty="0"/>
          </a:p>
        </p:txBody>
      </p:sp>
      <p:sp>
        <p:nvSpPr>
          <p:cNvPr id="100" name="Text 98"/>
          <p:cNvSpPr txBox="1"/>
          <p:nvPr/>
        </p:nvSpPr>
        <p:spPr>
          <a:xfrm>
            <a:off x="6629400" y="5276088"/>
            <a:ext cx="26151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Eligibility</a:t>
            </a:r>
            <a:endParaRPr lang="en-US" sz="1150" dirty="0"/>
          </a:p>
        </p:txBody>
      </p:sp>
      <p:sp>
        <p:nvSpPr>
          <p:cNvPr id="101" name="Text 99"/>
          <p:cNvSpPr txBox="1"/>
          <p:nvPr/>
        </p:nvSpPr>
        <p:spPr>
          <a:xfrm>
            <a:off x="9372600" y="5276088"/>
            <a:ext cx="6949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a:t>
            </a:r>
            <a:endParaRPr lang="en-US" sz="1150" dirty="0"/>
          </a:p>
        </p:txBody>
      </p:sp>
      <p:sp>
        <p:nvSpPr>
          <p:cNvPr id="102" name="Text 100"/>
          <p:cNvSpPr txBox="1"/>
          <p:nvPr/>
        </p:nvSpPr>
        <p:spPr>
          <a:xfrm>
            <a:off x="10195560" y="5276088"/>
            <a:ext cx="131673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Call analysis</a:t>
            </a:r>
            <a:endParaRPr lang="en-US" sz="1150" dirty="0"/>
          </a:p>
        </p:txBody>
      </p:sp>
      <p:sp>
        <p:nvSpPr>
          <p:cNvPr id="103" name="Shape 101"/>
          <p:cNvSpPr/>
          <p:nvPr/>
        </p:nvSpPr>
        <p:spPr>
          <a:xfrm>
            <a:off x="640080" y="5806440"/>
            <a:ext cx="10908792" cy="658368"/>
          </a:xfrm>
          <a:prstGeom prst="roundRect">
            <a:avLst>
              <a:gd name="adj" fmla="val 11111"/>
            </a:avLst>
          </a:prstGeom>
          <a:solidFill>
            <a:srgbClr val="F7FAFC"/>
          </a:solidFill>
          <a:ln/>
        </p:spPr>
      </p:sp>
      <p:sp>
        <p:nvSpPr>
          <p:cNvPr id="104" name="Text 102"/>
          <p:cNvSpPr txBox="1"/>
          <p:nvPr/>
        </p:nvSpPr>
        <p:spPr>
          <a:xfrm>
            <a:off x="932688" y="5806440"/>
            <a:ext cx="10323576" cy="658368"/>
          </a:xfrm>
          <a:prstGeom prst="rect">
            <a:avLst/>
          </a:prstGeom>
          <a:noFill/>
          <a:ln/>
        </p:spPr>
        <p:txBody>
          <a:bodyPr wrap="square" lIns="0" tIns="0" rIns="0" bIns="0" rtlCol="0" anchor="ctr"/>
          <a:lstStyle/>
          <a:p>
            <a:pPr indent="0" marL="0">
              <a:buNone/>
            </a:pPr>
            <a:r>
              <a:rPr lang="en-US" sz="1300" dirty="0">
                <a:solidFill>
                  <a:srgbClr val="065A82"/>
                </a:solidFill>
                <a:latin typeface="Calibri" pitchFamily="34" charset="0"/>
                <a:ea typeface="Calibri" pitchFamily="34" charset="-122"/>
                <a:cs typeface="Calibri" pitchFamily="34" charset="-120"/>
              </a:rPr>
              <a:t>CATEGORY_VALUE is the stable code — it survives a version change, so quarter-to-quarter reports roll up on it rather than on the row id.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GROUP 1 — CONFIGURATION</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PCDR and PCIR are one set, not two</a:t>
            </a:r>
            <a:endParaRPr lang="en-US" sz="3200" dirty="0"/>
          </a:p>
        </p:txBody>
      </p:sp>
      <p:sp>
        <p:nvSpPr>
          <p:cNvPr id="4" name="Text 2"/>
          <p:cNvSpPr txBox="1"/>
          <p:nvPr/>
        </p:nvSpPr>
        <p:spPr>
          <a:xfrm>
            <a:off x="640080" y="1188720"/>
            <a:ext cx="10241280" cy="594360"/>
          </a:xfrm>
          <a:prstGeom prst="rect">
            <a:avLst/>
          </a:prstGeom>
          <a:noFill/>
          <a:ln/>
        </p:spPr>
        <p:txBody>
          <a:bodyPr wrap="square" lIns="0" tIns="0" rIns="0" bIns="0" rtlCol="0" anchor="ctr"/>
          <a:lstStyle/>
          <a:p>
            <a:pPr indent="0" marL="0">
              <a:buNone/>
            </a:pPr>
            <a:r>
              <a:rPr lang="en-US" sz="1400" dirty="0">
                <a:solidFill>
                  <a:srgbClr val="5A6675"/>
                </a:solidFill>
                <a:latin typeface="Calibri" pitchFamily="34" charset="0"/>
                <a:ea typeface="Calibri" pitchFamily="34" charset="-122"/>
                <a:cs typeface="Calibri" pitchFamily="34" charset="-120"/>
              </a:rPr>
              <a:t>Dispute vs inquiry is decided by AI from the transcript — so we cannot pick the list up front. It becomes the top level of one tree, and each report is a filter on it.</a:t>
            </a:r>
            <a:endParaRPr lang="en-US" sz="1400" dirty="0"/>
          </a:p>
        </p:txBody>
      </p:sp>
      <p:sp>
        <p:nvSpPr>
          <p:cNvPr id="5" name="Shape 3"/>
          <p:cNvSpPr/>
          <p:nvPr/>
        </p:nvSpPr>
        <p:spPr>
          <a:xfrm>
            <a:off x="4617720" y="1965960"/>
            <a:ext cx="2926080" cy="566928"/>
          </a:xfrm>
          <a:prstGeom prst="roundRect">
            <a:avLst>
              <a:gd name="adj" fmla="val 12903"/>
            </a:avLst>
          </a:prstGeom>
          <a:solidFill>
            <a:srgbClr val="21295C"/>
          </a:solidFill>
          <a:ln/>
        </p:spPr>
      </p:sp>
      <p:sp>
        <p:nvSpPr>
          <p:cNvPr id="6" name="Text 4"/>
          <p:cNvSpPr txBox="1"/>
          <p:nvPr/>
        </p:nvSpPr>
        <p:spPr>
          <a:xfrm>
            <a:off x="4617720" y="1965960"/>
            <a:ext cx="292608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CARESOURCE_OH</a:t>
            </a:r>
            <a:endParaRPr lang="en-US" sz="1400" dirty="0"/>
          </a:p>
        </p:txBody>
      </p:sp>
      <p:sp>
        <p:nvSpPr>
          <p:cNvPr id="7" name="Shape 5"/>
          <p:cNvSpPr/>
          <p:nvPr/>
        </p:nvSpPr>
        <p:spPr>
          <a:xfrm>
            <a:off x="6080760" y="2532888"/>
            <a:ext cx="0" cy="274320"/>
          </a:xfrm>
          <a:prstGeom prst="line">
            <a:avLst/>
          </a:prstGeom>
          <a:noFill/>
          <a:ln w="19050">
            <a:solidFill>
              <a:srgbClr val="B7C7D3"/>
            </a:solidFill>
            <a:prstDash val="solid"/>
          </a:ln>
        </p:spPr>
      </p:sp>
      <p:sp>
        <p:nvSpPr>
          <p:cNvPr id="8" name="Shape 6"/>
          <p:cNvSpPr/>
          <p:nvPr/>
        </p:nvSpPr>
        <p:spPr>
          <a:xfrm>
            <a:off x="3063240" y="2807208"/>
            <a:ext cx="6035040" cy="0"/>
          </a:xfrm>
          <a:prstGeom prst="line">
            <a:avLst/>
          </a:prstGeom>
          <a:noFill/>
          <a:ln w="19050">
            <a:solidFill>
              <a:srgbClr val="B7C7D3"/>
            </a:solidFill>
            <a:prstDash val="solid"/>
          </a:ln>
        </p:spPr>
      </p:sp>
      <p:sp>
        <p:nvSpPr>
          <p:cNvPr id="9" name="Shape 7"/>
          <p:cNvSpPr/>
          <p:nvPr/>
        </p:nvSpPr>
        <p:spPr>
          <a:xfrm>
            <a:off x="3063240" y="2807208"/>
            <a:ext cx="0" cy="256032"/>
          </a:xfrm>
          <a:prstGeom prst="line">
            <a:avLst/>
          </a:prstGeom>
          <a:noFill/>
          <a:ln w="19050">
            <a:solidFill>
              <a:srgbClr val="B7C7D3"/>
            </a:solidFill>
            <a:prstDash val="solid"/>
          </a:ln>
        </p:spPr>
      </p:sp>
      <p:sp>
        <p:nvSpPr>
          <p:cNvPr id="10" name="Shape 8"/>
          <p:cNvSpPr/>
          <p:nvPr/>
        </p:nvSpPr>
        <p:spPr>
          <a:xfrm>
            <a:off x="9098280" y="2807208"/>
            <a:ext cx="0" cy="256032"/>
          </a:xfrm>
          <a:prstGeom prst="line">
            <a:avLst/>
          </a:prstGeom>
          <a:noFill/>
          <a:ln w="19050">
            <a:solidFill>
              <a:srgbClr val="B7C7D3"/>
            </a:solidFill>
            <a:prstDash val="solid"/>
          </a:ln>
        </p:spPr>
      </p:sp>
      <p:sp>
        <p:nvSpPr>
          <p:cNvPr id="11" name="Shape 9"/>
          <p:cNvSpPr/>
          <p:nvPr/>
        </p:nvSpPr>
        <p:spPr>
          <a:xfrm>
            <a:off x="1234440" y="3063240"/>
            <a:ext cx="3657600" cy="548640"/>
          </a:xfrm>
          <a:prstGeom prst="roundRect">
            <a:avLst>
              <a:gd name="adj" fmla="val 13333"/>
            </a:avLst>
          </a:prstGeom>
          <a:solidFill>
            <a:srgbClr val="065A82"/>
          </a:solidFill>
          <a:ln/>
        </p:spPr>
      </p:sp>
      <p:sp>
        <p:nvSpPr>
          <p:cNvPr id="12" name="Text 10"/>
          <p:cNvSpPr txBox="1"/>
          <p:nvPr/>
        </p:nvSpPr>
        <p:spPr>
          <a:xfrm>
            <a:off x="1463040" y="3063240"/>
            <a:ext cx="201168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DISPUTE</a:t>
            </a:r>
            <a:endParaRPr lang="en-US" sz="1400" dirty="0"/>
          </a:p>
        </p:txBody>
      </p:sp>
      <p:sp>
        <p:nvSpPr>
          <p:cNvPr id="13" name="Text 11"/>
          <p:cNvSpPr txBox="1"/>
          <p:nvPr/>
        </p:nvSpPr>
        <p:spPr>
          <a:xfrm>
            <a:off x="3063240" y="3063240"/>
            <a:ext cx="1645920" cy="548640"/>
          </a:xfrm>
          <a:prstGeom prst="rect">
            <a:avLst/>
          </a:prstGeom>
          <a:noFill/>
          <a:ln/>
        </p:spPr>
        <p:txBody>
          <a:bodyPr wrap="square" lIns="0" tIns="0" rIns="0" bIns="0" rtlCol="0" anchor="ctr"/>
          <a:lstStyle/>
          <a:p>
            <a:pPr algn="r" indent="0" marL="0">
              <a:buNone/>
            </a:pPr>
            <a:r>
              <a:rPr lang="en-US" sz="1150" dirty="0">
                <a:solidFill>
                  <a:srgbClr val="D6E7F0"/>
                </a:solidFill>
                <a:latin typeface="Calibri" pitchFamily="34" charset="0"/>
                <a:ea typeface="Calibri" pitchFamily="34" charset="-122"/>
                <a:cs typeface="Calibri" pitchFamily="34" charset="-120"/>
              </a:rPr>
              <a:t>→ PCDR report</a:t>
            </a:r>
            <a:endParaRPr lang="en-US" sz="1150" dirty="0"/>
          </a:p>
        </p:txBody>
      </p:sp>
      <p:sp>
        <p:nvSpPr>
          <p:cNvPr id="14" name="Shape 12"/>
          <p:cNvSpPr/>
          <p:nvPr/>
        </p:nvSpPr>
        <p:spPr>
          <a:xfrm>
            <a:off x="1234440" y="3703320"/>
            <a:ext cx="3657600" cy="1691640"/>
          </a:xfrm>
          <a:prstGeom prst="roundRect">
            <a:avLst>
              <a:gd name="adj" fmla="val 4324"/>
            </a:avLst>
          </a:prstGeom>
          <a:solidFill>
            <a:srgbClr val="EEF3F7"/>
          </a:solidFill>
          <a:ln/>
        </p:spPr>
      </p:sp>
      <p:sp>
        <p:nvSpPr>
          <p:cNvPr id="15" name="Text 13"/>
          <p:cNvSpPr txBox="1"/>
          <p:nvPr/>
        </p:nvSpPr>
        <p:spPr>
          <a:xfrm>
            <a:off x="1527048" y="3840480"/>
            <a:ext cx="3108960" cy="1463040"/>
          </a:xfrm>
          <a:prstGeom prst="rect">
            <a:avLst/>
          </a:prstGeom>
          <a:noFill/>
          <a:ln/>
        </p:spPr>
        <p:txBody>
          <a:bodyPr wrap="square" lIns="0" tIns="0" rIns="0" bIns="0" rtlCol="0" anchor="ctr"/>
          <a:lstStyle/>
          <a:p>
            <a:pPr indent="0" marL="0">
              <a:lnSpc>
                <a:spcPts val="1900"/>
              </a:lnSpc>
              <a:buNone/>
            </a:pPr>
            <a:r>
              <a:rPr lang="en-US" sz="1300" dirty="0">
                <a:solidFill>
                  <a:srgbClr val="1A2233"/>
                </a:solidFill>
                <a:latin typeface="Calibri" pitchFamily="34" charset="0"/>
                <a:ea typeface="Calibri" pitchFamily="34" charset="-122"/>
                <a:cs typeface="Calibri" pitchFamily="34" charset="-120"/>
              </a:rPr>
              <a:t>Claim Status</a:t>
            </a:r>
            <a:endParaRPr lang="en-US" sz="1300" dirty="0"/>
          </a:p>
          <a:p>
            <a:pPr indent="0" marL="0">
              <a:lnSpc>
                <a:spcPts val="1900"/>
              </a:lnSpc>
              <a:buNone/>
            </a:pPr>
            <a:r>
              <a:rPr lang="en-US" sz="1300" dirty="0">
                <a:solidFill>
                  <a:srgbClr val="1A2233"/>
                </a:solidFill>
                <a:latin typeface="Calibri" pitchFamily="34" charset="0"/>
                <a:ea typeface="Calibri" pitchFamily="34" charset="-122"/>
                <a:cs typeface="Calibri" pitchFamily="34" charset="-120"/>
              </a:rPr>
              <a:t>Eligibility</a:t>
            </a:r>
            <a:endParaRPr lang="en-US" sz="1300" dirty="0"/>
          </a:p>
          <a:p>
            <a:pPr indent="0" marL="0">
              <a:lnSpc>
                <a:spcPts val="1900"/>
              </a:lnSpc>
              <a:buNone/>
            </a:pPr>
            <a:r>
              <a:rPr lang="en-US" sz="1300" dirty="0">
                <a:solidFill>
                  <a:srgbClr val="1A2233"/>
                </a:solidFill>
                <a:latin typeface="Calibri" pitchFamily="34" charset="0"/>
                <a:ea typeface="Calibri" pitchFamily="34" charset="-122"/>
                <a:cs typeface="Calibri" pitchFamily="34" charset="-120"/>
              </a:rPr>
              <a:t>Other Insurance</a:t>
            </a:r>
            <a:endParaRPr lang="en-US" sz="1300" dirty="0"/>
          </a:p>
          <a:p>
            <a:pPr indent="0" marL="0">
              <a:lnSpc>
                <a:spcPts val="1900"/>
              </a:lnSpc>
              <a:buNone/>
            </a:pPr>
            <a:r>
              <a:rPr lang="en-US" sz="1300" dirty="0">
                <a:solidFill>
                  <a:srgbClr val="1A2233"/>
                </a:solidFill>
                <a:latin typeface="Calibri" pitchFamily="34" charset="0"/>
                <a:ea typeface="Calibri" pitchFamily="34" charset="-122"/>
                <a:cs typeface="Calibri" pitchFamily="34" charset="-120"/>
              </a:rPr>
              <a:t>Payment Amount</a:t>
            </a:r>
            <a:endParaRPr lang="en-US" sz="1300" dirty="0"/>
          </a:p>
        </p:txBody>
      </p:sp>
      <p:sp>
        <p:nvSpPr>
          <p:cNvPr id="16" name="Shape 14"/>
          <p:cNvSpPr/>
          <p:nvPr/>
        </p:nvSpPr>
        <p:spPr>
          <a:xfrm>
            <a:off x="7269480" y="3063240"/>
            <a:ext cx="3657600" cy="548640"/>
          </a:xfrm>
          <a:prstGeom prst="roundRect">
            <a:avLst>
              <a:gd name="adj" fmla="val 13333"/>
            </a:avLst>
          </a:prstGeom>
          <a:solidFill>
            <a:srgbClr val="1C7293"/>
          </a:solidFill>
          <a:ln/>
        </p:spPr>
      </p:sp>
      <p:sp>
        <p:nvSpPr>
          <p:cNvPr id="17" name="Text 15"/>
          <p:cNvSpPr txBox="1"/>
          <p:nvPr/>
        </p:nvSpPr>
        <p:spPr>
          <a:xfrm>
            <a:off x="7498080" y="3063240"/>
            <a:ext cx="201168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INQUIRY</a:t>
            </a:r>
            <a:endParaRPr lang="en-US" sz="1400" dirty="0"/>
          </a:p>
        </p:txBody>
      </p:sp>
      <p:sp>
        <p:nvSpPr>
          <p:cNvPr id="18" name="Text 16"/>
          <p:cNvSpPr txBox="1"/>
          <p:nvPr/>
        </p:nvSpPr>
        <p:spPr>
          <a:xfrm>
            <a:off x="9098280" y="3063240"/>
            <a:ext cx="1645920" cy="548640"/>
          </a:xfrm>
          <a:prstGeom prst="rect">
            <a:avLst/>
          </a:prstGeom>
          <a:noFill/>
          <a:ln/>
        </p:spPr>
        <p:txBody>
          <a:bodyPr wrap="square" lIns="0" tIns="0" rIns="0" bIns="0" rtlCol="0" anchor="ctr"/>
          <a:lstStyle/>
          <a:p>
            <a:pPr algn="r" indent="0" marL="0">
              <a:buNone/>
            </a:pPr>
            <a:r>
              <a:rPr lang="en-US" sz="1150" dirty="0">
                <a:solidFill>
                  <a:srgbClr val="D6E7F0"/>
                </a:solidFill>
                <a:latin typeface="Calibri" pitchFamily="34" charset="0"/>
                <a:ea typeface="Calibri" pitchFamily="34" charset="-122"/>
                <a:cs typeface="Calibri" pitchFamily="34" charset="-120"/>
              </a:rPr>
              <a:t>→ PCIR report</a:t>
            </a:r>
            <a:endParaRPr lang="en-US" sz="1150" dirty="0"/>
          </a:p>
        </p:txBody>
      </p:sp>
      <p:sp>
        <p:nvSpPr>
          <p:cNvPr id="19" name="Shape 17"/>
          <p:cNvSpPr/>
          <p:nvPr/>
        </p:nvSpPr>
        <p:spPr>
          <a:xfrm>
            <a:off x="7269480" y="3703320"/>
            <a:ext cx="3657600" cy="1691640"/>
          </a:xfrm>
          <a:prstGeom prst="roundRect">
            <a:avLst>
              <a:gd name="adj" fmla="val 4324"/>
            </a:avLst>
          </a:prstGeom>
          <a:solidFill>
            <a:srgbClr val="EEF3F7"/>
          </a:solidFill>
          <a:ln/>
        </p:spPr>
      </p:sp>
      <p:sp>
        <p:nvSpPr>
          <p:cNvPr id="20" name="Text 18"/>
          <p:cNvSpPr txBox="1"/>
          <p:nvPr/>
        </p:nvSpPr>
        <p:spPr>
          <a:xfrm>
            <a:off x="7562088" y="3840480"/>
            <a:ext cx="3108960" cy="1463040"/>
          </a:xfrm>
          <a:prstGeom prst="rect">
            <a:avLst/>
          </a:prstGeom>
          <a:noFill/>
          <a:ln/>
        </p:spPr>
        <p:txBody>
          <a:bodyPr wrap="square" lIns="0" tIns="0" rIns="0" bIns="0" rtlCol="0" anchor="ctr"/>
          <a:lstStyle/>
          <a:p>
            <a:pPr indent="0" marL="0">
              <a:lnSpc>
                <a:spcPts val="1900"/>
              </a:lnSpc>
              <a:buNone/>
            </a:pPr>
            <a:r>
              <a:rPr lang="en-US" sz="1300" dirty="0">
                <a:solidFill>
                  <a:srgbClr val="1A2233"/>
                </a:solidFill>
                <a:latin typeface="Calibri" pitchFamily="34" charset="0"/>
                <a:ea typeface="Calibri" pitchFamily="34" charset="-122"/>
                <a:cs typeface="Calibri" pitchFamily="34" charset="-120"/>
              </a:rPr>
              <a:t>Claim Status</a:t>
            </a:r>
            <a:endParaRPr lang="en-US" sz="1300" dirty="0"/>
          </a:p>
          <a:p>
            <a:pPr indent="0" marL="0">
              <a:lnSpc>
                <a:spcPts val="1900"/>
              </a:lnSpc>
              <a:buNone/>
            </a:pPr>
            <a:r>
              <a:rPr lang="en-US" sz="1300" dirty="0">
                <a:solidFill>
                  <a:srgbClr val="1A2233"/>
                </a:solidFill>
                <a:latin typeface="Calibri" pitchFamily="34" charset="0"/>
                <a:ea typeface="Calibri" pitchFamily="34" charset="-122"/>
                <a:cs typeface="Calibri" pitchFamily="34" charset="-120"/>
              </a:rPr>
              <a:t>Eligibility</a:t>
            </a:r>
            <a:endParaRPr lang="en-US" sz="1300" dirty="0"/>
          </a:p>
          <a:p>
            <a:pPr indent="0" marL="0">
              <a:lnSpc>
                <a:spcPts val="1900"/>
              </a:lnSpc>
              <a:buNone/>
            </a:pPr>
            <a:r>
              <a:rPr lang="en-US" sz="1300" dirty="0">
                <a:solidFill>
                  <a:srgbClr val="1A2233"/>
                </a:solidFill>
                <a:latin typeface="Calibri" pitchFamily="34" charset="0"/>
                <a:ea typeface="Calibri" pitchFamily="34" charset="-122"/>
                <a:cs typeface="Calibri" pitchFamily="34" charset="-120"/>
              </a:rPr>
              <a:t>Benefit Inquiry</a:t>
            </a:r>
            <a:endParaRPr lang="en-US" sz="1300" dirty="0"/>
          </a:p>
          <a:p>
            <a:pPr indent="0" marL="0">
              <a:lnSpc>
                <a:spcPts val="1900"/>
              </a:lnSpc>
              <a:buNone/>
            </a:pPr>
            <a:r>
              <a:rPr lang="en-US" sz="1300" dirty="0">
                <a:solidFill>
                  <a:srgbClr val="1A2233"/>
                </a:solidFill>
                <a:latin typeface="Calibri" pitchFamily="34" charset="0"/>
                <a:ea typeface="Calibri" pitchFamily="34" charset="-122"/>
                <a:cs typeface="Calibri" pitchFamily="34" charset="-120"/>
              </a:rPr>
              <a:t>Credentialing</a:t>
            </a:r>
            <a:endParaRPr lang="en-US" sz="1300" dirty="0"/>
          </a:p>
        </p:txBody>
      </p:sp>
      <p:sp>
        <p:nvSpPr>
          <p:cNvPr id="21" name="Shape 19"/>
          <p:cNvSpPr/>
          <p:nvPr/>
        </p:nvSpPr>
        <p:spPr>
          <a:xfrm>
            <a:off x="640080" y="5577840"/>
            <a:ext cx="10908792" cy="658368"/>
          </a:xfrm>
          <a:prstGeom prst="roundRect">
            <a:avLst>
              <a:gd name="adj" fmla="val 11111"/>
            </a:avLst>
          </a:prstGeom>
          <a:solidFill>
            <a:srgbClr val="F7FAFC"/>
          </a:solidFill>
          <a:ln/>
        </p:spPr>
      </p:sp>
      <p:sp>
        <p:nvSpPr>
          <p:cNvPr id="22" name="Text 20"/>
          <p:cNvSpPr txBox="1"/>
          <p:nvPr/>
        </p:nvSpPr>
        <p:spPr>
          <a:xfrm>
            <a:off x="932688" y="5715000"/>
            <a:ext cx="10323576" cy="41148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Open: are the two real lists actually different, or only the labels? Nobody has compared the definitions.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GROUP 2 — ROUTING</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Three rules decide what runs</a:t>
            </a:r>
            <a:endParaRPr lang="en-US" sz="3200" dirty="0"/>
          </a:p>
        </p:txBody>
      </p:sp>
      <p:sp>
        <p:nvSpPr>
          <p:cNvPr id="4" name="Text 2"/>
          <p:cNvSpPr txBox="1"/>
          <p:nvPr/>
        </p:nvSpPr>
        <p:spPr>
          <a:xfrm>
            <a:off x="640080" y="1170432"/>
            <a:ext cx="10241280" cy="365760"/>
          </a:xfrm>
          <a:prstGeom prst="rect">
            <a:avLst/>
          </a:prstGeom>
          <a:noFill/>
          <a:ln/>
        </p:spPr>
        <p:txBody>
          <a:bodyPr wrap="square" lIns="0" tIns="0" rIns="0" bIns="0" rtlCol="0" anchor="ctr"/>
          <a:lstStyle/>
          <a:p>
            <a:pPr indent="0" marL="0">
              <a:buNone/>
            </a:pPr>
            <a:r>
              <a:rPr lang="en-US" sz="1400" dirty="0">
                <a:solidFill>
                  <a:srgbClr val="5A6675"/>
                </a:solidFill>
                <a:latin typeface="Calibri" pitchFamily="34" charset="0"/>
                <a:ea typeface="Calibri" pitchFamily="34" charset="-122"/>
                <a:cs typeface="Calibri" pitchFamily="34" charset="-120"/>
              </a:rPr>
              <a:t>Blank means "any". One query returns the sets to run — with no client-specific logic in it.</a:t>
            </a:r>
            <a:endParaRPr lang="en-US" sz="1400" dirty="0"/>
          </a:p>
        </p:txBody>
      </p:sp>
      <p:sp>
        <p:nvSpPr>
          <p:cNvPr id="5" name="Text 3"/>
          <p:cNvSpPr txBox="1"/>
          <p:nvPr/>
        </p:nvSpPr>
        <p:spPr>
          <a:xfrm>
            <a:off x="640080" y="1563624"/>
            <a:ext cx="10908792" cy="274320"/>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ANALYTIC_CATEGORY_RULE   —   the whole table, three rows</a:t>
            </a:r>
            <a:endParaRPr lang="en-US" sz="1050" dirty="0"/>
          </a:p>
        </p:txBody>
      </p:sp>
      <p:sp>
        <p:nvSpPr>
          <p:cNvPr id="6" name="Shape 4"/>
          <p:cNvSpPr/>
          <p:nvPr/>
        </p:nvSpPr>
        <p:spPr>
          <a:xfrm>
            <a:off x="640080" y="1874520"/>
            <a:ext cx="10908792" cy="365760"/>
          </a:xfrm>
          <a:prstGeom prst="rect">
            <a:avLst/>
          </a:prstGeom>
          <a:solidFill>
            <a:srgbClr val="065A82"/>
          </a:solidFill>
          <a:ln/>
        </p:spPr>
      </p:sp>
      <p:sp>
        <p:nvSpPr>
          <p:cNvPr id="7" name="Text 5"/>
          <p:cNvSpPr txBox="1"/>
          <p:nvPr/>
        </p:nvSpPr>
        <p:spPr>
          <a:xfrm>
            <a:off x="731520" y="1874520"/>
            <a:ext cx="877824"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p>
        </p:txBody>
      </p:sp>
      <p:sp>
        <p:nvSpPr>
          <p:cNvPr id="8" name="Text 6"/>
          <p:cNvSpPr txBox="1"/>
          <p:nvPr/>
        </p:nvSpPr>
        <p:spPr>
          <a:xfrm>
            <a:off x="1737360" y="1874520"/>
            <a:ext cx="2615184"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SET</a:t>
            </a:r>
            <a:endParaRPr lang="en-US" sz="1100" dirty="0"/>
          </a:p>
        </p:txBody>
      </p:sp>
      <p:sp>
        <p:nvSpPr>
          <p:cNvPr id="9" name="Text 7"/>
          <p:cNvSpPr txBox="1"/>
          <p:nvPr/>
        </p:nvSpPr>
        <p:spPr>
          <a:xfrm>
            <a:off x="4480560" y="1874520"/>
            <a:ext cx="2523744"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CLIENT_SPEC_ID</a:t>
            </a:r>
            <a:endParaRPr lang="en-US" sz="1100" dirty="0"/>
          </a:p>
        </p:txBody>
      </p:sp>
      <p:sp>
        <p:nvSpPr>
          <p:cNvPr id="10" name="Text 8"/>
          <p:cNvSpPr txBox="1"/>
          <p:nvPr/>
        </p:nvSpPr>
        <p:spPr>
          <a:xfrm>
            <a:off x="7132320" y="1874520"/>
            <a:ext cx="1883664"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CALLER_TYPE</a:t>
            </a:r>
            <a:endParaRPr lang="en-US" sz="1100" dirty="0"/>
          </a:p>
        </p:txBody>
      </p:sp>
      <p:sp>
        <p:nvSpPr>
          <p:cNvPr id="11" name="Text 9"/>
          <p:cNvSpPr txBox="1"/>
          <p:nvPr/>
        </p:nvSpPr>
        <p:spPr>
          <a:xfrm>
            <a:off x="9144000" y="1874520"/>
            <a:ext cx="2368296"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INTERACTION_TYPE</a:t>
            </a:r>
            <a:endParaRPr lang="en-US" sz="1100" dirty="0"/>
          </a:p>
        </p:txBody>
      </p:sp>
      <p:sp>
        <p:nvSpPr>
          <p:cNvPr id="12" name="Shape 10"/>
          <p:cNvSpPr/>
          <p:nvPr/>
        </p:nvSpPr>
        <p:spPr>
          <a:xfrm>
            <a:off x="640080" y="2240280"/>
            <a:ext cx="10908792" cy="420624"/>
          </a:xfrm>
          <a:prstGeom prst="rect">
            <a:avLst/>
          </a:prstGeom>
          <a:solidFill>
            <a:srgbClr val="F7FAFC"/>
          </a:solidFill>
          <a:ln/>
        </p:spPr>
      </p:sp>
      <p:sp>
        <p:nvSpPr>
          <p:cNvPr id="13" name="Text 11"/>
          <p:cNvSpPr txBox="1"/>
          <p:nvPr/>
        </p:nvSpPr>
        <p:spPr>
          <a:xfrm>
            <a:off x="731520" y="2240280"/>
            <a:ext cx="87782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301</a:t>
            </a:r>
            <a:endParaRPr lang="en-US" sz="1250" dirty="0"/>
          </a:p>
        </p:txBody>
      </p:sp>
      <p:sp>
        <p:nvSpPr>
          <p:cNvPr id="14" name="Text 12"/>
          <p:cNvSpPr txBox="1"/>
          <p:nvPr/>
        </p:nvSpPr>
        <p:spPr>
          <a:xfrm>
            <a:off x="1737360" y="2240280"/>
            <a:ext cx="261518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CARESOURCE_OH</a:t>
            </a:r>
            <a:endParaRPr lang="en-US" sz="1250" dirty="0"/>
          </a:p>
        </p:txBody>
      </p:sp>
      <p:sp>
        <p:nvSpPr>
          <p:cNvPr id="15" name="Text 13"/>
          <p:cNvSpPr txBox="1"/>
          <p:nvPr/>
        </p:nvSpPr>
        <p:spPr>
          <a:xfrm>
            <a:off x="4480560" y="2240280"/>
            <a:ext cx="252374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CARESOURCE_OH</a:t>
            </a:r>
            <a:endParaRPr lang="en-US" sz="1250" dirty="0"/>
          </a:p>
        </p:txBody>
      </p:sp>
      <p:sp>
        <p:nvSpPr>
          <p:cNvPr id="16" name="Text 14"/>
          <p:cNvSpPr txBox="1"/>
          <p:nvPr/>
        </p:nvSpPr>
        <p:spPr>
          <a:xfrm>
            <a:off x="7132320" y="2240280"/>
            <a:ext cx="188366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PROVIDER</a:t>
            </a:r>
            <a:endParaRPr lang="en-US" sz="1250" dirty="0"/>
          </a:p>
        </p:txBody>
      </p:sp>
      <p:sp>
        <p:nvSpPr>
          <p:cNvPr id="17" name="Text 15"/>
          <p:cNvSpPr txBox="1"/>
          <p:nvPr/>
        </p:nvSpPr>
        <p:spPr>
          <a:xfrm>
            <a:off x="9144000" y="2240280"/>
            <a:ext cx="2368296"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1  Telephone</a:t>
            </a:r>
            <a:endParaRPr lang="en-US" sz="1250" dirty="0"/>
          </a:p>
        </p:txBody>
      </p:sp>
      <p:sp>
        <p:nvSpPr>
          <p:cNvPr id="18" name="Shape 16"/>
          <p:cNvSpPr/>
          <p:nvPr/>
        </p:nvSpPr>
        <p:spPr>
          <a:xfrm>
            <a:off x="640080" y="2660904"/>
            <a:ext cx="10908792" cy="420624"/>
          </a:xfrm>
          <a:prstGeom prst="rect">
            <a:avLst/>
          </a:prstGeom>
          <a:solidFill>
            <a:srgbClr val="FFFFFF"/>
          </a:solidFill>
          <a:ln/>
        </p:spPr>
      </p:sp>
      <p:sp>
        <p:nvSpPr>
          <p:cNvPr id="19" name="Text 17"/>
          <p:cNvSpPr txBox="1"/>
          <p:nvPr/>
        </p:nvSpPr>
        <p:spPr>
          <a:xfrm>
            <a:off x="731520" y="2660904"/>
            <a:ext cx="87782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303</a:t>
            </a:r>
            <a:endParaRPr lang="en-US" sz="1250" dirty="0"/>
          </a:p>
        </p:txBody>
      </p:sp>
      <p:sp>
        <p:nvSpPr>
          <p:cNvPr id="20" name="Text 18"/>
          <p:cNvSpPr txBox="1"/>
          <p:nvPr/>
        </p:nvSpPr>
        <p:spPr>
          <a:xfrm>
            <a:off x="1737360" y="2660904"/>
            <a:ext cx="261518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CALL_ANALYSIS</a:t>
            </a:r>
            <a:endParaRPr lang="en-US" sz="1250" dirty="0"/>
          </a:p>
        </p:txBody>
      </p:sp>
      <p:sp>
        <p:nvSpPr>
          <p:cNvPr id="21" name="Text 19"/>
          <p:cNvSpPr txBox="1"/>
          <p:nvPr/>
        </p:nvSpPr>
        <p:spPr>
          <a:xfrm>
            <a:off x="4480560" y="2660904"/>
            <a:ext cx="2523744" cy="420624"/>
          </a:xfrm>
          <a:prstGeom prst="rect">
            <a:avLst/>
          </a:prstGeom>
          <a:noFill/>
          <a:ln/>
        </p:spPr>
        <p:txBody>
          <a:bodyPr wrap="square" lIns="0" tIns="0" rIns="0" bIns="0" rtlCol="0" anchor="ctr"/>
          <a:lstStyle/>
          <a:p>
            <a:pPr indent="0" marL="0">
              <a:buNone/>
            </a:pPr>
            <a:r>
              <a:rPr lang="en-US" sz="1250" dirty="0">
                <a:solidFill>
                  <a:srgbClr val="A8B4C0"/>
                </a:solidFill>
                <a:latin typeface="Calibri" pitchFamily="34" charset="0"/>
                <a:ea typeface="Calibri" pitchFamily="34" charset="-122"/>
                <a:cs typeface="Calibri" pitchFamily="34" charset="-120"/>
              </a:rPr>
              <a:t>—</a:t>
            </a:r>
            <a:endParaRPr lang="en-US" sz="1250" dirty="0"/>
          </a:p>
        </p:txBody>
      </p:sp>
      <p:sp>
        <p:nvSpPr>
          <p:cNvPr id="22" name="Text 20"/>
          <p:cNvSpPr txBox="1"/>
          <p:nvPr/>
        </p:nvSpPr>
        <p:spPr>
          <a:xfrm>
            <a:off x="7132320" y="2660904"/>
            <a:ext cx="188366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MEMBER</a:t>
            </a:r>
            <a:endParaRPr lang="en-US" sz="1250" dirty="0"/>
          </a:p>
        </p:txBody>
      </p:sp>
      <p:sp>
        <p:nvSpPr>
          <p:cNvPr id="23" name="Text 21"/>
          <p:cNvSpPr txBox="1"/>
          <p:nvPr/>
        </p:nvSpPr>
        <p:spPr>
          <a:xfrm>
            <a:off x="9144000" y="2660904"/>
            <a:ext cx="2368296" cy="420624"/>
          </a:xfrm>
          <a:prstGeom prst="rect">
            <a:avLst/>
          </a:prstGeom>
          <a:noFill/>
          <a:ln/>
        </p:spPr>
        <p:txBody>
          <a:bodyPr wrap="square" lIns="0" tIns="0" rIns="0" bIns="0" rtlCol="0" anchor="ctr"/>
          <a:lstStyle/>
          <a:p>
            <a:pPr indent="0" marL="0">
              <a:buNone/>
            </a:pPr>
            <a:r>
              <a:rPr lang="en-US" sz="1250" dirty="0">
                <a:solidFill>
                  <a:srgbClr val="A8B4C0"/>
                </a:solidFill>
                <a:latin typeface="Calibri" pitchFamily="34" charset="0"/>
                <a:ea typeface="Calibri" pitchFamily="34" charset="-122"/>
                <a:cs typeface="Calibri" pitchFamily="34" charset="-120"/>
              </a:rPr>
              <a:t>—</a:t>
            </a:r>
            <a:endParaRPr lang="en-US" sz="1250" dirty="0"/>
          </a:p>
        </p:txBody>
      </p:sp>
      <p:sp>
        <p:nvSpPr>
          <p:cNvPr id="24" name="Shape 22"/>
          <p:cNvSpPr/>
          <p:nvPr/>
        </p:nvSpPr>
        <p:spPr>
          <a:xfrm>
            <a:off x="640080" y="3081528"/>
            <a:ext cx="10908792" cy="420624"/>
          </a:xfrm>
          <a:prstGeom prst="rect">
            <a:avLst/>
          </a:prstGeom>
          <a:solidFill>
            <a:srgbClr val="F7FAFC"/>
          </a:solidFill>
          <a:ln/>
        </p:spPr>
      </p:sp>
      <p:sp>
        <p:nvSpPr>
          <p:cNvPr id="25" name="Text 23"/>
          <p:cNvSpPr txBox="1"/>
          <p:nvPr/>
        </p:nvSpPr>
        <p:spPr>
          <a:xfrm>
            <a:off x="731520" y="3081528"/>
            <a:ext cx="87782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304</a:t>
            </a:r>
            <a:endParaRPr lang="en-US" sz="1250" dirty="0"/>
          </a:p>
        </p:txBody>
      </p:sp>
      <p:sp>
        <p:nvSpPr>
          <p:cNvPr id="26" name="Text 24"/>
          <p:cNvSpPr txBox="1"/>
          <p:nvPr/>
        </p:nvSpPr>
        <p:spPr>
          <a:xfrm>
            <a:off x="1737360" y="3081528"/>
            <a:ext cx="261518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CALL_ANALYSIS</a:t>
            </a:r>
            <a:endParaRPr lang="en-US" sz="1250" dirty="0"/>
          </a:p>
        </p:txBody>
      </p:sp>
      <p:sp>
        <p:nvSpPr>
          <p:cNvPr id="27" name="Text 25"/>
          <p:cNvSpPr txBox="1"/>
          <p:nvPr/>
        </p:nvSpPr>
        <p:spPr>
          <a:xfrm>
            <a:off x="4480560" y="3081528"/>
            <a:ext cx="2523744" cy="420624"/>
          </a:xfrm>
          <a:prstGeom prst="rect">
            <a:avLst/>
          </a:prstGeom>
          <a:noFill/>
          <a:ln/>
        </p:spPr>
        <p:txBody>
          <a:bodyPr wrap="square" lIns="0" tIns="0" rIns="0" bIns="0" rtlCol="0" anchor="ctr"/>
          <a:lstStyle/>
          <a:p>
            <a:pPr indent="0" marL="0">
              <a:buNone/>
            </a:pPr>
            <a:r>
              <a:rPr lang="en-US" sz="1250" dirty="0">
                <a:solidFill>
                  <a:srgbClr val="A8B4C0"/>
                </a:solidFill>
                <a:latin typeface="Calibri" pitchFamily="34" charset="0"/>
                <a:ea typeface="Calibri" pitchFamily="34" charset="-122"/>
                <a:cs typeface="Calibri" pitchFamily="34" charset="-120"/>
              </a:rPr>
              <a:t>—</a:t>
            </a:r>
            <a:endParaRPr lang="en-US" sz="1250" dirty="0"/>
          </a:p>
        </p:txBody>
      </p:sp>
      <p:sp>
        <p:nvSpPr>
          <p:cNvPr id="28" name="Text 26"/>
          <p:cNvSpPr txBox="1"/>
          <p:nvPr/>
        </p:nvSpPr>
        <p:spPr>
          <a:xfrm>
            <a:off x="7132320" y="3081528"/>
            <a:ext cx="1883664" cy="420624"/>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PROVIDER</a:t>
            </a:r>
            <a:endParaRPr lang="en-US" sz="1250" dirty="0"/>
          </a:p>
        </p:txBody>
      </p:sp>
      <p:sp>
        <p:nvSpPr>
          <p:cNvPr id="29" name="Text 27"/>
          <p:cNvSpPr txBox="1"/>
          <p:nvPr/>
        </p:nvSpPr>
        <p:spPr>
          <a:xfrm>
            <a:off x="9144000" y="3081528"/>
            <a:ext cx="2368296" cy="420624"/>
          </a:xfrm>
          <a:prstGeom prst="rect">
            <a:avLst/>
          </a:prstGeom>
          <a:noFill/>
          <a:ln/>
        </p:spPr>
        <p:txBody>
          <a:bodyPr wrap="square" lIns="0" tIns="0" rIns="0" bIns="0" rtlCol="0" anchor="ctr"/>
          <a:lstStyle/>
          <a:p>
            <a:pPr indent="0" marL="0">
              <a:buNone/>
            </a:pPr>
            <a:r>
              <a:rPr lang="en-US" sz="1250" dirty="0">
                <a:solidFill>
                  <a:srgbClr val="A8B4C0"/>
                </a:solidFill>
                <a:latin typeface="Calibri" pitchFamily="34" charset="0"/>
                <a:ea typeface="Calibri" pitchFamily="34" charset="-122"/>
                <a:cs typeface="Calibri" pitchFamily="34" charset="-120"/>
              </a:rPr>
              <a:t>—</a:t>
            </a:r>
            <a:endParaRPr lang="en-US" sz="1250" dirty="0"/>
          </a:p>
        </p:txBody>
      </p:sp>
      <p:sp>
        <p:nvSpPr>
          <p:cNvPr id="30" name="Shape 28"/>
          <p:cNvSpPr/>
          <p:nvPr/>
        </p:nvSpPr>
        <p:spPr>
          <a:xfrm>
            <a:off x="640080" y="4160520"/>
            <a:ext cx="3520440" cy="1143000"/>
          </a:xfrm>
          <a:prstGeom prst="roundRect">
            <a:avLst>
              <a:gd name="adj" fmla="val 6400"/>
            </a:avLst>
          </a:prstGeom>
          <a:solidFill>
            <a:srgbClr val="EEF3F7"/>
          </a:solidFill>
          <a:ln/>
        </p:spPr>
      </p:sp>
      <p:sp>
        <p:nvSpPr>
          <p:cNvPr id="31" name="Text 29"/>
          <p:cNvSpPr txBox="1"/>
          <p:nvPr/>
        </p:nvSpPr>
        <p:spPr>
          <a:xfrm>
            <a:off x="896112" y="4315968"/>
            <a:ext cx="3017520" cy="41148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2 sets</a:t>
            </a:r>
            <a:endParaRPr lang="en-US" sz="2200" dirty="0"/>
          </a:p>
        </p:txBody>
      </p:sp>
      <p:sp>
        <p:nvSpPr>
          <p:cNvPr id="32" name="Text 30"/>
          <p:cNvSpPr txBox="1"/>
          <p:nvPr/>
        </p:nvSpPr>
        <p:spPr>
          <a:xfrm>
            <a:off x="896112" y="4754880"/>
            <a:ext cx="3017520" cy="457200"/>
          </a:xfrm>
          <a:prstGeom prst="rect">
            <a:avLst/>
          </a:prstGeom>
          <a:noFill/>
          <a:ln/>
        </p:spPr>
        <p:txBody>
          <a:bodyPr wrap="square" lIns="0" tIns="0" rIns="0" bIns="0" rtlCol="0" anchor="ctr"/>
          <a:lstStyle/>
          <a:p>
            <a:pPr indent="0" marL="0">
              <a:buNone/>
            </a:pPr>
            <a:r>
              <a:rPr lang="en-US" sz="1150" dirty="0">
                <a:solidFill>
                  <a:srgbClr val="5A6675"/>
                </a:solidFill>
                <a:latin typeface="Calibri" pitchFamily="34" charset="0"/>
                <a:ea typeface="Calibri" pitchFamily="34" charset="-122"/>
                <a:cs typeface="Calibri" pitchFamily="34" charset="-120"/>
              </a:rPr>
              <a:t>CareSource provider call</a:t>
            </a:r>
            <a:endParaRPr lang="en-US" sz="1150" dirty="0"/>
          </a:p>
          <a:p>
            <a:pPr indent="0" marL="0">
              <a:buNone/>
            </a:pPr>
            <a:r>
              <a:rPr lang="en-US" sz="1150" dirty="0">
                <a:solidFill>
                  <a:srgbClr val="5A6675"/>
                </a:solidFill>
                <a:latin typeface="Calibri" pitchFamily="34" charset="0"/>
                <a:ea typeface="Calibri" pitchFamily="34" charset="-122"/>
                <a:cs typeface="Calibri" pitchFamily="34" charset="-120"/>
              </a:rPr>
              <a:t>rules 301 + 304</a:t>
            </a:r>
            <a:endParaRPr lang="en-US" sz="1150" dirty="0"/>
          </a:p>
        </p:txBody>
      </p:sp>
      <p:sp>
        <p:nvSpPr>
          <p:cNvPr id="33" name="Shape 31"/>
          <p:cNvSpPr/>
          <p:nvPr/>
        </p:nvSpPr>
        <p:spPr>
          <a:xfrm>
            <a:off x="4453128" y="4160520"/>
            <a:ext cx="3520440" cy="1143000"/>
          </a:xfrm>
          <a:prstGeom prst="roundRect">
            <a:avLst>
              <a:gd name="adj" fmla="val 6400"/>
            </a:avLst>
          </a:prstGeom>
          <a:solidFill>
            <a:srgbClr val="EEF3F7"/>
          </a:solidFill>
          <a:ln/>
        </p:spPr>
      </p:sp>
      <p:sp>
        <p:nvSpPr>
          <p:cNvPr id="34" name="Text 32"/>
          <p:cNvSpPr txBox="1"/>
          <p:nvPr/>
        </p:nvSpPr>
        <p:spPr>
          <a:xfrm>
            <a:off x="4709160" y="4315968"/>
            <a:ext cx="3017520" cy="41148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1 set</a:t>
            </a:r>
            <a:endParaRPr lang="en-US" sz="2200" dirty="0"/>
          </a:p>
        </p:txBody>
      </p:sp>
      <p:sp>
        <p:nvSpPr>
          <p:cNvPr id="35" name="Text 33"/>
          <p:cNvSpPr txBox="1"/>
          <p:nvPr/>
        </p:nvSpPr>
        <p:spPr>
          <a:xfrm>
            <a:off x="4709160" y="4754880"/>
            <a:ext cx="3017520" cy="457200"/>
          </a:xfrm>
          <a:prstGeom prst="rect">
            <a:avLst/>
          </a:prstGeom>
          <a:noFill/>
          <a:ln/>
        </p:spPr>
        <p:txBody>
          <a:bodyPr wrap="square" lIns="0" tIns="0" rIns="0" bIns="0" rtlCol="0" anchor="ctr"/>
          <a:lstStyle/>
          <a:p>
            <a:pPr indent="0" marL="0">
              <a:buNone/>
            </a:pPr>
            <a:r>
              <a:rPr lang="en-US" sz="1150" dirty="0">
                <a:solidFill>
                  <a:srgbClr val="5A6675"/>
                </a:solidFill>
                <a:latin typeface="Calibri" pitchFamily="34" charset="0"/>
                <a:ea typeface="Calibri" pitchFamily="34" charset="-122"/>
                <a:cs typeface="Calibri" pitchFamily="34" charset="-120"/>
              </a:rPr>
              <a:t>Any other member or provider</a:t>
            </a:r>
            <a:endParaRPr lang="en-US" sz="1150" dirty="0"/>
          </a:p>
          <a:p>
            <a:pPr indent="0" marL="0">
              <a:buNone/>
            </a:pPr>
            <a:r>
              <a:rPr lang="en-US" sz="1150" dirty="0">
                <a:solidFill>
                  <a:srgbClr val="5A6675"/>
                </a:solidFill>
                <a:latin typeface="Calibri" pitchFamily="34" charset="0"/>
                <a:ea typeface="Calibri" pitchFamily="34" charset="-122"/>
                <a:cs typeface="Calibri" pitchFamily="34" charset="-120"/>
              </a:rPr>
              <a:t>rule 303 or 304</a:t>
            </a:r>
            <a:endParaRPr lang="en-US" sz="1150" dirty="0"/>
          </a:p>
        </p:txBody>
      </p:sp>
      <p:sp>
        <p:nvSpPr>
          <p:cNvPr id="36" name="Shape 34"/>
          <p:cNvSpPr/>
          <p:nvPr/>
        </p:nvSpPr>
        <p:spPr>
          <a:xfrm>
            <a:off x="8266176" y="4160520"/>
            <a:ext cx="3520440" cy="1143000"/>
          </a:xfrm>
          <a:prstGeom prst="roundRect">
            <a:avLst>
              <a:gd name="adj" fmla="val 6400"/>
            </a:avLst>
          </a:prstGeom>
          <a:solidFill>
            <a:srgbClr val="EEF3F7"/>
          </a:solidFill>
          <a:ln/>
        </p:spPr>
      </p:sp>
      <p:sp>
        <p:nvSpPr>
          <p:cNvPr id="37" name="Text 35"/>
          <p:cNvSpPr txBox="1"/>
          <p:nvPr/>
        </p:nvSpPr>
        <p:spPr>
          <a:xfrm>
            <a:off x="8522208" y="4315968"/>
            <a:ext cx="3017520" cy="41148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0 sets</a:t>
            </a:r>
            <a:endParaRPr lang="en-US" sz="2200" dirty="0"/>
          </a:p>
        </p:txBody>
      </p:sp>
      <p:sp>
        <p:nvSpPr>
          <p:cNvPr id="38" name="Text 36"/>
          <p:cNvSpPr txBox="1"/>
          <p:nvPr/>
        </p:nvSpPr>
        <p:spPr>
          <a:xfrm>
            <a:off x="8522208" y="4754880"/>
            <a:ext cx="3017520" cy="457200"/>
          </a:xfrm>
          <a:prstGeom prst="rect">
            <a:avLst/>
          </a:prstGeom>
          <a:noFill/>
          <a:ln/>
        </p:spPr>
        <p:txBody>
          <a:bodyPr wrap="square" lIns="0" tIns="0" rIns="0" bIns="0" rtlCol="0" anchor="ctr"/>
          <a:lstStyle/>
          <a:p>
            <a:pPr indent="0" marL="0">
              <a:buNone/>
            </a:pPr>
            <a:r>
              <a:rPr lang="en-US" sz="1150" dirty="0">
                <a:solidFill>
                  <a:srgbClr val="5A6675"/>
                </a:solidFill>
                <a:latin typeface="Calibri" pitchFamily="34" charset="0"/>
                <a:ea typeface="Calibri" pitchFamily="34" charset="-122"/>
                <a:cs typeface="Calibri" pitchFamily="34" charset="-120"/>
              </a:rPr>
              <a:t>Agency call</a:t>
            </a:r>
            <a:endParaRPr lang="en-US" sz="1150" dirty="0"/>
          </a:p>
          <a:p>
            <a:pPr indent="0" marL="0">
              <a:buNone/>
            </a:pPr>
            <a:r>
              <a:rPr lang="en-US" sz="1150" dirty="0">
                <a:solidFill>
                  <a:srgbClr val="5A6675"/>
                </a:solidFill>
                <a:latin typeface="Calibri" pitchFamily="34" charset="0"/>
                <a:ea typeface="Calibri" pitchFamily="34" charset="-122"/>
                <a:cs typeface="Calibri" pitchFamily="34" charset="-120"/>
              </a:rPr>
              <a:t>recorded as no match</a:t>
            </a:r>
            <a:endParaRPr lang="en-US" sz="1150" dirty="0"/>
          </a:p>
        </p:txBody>
      </p:sp>
      <p:sp>
        <p:nvSpPr>
          <p:cNvPr id="39" name="Shape 37"/>
          <p:cNvSpPr/>
          <p:nvPr/>
        </p:nvSpPr>
        <p:spPr>
          <a:xfrm>
            <a:off x="640080" y="5532120"/>
            <a:ext cx="10908792" cy="777240"/>
          </a:xfrm>
          <a:prstGeom prst="roundRect">
            <a:avLst>
              <a:gd name="adj" fmla="val 9412"/>
            </a:avLst>
          </a:prstGeom>
          <a:solidFill>
            <a:srgbClr val="F7FAFC"/>
          </a:solidFill>
          <a:ln/>
        </p:spPr>
      </p:sp>
      <p:sp>
        <p:nvSpPr>
          <p:cNvPr id="40" name="Text 38"/>
          <p:cNvSpPr txBox="1"/>
          <p:nvPr/>
        </p:nvSpPr>
        <p:spPr>
          <a:xfrm>
            <a:off x="932688" y="5532120"/>
            <a:ext cx="10323576" cy="777240"/>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Caller type is an input here — it has to be resolved before routing, so it cannot itself be the output of a categorization run.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GROUP 3 — RESULTS</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Run → Reason → Category → Attribute</a:t>
            </a:r>
            <a:endParaRPr lang="en-US" sz="3200" dirty="0"/>
          </a:p>
        </p:txBody>
      </p:sp>
      <p:sp>
        <p:nvSpPr>
          <p:cNvPr id="4" name="Shape 2"/>
          <p:cNvSpPr/>
          <p:nvPr/>
        </p:nvSpPr>
        <p:spPr>
          <a:xfrm>
            <a:off x="640080" y="1463040"/>
            <a:ext cx="2615184" cy="2377440"/>
          </a:xfrm>
          <a:prstGeom prst="roundRect">
            <a:avLst>
              <a:gd name="adj" fmla="val 3077"/>
            </a:avLst>
          </a:prstGeom>
          <a:solidFill>
            <a:srgbClr val="EEF3F7"/>
          </a:solidFill>
          <a:ln/>
        </p:spPr>
      </p:sp>
      <p:sp>
        <p:nvSpPr>
          <p:cNvPr id="5" name="Shape 3"/>
          <p:cNvSpPr/>
          <p:nvPr/>
        </p:nvSpPr>
        <p:spPr>
          <a:xfrm>
            <a:off x="640080" y="1463040"/>
            <a:ext cx="2615184" cy="45720"/>
          </a:xfrm>
          <a:prstGeom prst="rect">
            <a:avLst/>
          </a:prstGeom>
          <a:solidFill>
            <a:srgbClr val="065A82"/>
          </a:solidFill>
          <a:ln/>
        </p:spPr>
      </p:sp>
      <p:sp>
        <p:nvSpPr>
          <p:cNvPr id="6" name="Text 4"/>
          <p:cNvSpPr txBox="1"/>
          <p:nvPr/>
        </p:nvSpPr>
        <p:spPr>
          <a:xfrm>
            <a:off x="868680" y="1691640"/>
            <a:ext cx="2157984" cy="365760"/>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RUN</a:t>
            </a:r>
            <a:endParaRPr lang="en-US" sz="1700" dirty="0"/>
          </a:p>
        </p:txBody>
      </p:sp>
      <p:sp>
        <p:nvSpPr>
          <p:cNvPr id="7" name="Text 5"/>
          <p:cNvSpPr txBox="1"/>
          <p:nvPr/>
        </p:nvSpPr>
        <p:spPr>
          <a:xfrm>
            <a:off x="868680" y="2148840"/>
            <a:ext cx="2157984" cy="1463040"/>
          </a:xfrm>
          <a:prstGeom prst="rect">
            <a:avLst/>
          </a:prstGeom>
          <a:noFill/>
          <a:ln/>
        </p:spPr>
        <p:txBody>
          <a:bodyPr wrap="square" lIns="0" tIns="0" rIns="0" bIns="0" rtlCol="0" anchor="ctr"/>
          <a:lstStyle/>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One per interaction per category set.</a:t>
            </a:r>
            <a:endParaRPr lang="en-US" sz="1250" dirty="0"/>
          </a:p>
          <a:p>
            <a:pPr indent="0" marL="0">
              <a:lnSpc>
                <a:spcPts val="1600"/>
              </a:lnSpc>
              <a:buNone/>
            </a:pPr>
            <a:endParaRPr lang="en-US" sz="1250" dirty="0"/>
          </a:p>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A CareSource provider call has two.</a:t>
            </a:r>
            <a:endParaRPr lang="en-US" sz="1250" dirty="0"/>
          </a:p>
        </p:txBody>
      </p:sp>
      <p:sp>
        <p:nvSpPr>
          <p:cNvPr id="8" name="Text 6"/>
          <p:cNvSpPr txBox="1"/>
          <p:nvPr/>
        </p:nvSpPr>
        <p:spPr>
          <a:xfrm>
            <a:off x="3255264" y="2377440"/>
            <a:ext cx="201168" cy="457200"/>
          </a:xfrm>
          <a:prstGeom prst="rect">
            <a:avLst/>
          </a:prstGeom>
          <a:noFill/>
          <a:ln/>
        </p:spPr>
        <p:txBody>
          <a:bodyPr wrap="square" lIns="0" tIns="0" rIns="0" bIns="0" rtlCol="0" anchor="ctr"/>
          <a:lstStyle/>
          <a:p>
            <a:pPr algn="ctr" indent="0" marL="0">
              <a:buNone/>
            </a:pPr>
            <a:r>
              <a:rPr lang="en-US" sz="2000" b="1" dirty="0">
                <a:solidFill>
                  <a:srgbClr val="B7C7D3"/>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456432" y="1463040"/>
            <a:ext cx="2615184" cy="2377440"/>
          </a:xfrm>
          <a:prstGeom prst="roundRect">
            <a:avLst>
              <a:gd name="adj" fmla="val 3077"/>
            </a:avLst>
          </a:prstGeom>
          <a:solidFill>
            <a:srgbClr val="EEF3F7"/>
          </a:solidFill>
          <a:ln/>
        </p:spPr>
      </p:sp>
      <p:sp>
        <p:nvSpPr>
          <p:cNvPr id="10" name="Shape 8"/>
          <p:cNvSpPr/>
          <p:nvPr/>
        </p:nvSpPr>
        <p:spPr>
          <a:xfrm>
            <a:off x="3456432" y="1463040"/>
            <a:ext cx="2615184" cy="45720"/>
          </a:xfrm>
          <a:prstGeom prst="rect">
            <a:avLst/>
          </a:prstGeom>
          <a:solidFill>
            <a:srgbClr val="1C7293"/>
          </a:solidFill>
          <a:ln/>
        </p:spPr>
      </p:sp>
      <p:sp>
        <p:nvSpPr>
          <p:cNvPr id="11" name="Text 9"/>
          <p:cNvSpPr txBox="1"/>
          <p:nvPr/>
        </p:nvSpPr>
        <p:spPr>
          <a:xfrm>
            <a:off x="3685032" y="1691640"/>
            <a:ext cx="2157984" cy="365760"/>
          </a:xfrm>
          <a:prstGeom prst="rect">
            <a:avLst/>
          </a:prstGeom>
          <a:noFill/>
          <a:ln/>
        </p:spPr>
        <p:txBody>
          <a:bodyPr wrap="square" lIns="0" tIns="0" rIns="0" bIns="0" rtlCol="0" anchor="ctr"/>
          <a:lstStyle/>
          <a:p>
            <a:pPr indent="0" marL="0">
              <a:buNone/>
            </a:pPr>
            <a:r>
              <a:rPr lang="en-US" sz="1700" b="1" dirty="0">
                <a:solidFill>
                  <a:srgbClr val="1C7293"/>
                </a:solidFill>
                <a:latin typeface="Cambria" pitchFamily="34" charset="0"/>
                <a:ea typeface="Cambria" pitchFamily="34" charset="-122"/>
                <a:cs typeface="Cambria" pitchFamily="34" charset="-120"/>
              </a:rPr>
              <a:t>REASON</a:t>
            </a:r>
            <a:endParaRPr lang="en-US" sz="1700" dirty="0"/>
          </a:p>
        </p:txBody>
      </p:sp>
      <p:sp>
        <p:nvSpPr>
          <p:cNvPr id="12" name="Text 10"/>
          <p:cNvSpPr txBox="1"/>
          <p:nvPr/>
        </p:nvSpPr>
        <p:spPr>
          <a:xfrm>
            <a:off x="3685032" y="2148840"/>
            <a:ext cx="2157984" cy="1463040"/>
          </a:xfrm>
          <a:prstGeom prst="rect">
            <a:avLst/>
          </a:prstGeom>
          <a:noFill/>
          <a:ln/>
        </p:spPr>
        <p:txBody>
          <a:bodyPr wrap="square" lIns="0" tIns="0" rIns="0" bIns="0" rtlCol="0" anchor="ctr"/>
          <a:lstStyle/>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One per distinct question asked.</a:t>
            </a:r>
            <a:endParaRPr lang="en-US" sz="1250" dirty="0"/>
          </a:p>
          <a:p>
            <a:pPr indent="0" marL="0">
              <a:lnSpc>
                <a:spcPts val="1600"/>
              </a:lnSpc>
              <a:buNone/>
            </a:pPr>
            <a:endParaRPr lang="en-US" sz="1250" dirty="0"/>
          </a:p>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Carries the intent phrase and the friction note.</a:t>
            </a:r>
            <a:endParaRPr lang="en-US" sz="1250" dirty="0"/>
          </a:p>
        </p:txBody>
      </p:sp>
      <p:sp>
        <p:nvSpPr>
          <p:cNvPr id="13" name="Text 11"/>
          <p:cNvSpPr txBox="1"/>
          <p:nvPr/>
        </p:nvSpPr>
        <p:spPr>
          <a:xfrm>
            <a:off x="6071616" y="2377440"/>
            <a:ext cx="201168" cy="457200"/>
          </a:xfrm>
          <a:prstGeom prst="rect">
            <a:avLst/>
          </a:prstGeom>
          <a:noFill/>
          <a:ln/>
        </p:spPr>
        <p:txBody>
          <a:bodyPr wrap="square" lIns="0" tIns="0" rIns="0" bIns="0" rtlCol="0" anchor="ctr"/>
          <a:lstStyle/>
          <a:p>
            <a:pPr algn="ctr" indent="0" marL="0">
              <a:buNone/>
            </a:pPr>
            <a:r>
              <a:rPr lang="en-US" sz="2000" b="1" dirty="0">
                <a:solidFill>
                  <a:srgbClr val="B7C7D3"/>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272784" y="1463040"/>
            <a:ext cx="2615184" cy="2377440"/>
          </a:xfrm>
          <a:prstGeom prst="roundRect">
            <a:avLst>
              <a:gd name="adj" fmla="val 3077"/>
            </a:avLst>
          </a:prstGeom>
          <a:solidFill>
            <a:srgbClr val="EEF3F7"/>
          </a:solidFill>
          <a:ln/>
        </p:spPr>
      </p:sp>
      <p:sp>
        <p:nvSpPr>
          <p:cNvPr id="15" name="Shape 13"/>
          <p:cNvSpPr/>
          <p:nvPr/>
        </p:nvSpPr>
        <p:spPr>
          <a:xfrm>
            <a:off x="6272784" y="1463040"/>
            <a:ext cx="2615184" cy="45720"/>
          </a:xfrm>
          <a:prstGeom prst="rect">
            <a:avLst/>
          </a:prstGeom>
          <a:solidFill>
            <a:srgbClr val="065A82"/>
          </a:solidFill>
          <a:ln/>
        </p:spPr>
      </p:sp>
      <p:sp>
        <p:nvSpPr>
          <p:cNvPr id="16" name="Text 14"/>
          <p:cNvSpPr txBox="1"/>
          <p:nvPr/>
        </p:nvSpPr>
        <p:spPr>
          <a:xfrm>
            <a:off x="6501384" y="1691640"/>
            <a:ext cx="2157984" cy="365760"/>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CATEGORY</a:t>
            </a:r>
            <a:endParaRPr lang="en-US" sz="1700" dirty="0"/>
          </a:p>
        </p:txBody>
      </p:sp>
      <p:sp>
        <p:nvSpPr>
          <p:cNvPr id="17" name="Text 15"/>
          <p:cNvSpPr txBox="1"/>
          <p:nvPr/>
        </p:nvSpPr>
        <p:spPr>
          <a:xfrm>
            <a:off x="6501384" y="2148840"/>
            <a:ext cx="2157984" cy="1463040"/>
          </a:xfrm>
          <a:prstGeom prst="rect">
            <a:avLst/>
          </a:prstGeom>
          <a:noFill/>
          <a:ln/>
        </p:spPr>
        <p:txBody>
          <a:bodyPr wrap="square" lIns="0" tIns="0" rIns="0" bIns="0" rtlCol="0" anchor="ctr"/>
          <a:lstStyle/>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The assignment itself.</a:t>
            </a:r>
            <a:endParaRPr lang="en-US" sz="1250" dirty="0"/>
          </a:p>
          <a:p>
            <a:pPr indent="0" marL="0">
              <a:lnSpc>
                <a:spcPts val="1600"/>
              </a:lnSpc>
              <a:buNone/>
            </a:pPr>
            <a:endParaRPr lang="en-US" sz="1250" dirty="0"/>
          </a:p>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A reason can carry more than one.</a:t>
            </a:r>
            <a:endParaRPr lang="en-US" sz="1250" dirty="0"/>
          </a:p>
        </p:txBody>
      </p:sp>
      <p:sp>
        <p:nvSpPr>
          <p:cNvPr id="18" name="Text 16"/>
          <p:cNvSpPr txBox="1"/>
          <p:nvPr/>
        </p:nvSpPr>
        <p:spPr>
          <a:xfrm>
            <a:off x="8887968" y="2377440"/>
            <a:ext cx="201168" cy="457200"/>
          </a:xfrm>
          <a:prstGeom prst="rect">
            <a:avLst/>
          </a:prstGeom>
          <a:noFill/>
          <a:ln/>
        </p:spPr>
        <p:txBody>
          <a:bodyPr wrap="square" lIns="0" tIns="0" rIns="0" bIns="0" rtlCol="0" anchor="ctr"/>
          <a:lstStyle/>
          <a:p>
            <a:pPr algn="ctr" indent="0" marL="0">
              <a:buNone/>
            </a:pPr>
            <a:r>
              <a:rPr lang="en-US" sz="2000" b="1" dirty="0">
                <a:solidFill>
                  <a:srgbClr val="B7C7D3"/>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9089136" y="1463040"/>
            <a:ext cx="2615184" cy="2377440"/>
          </a:xfrm>
          <a:prstGeom prst="roundRect">
            <a:avLst>
              <a:gd name="adj" fmla="val 3077"/>
            </a:avLst>
          </a:prstGeom>
          <a:solidFill>
            <a:srgbClr val="EEF3F7"/>
          </a:solidFill>
          <a:ln/>
        </p:spPr>
      </p:sp>
      <p:sp>
        <p:nvSpPr>
          <p:cNvPr id="20" name="Shape 18"/>
          <p:cNvSpPr/>
          <p:nvPr/>
        </p:nvSpPr>
        <p:spPr>
          <a:xfrm>
            <a:off x="9089136" y="1463040"/>
            <a:ext cx="2615184" cy="45720"/>
          </a:xfrm>
          <a:prstGeom prst="rect">
            <a:avLst/>
          </a:prstGeom>
          <a:solidFill>
            <a:srgbClr val="1C7293"/>
          </a:solidFill>
          <a:ln/>
        </p:spPr>
      </p:sp>
      <p:sp>
        <p:nvSpPr>
          <p:cNvPr id="21" name="Text 19"/>
          <p:cNvSpPr txBox="1"/>
          <p:nvPr/>
        </p:nvSpPr>
        <p:spPr>
          <a:xfrm>
            <a:off x="9317736" y="1691640"/>
            <a:ext cx="2157984" cy="365760"/>
          </a:xfrm>
          <a:prstGeom prst="rect">
            <a:avLst/>
          </a:prstGeom>
          <a:noFill/>
          <a:ln/>
        </p:spPr>
        <p:txBody>
          <a:bodyPr wrap="square" lIns="0" tIns="0" rIns="0" bIns="0" rtlCol="0" anchor="ctr"/>
          <a:lstStyle/>
          <a:p>
            <a:pPr indent="0" marL="0">
              <a:buNone/>
            </a:pPr>
            <a:r>
              <a:rPr lang="en-US" sz="1700" b="1" dirty="0">
                <a:solidFill>
                  <a:srgbClr val="1C7293"/>
                </a:solidFill>
                <a:latin typeface="Cambria" pitchFamily="34" charset="0"/>
                <a:ea typeface="Cambria" pitchFamily="34" charset="-122"/>
                <a:cs typeface="Cambria" pitchFamily="34" charset="-120"/>
              </a:rPr>
              <a:t>ATTRIBUTE</a:t>
            </a:r>
            <a:endParaRPr lang="en-US" sz="1700" dirty="0"/>
          </a:p>
        </p:txBody>
      </p:sp>
      <p:sp>
        <p:nvSpPr>
          <p:cNvPr id="22" name="Text 20"/>
          <p:cNvSpPr txBox="1"/>
          <p:nvPr/>
        </p:nvSpPr>
        <p:spPr>
          <a:xfrm>
            <a:off x="9317736" y="2148840"/>
            <a:ext cx="2157984" cy="1463040"/>
          </a:xfrm>
          <a:prstGeom prst="rect">
            <a:avLst/>
          </a:prstGeom>
          <a:noFill/>
          <a:ln/>
        </p:spPr>
        <p:txBody>
          <a:bodyPr wrap="square" lIns="0" tIns="0" rIns="0" bIns="0" rtlCol="0" anchor="ctr"/>
          <a:lstStyle/>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Extracted detail.</a:t>
            </a:r>
            <a:endParaRPr lang="en-US" sz="1250" dirty="0"/>
          </a:p>
          <a:p>
            <a:pPr indent="0" marL="0">
              <a:lnSpc>
                <a:spcPts val="1600"/>
              </a:lnSpc>
              <a:buNone/>
            </a:pPr>
            <a:endParaRPr lang="en-US" sz="1250" dirty="0"/>
          </a:p>
          <a:p>
            <a:pPr indent="0" marL="0">
              <a:lnSpc>
                <a:spcPts val="1600"/>
              </a:lnSpc>
              <a:buNone/>
            </a:pPr>
            <a:r>
              <a:rPr lang="en-US" sz="1250" dirty="0">
                <a:solidFill>
                  <a:srgbClr val="1A2233"/>
                </a:solidFill>
                <a:latin typeface="Calibri" pitchFamily="34" charset="0"/>
                <a:ea typeface="Calibri" pitchFamily="34" charset="-122"/>
                <a:cs typeface="Calibri" pitchFamily="34" charset="-120"/>
              </a:rPr>
              <a:t>Procedure code, claim number.</a:t>
            </a:r>
            <a:endParaRPr lang="en-US" sz="1250" dirty="0"/>
          </a:p>
        </p:txBody>
      </p:sp>
      <p:sp>
        <p:nvSpPr>
          <p:cNvPr id="23" name="Shape 21"/>
          <p:cNvSpPr/>
          <p:nvPr/>
        </p:nvSpPr>
        <p:spPr>
          <a:xfrm>
            <a:off x="640080" y="4114800"/>
            <a:ext cx="5394960" cy="1828800"/>
          </a:xfrm>
          <a:prstGeom prst="roundRect">
            <a:avLst>
              <a:gd name="adj" fmla="val 4000"/>
            </a:avLst>
          </a:prstGeom>
          <a:solidFill>
            <a:srgbClr val="F7FAFC"/>
          </a:solidFill>
          <a:ln/>
        </p:spPr>
      </p:sp>
      <p:sp>
        <p:nvSpPr>
          <p:cNvPr id="24" name="Text 22"/>
          <p:cNvSpPr txBox="1"/>
          <p:nvPr/>
        </p:nvSpPr>
        <p:spPr>
          <a:xfrm>
            <a:off x="914400" y="4297680"/>
            <a:ext cx="4846320" cy="36576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Anchored on the interaction</a:t>
            </a:r>
            <a:endParaRPr lang="en-US" sz="1700" dirty="0"/>
          </a:p>
        </p:txBody>
      </p:sp>
      <p:sp>
        <p:nvSpPr>
          <p:cNvPr id="25" name="Text 23"/>
          <p:cNvSpPr txBox="1"/>
          <p:nvPr/>
        </p:nvSpPr>
        <p:spPr>
          <a:xfrm>
            <a:off x="914400" y="4681728"/>
            <a:ext cx="4846320" cy="1005840"/>
          </a:xfrm>
          <a:prstGeom prst="rect">
            <a:avLst/>
          </a:prstGeom>
          <a:noFill/>
          <a:ln/>
        </p:spPr>
        <p:txBody>
          <a:bodyPr wrap="square" lIns="0" tIns="0" rIns="0" bIns="0" rtlCol="0" anchor="ctr"/>
          <a:lstStyle/>
          <a:p>
            <a:pPr indent="0" marL="0">
              <a:lnSpc>
                <a:spcPts val="1700"/>
              </a:lnSpc>
              <a:buNone/>
            </a:pPr>
            <a:r>
              <a:rPr lang="en-US" sz="1300" dirty="0">
                <a:solidFill>
                  <a:srgbClr val="5A6675"/>
                </a:solidFill>
                <a:latin typeface="Calibri" pitchFamily="34" charset="0"/>
                <a:ea typeface="Calibri" pitchFamily="34" charset="-122"/>
                <a:cs typeface="Calibri" pitchFamily="34" charset="-120"/>
              </a:rPr>
              <a:t>Not the call, not the transcript. Web chats already live in these tables; email and fax could follow.</a:t>
            </a:r>
            <a:endParaRPr lang="en-US" sz="1300" dirty="0"/>
          </a:p>
        </p:txBody>
      </p:sp>
      <p:sp>
        <p:nvSpPr>
          <p:cNvPr id="26" name="Shape 24"/>
          <p:cNvSpPr/>
          <p:nvPr/>
        </p:nvSpPr>
        <p:spPr>
          <a:xfrm>
            <a:off x="6309360" y="4114800"/>
            <a:ext cx="5239512" cy="1828800"/>
          </a:xfrm>
          <a:prstGeom prst="roundRect">
            <a:avLst>
              <a:gd name="adj" fmla="val 4000"/>
            </a:avLst>
          </a:prstGeom>
          <a:solidFill>
            <a:srgbClr val="F7FAFC"/>
          </a:solidFill>
          <a:ln/>
        </p:spPr>
      </p:sp>
      <p:sp>
        <p:nvSpPr>
          <p:cNvPr id="27" name="Text 25"/>
          <p:cNvSpPr txBox="1"/>
          <p:nvPr/>
        </p:nvSpPr>
        <p:spPr>
          <a:xfrm>
            <a:off x="6583680" y="4297680"/>
            <a:ext cx="4663440" cy="36576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Never updated</a:t>
            </a:r>
            <a:endParaRPr lang="en-US" sz="1700" dirty="0"/>
          </a:p>
        </p:txBody>
      </p:sp>
      <p:sp>
        <p:nvSpPr>
          <p:cNvPr id="28" name="Text 26"/>
          <p:cNvSpPr txBox="1"/>
          <p:nvPr/>
        </p:nvSpPr>
        <p:spPr>
          <a:xfrm>
            <a:off x="6583680" y="4681728"/>
            <a:ext cx="4663440" cy="1005840"/>
          </a:xfrm>
          <a:prstGeom prst="rect">
            <a:avLst/>
          </a:prstGeom>
          <a:noFill/>
          <a:ln/>
        </p:spPr>
        <p:txBody>
          <a:bodyPr wrap="square" lIns="0" tIns="0" rIns="0" bIns="0" rtlCol="0" anchor="ctr"/>
          <a:lstStyle/>
          <a:p>
            <a:pPr indent="0" marL="0">
              <a:lnSpc>
                <a:spcPts val="1700"/>
              </a:lnSpc>
              <a:buNone/>
            </a:pPr>
            <a:r>
              <a:rPr lang="en-US" sz="1300" dirty="0">
                <a:solidFill>
                  <a:srgbClr val="5A6675"/>
                </a:solidFill>
                <a:latin typeface="Calibri" pitchFamily="34" charset="0"/>
                <a:ea typeface="Calibri" pitchFamily="34" charset="-122"/>
                <a:cs typeface="Calibri" pitchFamily="34" charset="-120"/>
              </a:rPr>
              <a:t>Written once by the batch process. This is the only group that grows — about 1,500 interactions a day.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GROUP 3 — SAMPLE ROWS</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One CareSource call, as actual rows</a:t>
            </a:r>
            <a:endParaRPr lang="en-US" sz="3200" dirty="0"/>
          </a:p>
        </p:txBody>
      </p:sp>
      <p:sp>
        <p:nvSpPr>
          <p:cNvPr id="4" name="Text 2"/>
          <p:cNvSpPr txBox="1"/>
          <p:nvPr/>
        </p:nvSpPr>
        <p:spPr>
          <a:xfrm>
            <a:off x="640080" y="1115568"/>
            <a:ext cx="10241280" cy="365760"/>
          </a:xfrm>
          <a:prstGeom prst="rect">
            <a:avLst/>
          </a:prstGeom>
          <a:noFill/>
          <a:ln/>
        </p:spPr>
        <p:txBody>
          <a:bodyPr wrap="square" lIns="0" tIns="0" rIns="0" bIns="0" rtlCol="0" anchor="ctr"/>
          <a:lstStyle/>
          <a:p>
            <a:pPr indent="0" marL="0">
              <a:buNone/>
            </a:pPr>
            <a:r>
              <a:rPr lang="en-US" sz="1300" dirty="0">
                <a:solidFill>
                  <a:srgbClr val="5A6675"/>
                </a:solidFill>
                <a:latin typeface="Calibri" pitchFamily="34" charset="0"/>
                <a:ea typeface="Calibri" pitchFamily="34" charset="-122"/>
                <a:cs typeface="Calibri" pitchFamily="34" charset="-120"/>
              </a:rPr>
              <a:t>The provider eligibility call from the next slide. Follow the ids down — each table points at the one above it.</a:t>
            </a:r>
            <a:endParaRPr lang="en-US" sz="1300" dirty="0"/>
          </a:p>
        </p:txBody>
      </p:sp>
      <p:sp>
        <p:nvSpPr>
          <p:cNvPr id="5" name="Text 3"/>
          <p:cNvSpPr txBox="1"/>
          <p:nvPr/>
        </p:nvSpPr>
        <p:spPr>
          <a:xfrm>
            <a:off x="640080" y="1517904"/>
            <a:ext cx="10908792" cy="274320"/>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TRANSCRIPT_ANALYTIC_RUN   —   two rows, because two category sets applied</a:t>
            </a:r>
            <a:endParaRPr lang="en-US" sz="1050" dirty="0"/>
          </a:p>
        </p:txBody>
      </p:sp>
      <p:sp>
        <p:nvSpPr>
          <p:cNvPr id="6" name="Shape 4"/>
          <p:cNvSpPr/>
          <p:nvPr/>
        </p:nvSpPr>
        <p:spPr>
          <a:xfrm>
            <a:off x="640080" y="1828800"/>
            <a:ext cx="10908792" cy="310896"/>
          </a:xfrm>
          <a:prstGeom prst="rect">
            <a:avLst/>
          </a:prstGeom>
          <a:solidFill>
            <a:srgbClr val="065A82"/>
          </a:solidFill>
          <a:ln/>
        </p:spPr>
      </p:sp>
      <p:sp>
        <p:nvSpPr>
          <p:cNvPr id="7" name="Text 5"/>
          <p:cNvSpPr txBox="1"/>
          <p:nvPr/>
        </p:nvSpPr>
        <p:spPr>
          <a:xfrm>
            <a:off x="731520" y="1828800"/>
            <a:ext cx="96926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RUN_ID</a:t>
            </a:r>
            <a:endParaRPr lang="en-US" sz="1000" dirty="0"/>
          </a:p>
        </p:txBody>
      </p:sp>
      <p:sp>
        <p:nvSpPr>
          <p:cNvPr id="8" name="Text 6"/>
          <p:cNvSpPr txBox="1"/>
          <p:nvPr/>
        </p:nvSpPr>
        <p:spPr>
          <a:xfrm>
            <a:off x="1828800" y="1828800"/>
            <a:ext cx="160934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INTERACTION_ID</a:t>
            </a:r>
            <a:endParaRPr lang="en-US" sz="1000" dirty="0"/>
          </a:p>
        </p:txBody>
      </p:sp>
      <p:sp>
        <p:nvSpPr>
          <p:cNvPr id="9" name="Text 7"/>
          <p:cNvSpPr txBox="1"/>
          <p:nvPr/>
        </p:nvSpPr>
        <p:spPr>
          <a:xfrm>
            <a:off x="3566160" y="1828800"/>
            <a:ext cx="160934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SET_VERSION</a:t>
            </a:r>
            <a:endParaRPr lang="en-US" sz="1000" dirty="0"/>
          </a:p>
        </p:txBody>
      </p:sp>
      <p:sp>
        <p:nvSpPr>
          <p:cNvPr id="10" name="Text 8"/>
          <p:cNvSpPr txBox="1"/>
          <p:nvPr/>
        </p:nvSpPr>
        <p:spPr>
          <a:xfrm>
            <a:off x="5303520" y="1828800"/>
            <a:ext cx="133502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CALLER</a:t>
            </a:r>
            <a:endParaRPr lang="en-US" sz="1000" dirty="0"/>
          </a:p>
        </p:txBody>
      </p:sp>
      <p:sp>
        <p:nvSpPr>
          <p:cNvPr id="11" name="Text 9"/>
          <p:cNvSpPr txBox="1"/>
          <p:nvPr/>
        </p:nvSpPr>
        <p:spPr>
          <a:xfrm>
            <a:off x="6766560" y="1828800"/>
            <a:ext cx="12435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CHANNEL</a:t>
            </a:r>
            <a:endParaRPr lang="en-US" sz="1000" dirty="0"/>
          </a:p>
        </p:txBody>
      </p:sp>
      <p:sp>
        <p:nvSpPr>
          <p:cNvPr id="12" name="Text 10"/>
          <p:cNvSpPr txBox="1"/>
          <p:nvPr/>
        </p:nvSpPr>
        <p:spPr>
          <a:xfrm>
            <a:off x="8138160" y="1828800"/>
            <a:ext cx="142646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TRANSCRIPT</a:t>
            </a:r>
            <a:endParaRPr lang="en-US" sz="1000" dirty="0"/>
          </a:p>
        </p:txBody>
      </p:sp>
      <p:sp>
        <p:nvSpPr>
          <p:cNvPr id="13" name="Text 11"/>
          <p:cNvSpPr txBox="1"/>
          <p:nvPr/>
        </p:nvSpPr>
        <p:spPr>
          <a:xfrm>
            <a:off x="9692640" y="1828800"/>
            <a:ext cx="1819656"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p>
        </p:txBody>
      </p:sp>
      <p:sp>
        <p:nvSpPr>
          <p:cNvPr id="14" name="Shape 12"/>
          <p:cNvSpPr/>
          <p:nvPr/>
        </p:nvSpPr>
        <p:spPr>
          <a:xfrm>
            <a:off x="640080" y="2139696"/>
            <a:ext cx="10908792" cy="301752"/>
          </a:xfrm>
          <a:prstGeom prst="rect">
            <a:avLst/>
          </a:prstGeom>
          <a:solidFill>
            <a:srgbClr val="F7FAFC"/>
          </a:solidFill>
          <a:ln/>
        </p:spPr>
      </p:sp>
      <p:sp>
        <p:nvSpPr>
          <p:cNvPr id="15" name="Text 13"/>
          <p:cNvSpPr txBox="1"/>
          <p:nvPr/>
        </p:nvSpPr>
        <p:spPr>
          <a:xfrm>
            <a:off x="731520" y="2139696"/>
            <a:ext cx="96926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5030</a:t>
            </a:r>
            <a:endParaRPr lang="en-US" sz="1150" dirty="0"/>
          </a:p>
        </p:txBody>
      </p:sp>
      <p:sp>
        <p:nvSpPr>
          <p:cNvPr id="16" name="Text 14"/>
          <p:cNvSpPr txBox="1"/>
          <p:nvPr/>
        </p:nvSpPr>
        <p:spPr>
          <a:xfrm>
            <a:off x="1828800" y="2139696"/>
            <a:ext cx="16093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88401</a:t>
            </a:r>
            <a:endParaRPr lang="en-US" sz="1150" dirty="0"/>
          </a:p>
        </p:txBody>
      </p:sp>
      <p:sp>
        <p:nvSpPr>
          <p:cNvPr id="17" name="Text 15"/>
          <p:cNvSpPr txBox="1"/>
          <p:nvPr/>
        </p:nvSpPr>
        <p:spPr>
          <a:xfrm>
            <a:off x="3566160" y="2139696"/>
            <a:ext cx="16093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101  CareSource</a:t>
            </a:r>
            <a:endParaRPr lang="en-US" sz="1150" dirty="0"/>
          </a:p>
        </p:txBody>
      </p:sp>
      <p:sp>
        <p:nvSpPr>
          <p:cNvPr id="18" name="Text 16"/>
          <p:cNvSpPr txBox="1"/>
          <p:nvPr/>
        </p:nvSpPr>
        <p:spPr>
          <a:xfrm>
            <a:off x="5303520" y="2139696"/>
            <a:ext cx="13350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PROVIDER</a:t>
            </a:r>
            <a:endParaRPr lang="en-US" sz="1150" dirty="0"/>
          </a:p>
        </p:txBody>
      </p:sp>
      <p:sp>
        <p:nvSpPr>
          <p:cNvPr id="19" name="Text 17"/>
          <p:cNvSpPr txBox="1"/>
          <p:nvPr/>
        </p:nvSpPr>
        <p:spPr>
          <a:xfrm>
            <a:off x="6766560" y="2139696"/>
            <a:ext cx="12435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  Phone</a:t>
            </a:r>
            <a:endParaRPr lang="en-US" sz="1150" dirty="0"/>
          </a:p>
        </p:txBody>
      </p:sp>
      <p:sp>
        <p:nvSpPr>
          <p:cNvPr id="20" name="Text 18"/>
          <p:cNvSpPr txBox="1"/>
          <p:nvPr/>
        </p:nvSpPr>
        <p:spPr>
          <a:xfrm>
            <a:off x="8138160" y="2139696"/>
            <a:ext cx="142646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55401</a:t>
            </a:r>
            <a:endParaRPr lang="en-US" sz="1150" dirty="0"/>
          </a:p>
        </p:txBody>
      </p:sp>
      <p:sp>
        <p:nvSpPr>
          <p:cNvPr id="21" name="Text 19"/>
          <p:cNvSpPr txBox="1"/>
          <p:nvPr/>
        </p:nvSpPr>
        <p:spPr>
          <a:xfrm>
            <a:off x="9692640" y="2139696"/>
            <a:ext cx="181965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COMPLETED</a:t>
            </a:r>
            <a:endParaRPr lang="en-US" sz="1150" dirty="0"/>
          </a:p>
        </p:txBody>
      </p:sp>
      <p:sp>
        <p:nvSpPr>
          <p:cNvPr id="22" name="Shape 20"/>
          <p:cNvSpPr/>
          <p:nvPr/>
        </p:nvSpPr>
        <p:spPr>
          <a:xfrm>
            <a:off x="640080" y="2441448"/>
            <a:ext cx="10908792" cy="301752"/>
          </a:xfrm>
          <a:prstGeom prst="rect">
            <a:avLst/>
          </a:prstGeom>
          <a:solidFill>
            <a:srgbClr val="FFFFFF"/>
          </a:solidFill>
          <a:ln/>
        </p:spPr>
      </p:sp>
      <p:sp>
        <p:nvSpPr>
          <p:cNvPr id="23" name="Text 21"/>
          <p:cNvSpPr txBox="1"/>
          <p:nvPr/>
        </p:nvSpPr>
        <p:spPr>
          <a:xfrm>
            <a:off x="731520" y="2441448"/>
            <a:ext cx="96926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5031</a:t>
            </a:r>
            <a:endParaRPr lang="en-US" sz="1150" dirty="0"/>
          </a:p>
        </p:txBody>
      </p:sp>
      <p:sp>
        <p:nvSpPr>
          <p:cNvPr id="24" name="Text 22"/>
          <p:cNvSpPr txBox="1"/>
          <p:nvPr/>
        </p:nvSpPr>
        <p:spPr>
          <a:xfrm>
            <a:off x="1828800" y="2441448"/>
            <a:ext cx="16093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88401</a:t>
            </a:r>
            <a:endParaRPr lang="en-US" sz="1150" dirty="0"/>
          </a:p>
        </p:txBody>
      </p:sp>
      <p:sp>
        <p:nvSpPr>
          <p:cNvPr id="25" name="Text 23"/>
          <p:cNvSpPr txBox="1"/>
          <p:nvPr/>
        </p:nvSpPr>
        <p:spPr>
          <a:xfrm>
            <a:off x="3566160" y="2441448"/>
            <a:ext cx="16093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104  Call analysis</a:t>
            </a:r>
            <a:endParaRPr lang="en-US" sz="1150" dirty="0"/>
          </a:p>
        </p:txBody>
      </p:sp>
      <p:sp>
        <p:nvSpPr>
          <p:cNvPr id="26" name="Text 24"/>
          <p:cNvSpPr txBox="1"/>
          <p:nvPr/>
        </p:nvSpPr>
        <p:spPr>
          <a:xfrm>
            <a:off x="5303520" y="2441448"/>
            <a:ext cx="13350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PROVIDER</a:t>
            </a:r>
            <a:endParaRPr lang="en-US" sz="1150" dirty="0"/>
          </a:p>
        </p:txBody>
      </p:sp>
      <p:sp>
        <p:nvSpPr>
          <p:cNvPr id="27" name="Text 25"/>
          <p:cNvSpPr txBox="1"/>
          <p:nvPr/>
        </p:nvSpPr>
        <p:spPr>
          <a:xfrm>
            <a:off x="6766560" y="2441448"/>
            <a:ext cx="12435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  Phone</a:t>
            </a:r>
            <a:endParaRPr lang="en-US" sz="1150" dirty="0"/>
          </a:p>
        </p:txBody>
      </p:sp>
      <p:sp>
        <p:nvSpPr>
          <p:cNvPr id="28" name="Text 26"/>
          <p:cNvSpPr txBox="1"/>
          <p:nvPr/>
        </p:nvSpPr>
        <p:spPr>
          <a:xfrm>
            <a:off x="8138160" y="2441448"/>
            <a:ext cx="142646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55401</a:t>
            </a:r>
            <a:endParaRPr lang="en-US" sz="1150" dirty="0"/>
          </a:p>
        </p:txBody>
      </p:sp>
      <p:sp>
        <p:nvSpPr>
          <p:cNvPr id="29" name="Text 27"/>
          <p:cNvSpPr txBox="1"/>
          <p:nvPr/>
        </p:nvSpPr>
        <p:spPr>
          <a:xfrm>
            <a:off x="9692640" y="2441448"/>
            <a:ext cx="181965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COMPLETED</a:t>
            </a:r>
            <a:endParaRPr lang="en-US" sz="1150" dirty="0"/>
          </a:p>
        </p:txBody>
      </p:sp>
      <p:sp>
        <p:nvSpPr>
          <p:cNvPr id="30" name="Text 28"/>
          <p:cNvSpPr txBox="1"/>
          <p:nvPr/>
        </p:nvSpPr>
        <p:spPr>
          <a:xfrm>
            <a:off x="640080" y="2843784"/>
            <a:ext cx="10908792"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TRANSCRIPT_ANALYTIC_REASON   —   one per question asked, inside each run</a:t>
            </a:r>
            <a:endParaRPr lang="en-US" sz="1050" dirty="0"/>
          </a:p>
        </p:txBody>
      </p:sp>
      <p:sp>
        <p:nvSpPr>
          <p:cNvPr id="31" name="Shape 29"/>
          <p:cNvSpPr/>
          <p:nvPr/>
        </p:nvSpPr>
        <p:spPr>
          <a:xfrm>
            <a:off x="640080" y="3154680"/>
            <a:ext cx="10908792" cy="310896"/>
          </a:xfrm>
          <a:prstGeom prst="rect">
            <a:avLst/>
          </a:prstGeom>
          <a:solidFill>
            <a:srgbClr val="1C7293"/>
          </a:solidFill>
          <a:ln/>
        </p:spPr>
      </p:sp>
      <p:sp>
        <p:nvSpPr>
          <p:cNvPr id="32" name="Text 30"/>
          <p:cNvSpPr txBox="1"/>
          <p:nvPr/>
        </p:nvSpPr>
        <p:spPr>
          <a:xfrm>
            <a:off x="731520" y="3154680"/>
            <a:ext cx="115214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REASON_ID</a:t>
            </a:r>
            <a:endParaRPr lang="en-US" sz="1000" dirty="0"/>
          </a:p>
        </p:txBody>
      </p:sp>
      <p:sp>
        <p:nvSpPr>
          <p:cNvPr id="33" name="Text 31"/>
          <p:cNvSpPr txBox="1"/>
          <p:nvPr/>
        </p:nvSpPr>
        <p:spPr>
          <a:xfrm>
            <a:off x="2011680" y="3154680"/>
            <a:ext cx="96926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RUN_ID</a:t>
            </a:r>
            <a:endParaRPr lang="en-US" sz="1000" dirty="0"/>
          </a:p>
        </p:txBody>
      </p:sp>
      <p:sp>
        <p:nvSpPr>
          <p:cNvPr id="34" name="Text 32"/>
          <p:cNvSpPr txBox="1"/>
          <p:nvPr/>
        </p:nvSpPr>
        <p:spPr>
          <a:xfrm>
            <a:off x="3108960" y="3154680"/>
            <a:ext cx="60350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SEQ</a:t>
            </a:r>
            <a:endParaRPr lang="en-US" sz="1000" dirty="0"/>
          </a:p>
        </p:txBody>
      </p:sp>
      <p:sp>
        <p:nvSpPr>
          <p:cNvPr id="35" name="Text 33"/>
          <p:cNvSpPr txBox="1"/>
          <p:nvPr/>
        </p:nvSpPr>
        <p:spPr>
          <a:xfrm>
            <a:off x="3840480" y="3154680"/>
            <a:ext cx="7863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PRIMARY</a:t>
            </a:r>
            <a:endParaRPr lang="en-US" sz="1000" dirty="0"/>
          </a:p>
        </p:txBody>
      </p:sp>
      <p:sp>
        <p:nvSpPr>
          <p:cNvPr id="36" name="Text 34"/>
          <p:cNvSpPr txBox="1"/>
          <p:nvPr/>
        </p:nvSpPr>
        <p:spPr>
          <a:xfrm>
            <a:off x="4754880" y="3154680"/>
            <a:ext cx="35295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INTENT_TEXT</a:t>
            </a:r>
            <a:endParaRPr lang="en-US" sz="1000" dirty="0"/>
          </a:p>
        </p:txBody>
      </p:sp>
      <p:sp>
        <p:nvSpPr>
          <p:cNvPr id="37" name="Text 35"/>
          <p:cNvSpPr txBox="1"/>
          <p:nvPr/>
        </p:nvSpPr>
        <p:spPr>
          <a:xfrm>
            <a:off x="8412480" y="3154680"/>
            <a:ext cx="3099816"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FRICTION_TEXT</a:t>
            </a:r>
            <a:endParaRPr lang="en-US" sz="1000" dirty="0"/>
          </a:p>
        </p:txBody>
      </p:sp>
      <p:sp>
        <p:nvSpPr>
          <p:cNvPr id="38" name="Shape 36"/>
          <p:cNvSpPr/>
          <p:nvPr/>
        </p:nvSpPr>
        <p:spPr>
          <a:xfrm>
            <a:off x="640080" y="3465576"/>
            <a:ext cx="10908792" cy="301752"/>
          </a:xfrm>
          <a:prstGeom prst="rect">
            <a:avLst/>
          </a:prstGeom>
          <a:solidFill>
            <a:srgbClr val="F7FAFC"/>
          </a:solidFill>
          <a:ln/>
        </p:spPr>
      </p:sp>
      <p:sp>
        <p:nvSpPr>
          <p:cNvPr id="39" name="Text 37"/>
          <p:cNvSpPr txBox="1"/>
          <p:nvPr/>
        </p:nvSpPr>
        <p:spPr>
          <a:xfrm>
            <a:off x="731520" y="3465576"/>
            <a:ext cx="11521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6030</a:t>
            </a:r>
            <a:endParaRPr lang="en-US" sz="1150" dirty="0"/>
          </a:p>
        </p:txBody>
      </p:sp>
      <p:sp>
        <p:nvSpPr>
          <p:cNvPr id="40" name="Text 38"/>
          <p:cNvSpPr txBox="1"/>
          <p:nvPr/>
        </p:nvSpPr>
        <p:spPr>
          <a:xfrm>
            <a:off x="2011680" y="3465576"/>
            <a:ext cx="96926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5030</a:t>
            </a:r>
            <a:endParaRPr lang="en-US" sz="1150" dirty="0"/>
          </a:p>
        </p:txBody>
      </p:sp>
      <p:sp>
        <p:nvSpPr>
          <p:cNvPr id="41" name="Text 39"/>
          <p:cNvSpPr txBox="1"/>
          <p:nvPr/>
        </p:nvSpPr>
        <p:spPr>
          <a:xfrm>
            <a:off x="3108960" y="3465576"/>
            <a:ext cx="60350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a:t>
            </a:r>
            <a:endParaRPr lang="en-US" sz="1150" dirty="0"/>
          </a:p>
        </p:txBody>
      </p:sp>
      <p:sp>
        <p:nvSpPr>
          <p:cNvPr id="42" name="Text 40"/>
          <p:cNvSpPr txBox="1"/>
          <p:nvPr/>
        </p:nvSpPr>
        <p:spPr>
          <a:xfrm>
            <a:off x="3840480" y="3465576"/>
            <a:ext cx="786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Y</a:t>
            </a:r>
            <a:endParaRPr lang="en-US" sz="1150" dirty="0"/>
          </a:p>
        </p:txBody>
      </p:sp>
      <p:sp>
        <p:nvSpPr>
          <p:cNvPr id="43" name="Text 41"/>
          <p:cNvSpPr txBox="1"/>
          <p:nvPr/>
        </p:nvSpPr>
        <p:spPr>
          <a:xfrm>
            <a:off x="4754880" y="3465576"/>
            <a:ext cx="35295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Confirming eligibility on date of service</a:t>
            </a:r>
            <a:endParaRPr lang="en-US" sz="1150" dirty="0"/>
          </a:p>
        </p:txBody>
      </p:sp>
      <p:sp>
        <p:nvSpPr>
          <p:cNvPr id="44" name="Text 42"/>
          <p:cNvSpPr txBox="1"/>
          <p:nvPr/>
        </p:nvSpPr>
        <p:spPr>
          <a:xfrm>
            <a:off x="8412480" y="3465576"/>
            <a:ext cx="309981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Portal shows only current coverage</a:t>
            </a:r>
            <a:endParaRPr lang="en-US" sz="1150" dirty="0"/>
          </a:p>
        </p:txBody>
      </p:sp>
      <p:sp>
        <p:nvSpPr>
          <p:cNvPr id="45" name="Shape 43"/>
          <p:cNvSpPr/>
          <p:nvPr/>
        </p:nvSpPr>
        <p:spPr>
          <a:xfrm>
            <a:off x="640080" y="3767328"/>
            <a:ext cx="10908792" cy="301752"/>
          </a:xfrm>
          <a:prstGeom prst="rect">
            <a:avLst/>
          </a:prstGeom>
          <a:solidFill>
            <a:srgbClr val="FFFFFF"/>
          </a:solidFill>
          <a:ln/>
        </p:spPr>
      </p:sp>
      <p:sp>
        <p:nvSpPr>
          <p:cNvPr id="46" name="Text 44"/>
          <p:cNvSpPr txBox="1"/>
          <p:nvPr/>
        </p:nvSpPr>
        <p:spPr>
          <a:xfrm>
            <a:off x="731520" y="3767328"/>
            <a:ext cx="11521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6031</a:t>
            </a:r>
            <a:endParaRPr lang="en-US" sz="1150" dirty="0"/>
          </a:p>
        </p:txBody>
      </p:sp>
      <p:sp>
        <p:nvSpPr>
          <p:cNvPr id="47" name="Text 45"/>
          <p:cNvSpPr txBox="1"/>
          <p:nvPr/>
        </p:nvSpPr>
        <p:spPr>
          <a:xfrm>
            <a:off x="2011680" y="3767328"/>
            <a:ext cx="96926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5031</a:t>
            </a:r>
            <a:endParaRPr lang="en-US" sz="1150" dirty="0"/>
          </a:p>
        </p:txBody>
      </p:sp>
      <p:sp>
        <p:nvSpPr>
          <p:cNvPr id="48" name="Text 46"/>
          <p:cNvSpPr txBox="1"/>
          <p:nvPr/>
        </p:nvSpPr>
        <p:spPr>
          <a:xfrm>
            <a:off x="3108960" y="3767328"/>
            <a:ext cx="60350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a:t>
            </a:r>
            <a:endParaRPr lang="en-US" sz="1150" dirty="0"/>
          </a:p>
        </p:txBody>
      </p:sp>
      <p:sp>
        <p:nvSpPr>
          <p:cNvPr id="49" name="Text 47"/>
          <p:cNvSpPr txBox="1"/>
          <p:nvPr/>
        </p:nvSpPr>
        <p:spPr>
          <a:xfrm>
            <a:off x="3840480" y="3767328"/>
            <a:ext cx="7863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Y</a:t>
            </a:r>
            <a:endParaRPr lang="en-US" sz="1150" dirty="0"/>
          </a:p>
        </p:txBody>
      </p:sp>
      <p:sp>
        <p:nvSpPr>
          <p:cNvPr id="50" name="Text 48"/>
          <p:cNvSpPr txBox="1"/>
          <p:nvPr/>
        </p:nvSpPr>
        <p:spPr>
          <a:xfrm>
            <a:off x="4754880" y="3767328"/>
            <a:ext cx="35295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Why a claim denied for eligibility</a:t>
            </a:r>
            <a:endParaRPr lang="en-US" sz="1150" dirty="0"/>
          </a:p>
        </p:txBody>
      </p:sp>
      <p:sp>
        <p:nvSpPr>
          <p:cNvPr id="51" name="Text 49"/>
          <p:cNvSpPr txBox="1"/>
          <p:nvPr/>
        </p:nvSpPr>
        <p:spPr>
          <a:xfrm>
            <a:off x="8412480" y="3767328"/>
            <a:ext cx="3099816"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Cannot view eligibility by service date</a:t>
            </a:r>
            <a:endParaRPr lang="en-US" sz="1150" dirty="0"/>
          </a:p>
        </p:txBody>
      </p:sp>
      <p:sp>
        <p:nvSpPr>
          <p:cNvPr id="52" name="Text 50"/>
          <p:cNvSpPr txBox="1"/>
          <p:nvPr/>
        </p:nvSpPr>
        <p:spPr>
          <a:xfrm>
            <a:off x="640080" y="4169664"/>
            <a:ext cx="5212080" cy="274320"/>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TRANSCRIPT_ANALYTIC_CTG</a:t>
            </a:r>
            <a:endParaRPr lang="en-US" sz="1050" dirty="0"/>
          </a:p>
        </p:txBody>
      </p:sp>
      <p:sp>
        <p:nvSpPr>
          <p:cNvPr id="53" name="Shape 51"/>
          <p:cNvSpPr/>
          <p:nvPr/>
        </p:nvSpPr>
        <p:spPr>
          <a:xfrm>
            <a:off x="640080" y="4480560"/>
            <a:ext cx="5212080" cy="310896"/>
          </a:xfrm>
          <a:prstGeom prst="rect">
            <a:avLst/>
          </a:prstGeom>
          <a:solidFill>
            <a:srgbClr val="065A82"/>
          </a:solidFill>
          <a:ln/>
        </p:spPr>
      </p:sp>
      <p:sp>
        <p:nvSpPr>
          <p:cNvPr id="54" name="Text 52"/>
          <p:cNvSpPr txBox="1"/>
          <p:nvPr/>
        </p:nvSpPr>
        <p:spPr>
          <a:xfrm>
            <a:off x="731520" y="4480560"/>
            <a:ext cx="92354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CTG_ID</a:t>
            </a:r>
            <a:endParaRPr lang="en-US" sz="1000" dirty="0"/>
          </a:p>
        </p:txBody>
      </p:sp>
      <p:sp>
        <p:nvSpPr>
          <p:cNvPr id="55" name="Text 53"/>
          <p:cNvSpPr txBox="1"/>
          <p:nvPr/>
        </p:nvSpPr>
        <p:spPr>
          <a:xfrm>
            <a:off x="1783080" y="4480560"/>
            <a:ext cx="115214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REASON_ID</a:t>
            </a:r>
            <a:endParaRPr lang="en-US" sz="1000" dirty="0"/>
          </a:p>
        </p:txBody>
      </p:sp>
      <p:sp>
        <p:nvSpPr>
          <p:cNvPr id="56" name="Text 54"/>
          <p:cNvSpPr txBox="1"/>
          <p:nvPr/>
        </p:nvSpPr>
        <p:spPr>
          <a:xfrm>
            <a:off x="3063240" y="4480560"/>
            <a:ext cx="275234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CATEGORY_ID</a:t>
            </a:r>
            <a:endParaRPr lang="en-US" sz="1000" dirty="0"/>
          </a:p>
        </p:txBody>
      </p:sp>
      <p:sp>
        <p:nvSpPr>
          <p:cNvPr id="57" name="Shape 55"/>
          <p:cNvSpPr/>
          <p:nvPr/>
        </p:nvSpPr>
        <p:spPr>
          <a:xfrm>
            <a:off x="640080" y="4791456"/>
            <a:ext cx="5212080" cy="301752"/>
          </a:xfrm>
          <a:prstGeom prst="rect">
            <a:avLst/>
          </a:prstGeom>
          <a:solidFill>
            <a:srgbClr val="F7FAFC"/>
          </a:solidFill>
          <a:ln/>
        </p:spPr>
      </p:sp>
      <p:sp>
        <p:nvSpPr>
          <p:cNvPr id="58" name="Text 56"/>
          <p:cNvSpPr txBox="1"/>
          <p:nvPr/>
        </p:nvSpPr>
        <p:spPr>
          <a:xfrm>
            <a:off x="731520" y="4791456"/>
            <a:ext cx="9235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7030</a:t>
            </a:r>
            <a:endParaRPr lang="en-US" sz="1150" dirty="0"/>
          </a:p>
        </p:txBody>
      </p:sp>
      <p:sp>
        <p:nvSpPr>
          <p:cNvPr id="59" name="Text 57"/>
          <p:cNvSpPr txBox="1"/>
          <p:nvPr/>
        </p:nvSpPr>
        <p:spPr>
          <a:xfrm>
            <a:off x="1783080" y="4791456"/>
            <a:ext cx="11521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6030</a:t>
            </a:r>
            <a:endParaRPr lang="en-US" sz="1150" dirty="0"/>
          </a:p>
        </p:txBody>
      </p:sp>
      <p:sp>
        <p:nvSpPr>
          <p:cNvPr id="60" name="Text 58"/>
          <p:cNvSpPr txBox="1"/>
          <p:nvPr/>
        </p:nvSpPr>
        <p:spPr>
          <a:xfrm>
            <a:off x="3063240" y="4791456"/>
            <a:ext cx="27523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1102  Inquiry → Eligibility</a:t>
            </a:r>
            <a:endParaRPr lang="en-US" sz="1150" dirty="0"/>
          </a:p>
        </p:txBody>
      </p:sp>
      <p:sp>
        <p:nvSpPr>
          <p:cNvPr id="61" name="Shape 59"/>
          <p:cNvSpPr/>
          <p:nvPr/>
        </p:nvSpPr>
        <p:spPr>
          <a:xfrm>
            <a:off x="640080" y="5093208"/>
            <a:ext cx="5212080" cy="301752"/>
          </a:xfrm>
          <a:prstGeom prst="rect">
            <a:avLst/>
          </a:prstGeom>
          <a:solidFill>
            <a:srgbClr val="FFFFFF"/>
          </a:solidFill>
          <a:ln/>
        </p:spPr>
      </p:sp>
      <p:sp>
        <p:nvSpPr>
          <p:cNvPr id="62" name="Text 60"/>
          <p:cNvSpPr txBox="1"/>
          <p:nvPr/>
        </p:nvSpPr>
        <p:spPr>
          <a:xfrm>
            <a:off x="731520" y="5093208"/>
            <a:ext cx="9235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7031</a:t>
            </a:r>
            <a:endParaRPr lang="en-US" sz="1150" dirty="0"/>
          </a:p>
        </p:txBody>
      </p:sp>
      <p:sp>
        <p:nvSpPr>
          <p:cNvPr id="63" name="Text 61"/>
          <p:cNvSpPr txBox="1"/>
          <p:nvPr/>
        </p:nvSpPr>
        <p:spPr>
          <a:xfrm>
            <a:off x="1783080" y="5093208"/>
            <a:ext cx="11521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6031</a:t>
            </a:r>
            <a:endParaRPr lang="en-US" sz="1150" dirty="0"/>
          </a:p>
        </p:txBody>
      </p:sp>
      <p:sp>
        <p:nvSpPr>
          <p:cNvPr id="64" name="Text 62"/>
          <p:cNvSpPr txBox="1"/>
          <p:nvPr/>
        </p:nvSpPr>
        <p:spPr>
          <a:xfrm>
            <a:off x="3063240" y="5093208"/>
            <a:ext cx="275234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1308  Eligibility</a:t>
            </a:r>
            <a:endParaRPr lang="en-US" sz="1150" dirty="0"/>
          </a:p>
        </p:txBody>
      </p:sp>
      <p:sp>
        <p:nvSpPr>
          <p:cNvPr id="65" name="Text 63"/>
          <p:cNvSpPr txBox="1"/>
          <p:nvPr/>
        </p:nvSpPr>
        <p:spPr>
          <a:xfrm>
            <a:off x="6336792" y="4169664"/>
            <a:ext cx="521208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TRANSCRIPT_ANALYTIC_ATTRIBUTE</a:t>
            </a:r>
            <a:endParaRPr lang="en-US" sz="1050" dirty="0"/>
          </a:p>
        </p:txBody>
      </p:sp>
      <p:sp>
        <p:nvSpPr>
          <p:cNvPr id="66" name="Shape 64"/>
          <p:cNvSpPr/>
          <p:nvPr/>
        </p:nvSpPr>
        <p:spPr>
          <a:xfrm>
            <a:off x="6336792" y="4480560"/>
            <a:ext cx="5212080" cy="310896"/>
          </a:xfrm>
          <a:prstGeom prst="rect">
            <a:avLst/>
          </a:prstGeom>
          <a:solidFill>
            <a:srgbClr val="1C7293"/>
          </a:solidFill>
          <a:ln/>
        </p:spPr>
      </p:sp>
      <p:sp>
        <p:nvSpPr>
          <p:cNvPr id="67" name="Text 65"/>
          <p:cNvSpPr txBox="1"/>
          <p:nvPr/>
        </p:nvSpPr>
        <p:spPr>
          <a:xfrm>
            <a:off x="6428232" y="4480560"/>
            <a:ext cx="106070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ATTR_ID</a:t>
            </a:r>
            <a:endParaRPr lang="en-US" sz="1000" dirty="0"/>
          </a:p>
        </p:txBody>
      </p:sp>
      <p:sp>
        <p:nvSpPr>
          <p:cNvPr id="68" name="Text 66"/>
          <p:cNvSpPr txBox="1"/>
          <p:nvPr/>
        </p:nvSpPr>
        <p:spPr>
          <a:xfrm>
            <a:off x="7616952" y="4480560"/>
            <a:ext cx="106070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REASON_ID</a:t>
            </a:r>
            <a:endParaRPr lang="en-US" sz="1000" dirty="0"/>
          </a:p>
        </p:txBody>
      </p:sp>
      <p:sp>
        <p:nvSpPr>
          <p:cNvPr id="69" name="Text 67"/>
          <p:cNvSpPr txBox="1"/>
          <p:nvPr/>
        </p:nvSpPr>
        <p:spPr>
          <a:xfrm>
            <a:off x="8805672" y="4480560"/>
            <a:ext cx="124358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TYPE</a:t>
            </a:r>
            <a:endParaRPr lang="en-US" sz="1000" dirty="0"/>
          </a:p>
        </p:txBody>
      </p:sp>
      <p:sp>
        <p:nvSpPr>
          <p:cNvPr id="70" name="Text 68"/>
          <p:cNvSpPr txBox="1"/>
          <p:nvPr/>
        </p:nvSpPr>
        <p:spPr>
          <a:xfrm>
            <a:off x="10177272" y="4480560"/>
            <a:ext cx="1335024"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p>
        </p:txBody>
      </p:sp>
      <p:sp>
        <p:nvSpPr>
          <p:cNvPr id="71" name="Shape 69"/>
          <p:cNvSpPr/>
          <p:nvPr/>
        </p:nvSpPr>
        <p:spPr>
          <a:xfrm>
            <a:off x="6336792" y="4791456"/>
            <a:ext cx="5212080" cy="301752"/>
          </a:xfrm>
          <a:prstGeom prst="rect">
            <a:avLst/>
          </a:prstGeom>
          <a:solidFill>
            <a:srgbClr val="F7FAFC"/>
          </a:solidFill>
          <a:ln/>
        </p:spPr>
      </p:sp>
      <p:sp>
        <p:nvSpPr>
          <p:cNvPr id="72" name="Text 70"/>
          <p:cNvSpPr txBox="1"/>
          <p:nvPr/>
        </p:nvSpPr>
        <p:spPr>
          <a:xfrm>
            <a:off x="6428232" y="4791456"/>
            <a:ext cx="106070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8030</a:t>
            </a:r>
            <a:endParaRPr lang="en-US" sz="1150" dirty="0"/>
          </a:p>
        </p:txBody>
      </p:sp>
      <p:sp>
        <p:nvSpPr>
          <p:cNvPr id="73" name="Text 71"/>
          <p:cNvSpPr txBox="1"/>
          <p:nvPr/>
        </p:nvSpPr>
        <p:spPr>
          <a:xfrm>
            <a:off x="7616952" y="4791456"/>
            <a:ext cx="106070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6030</a:t>
            </a:r>
            <a:endParaRPr lang="en-US" sz="1150" dirty="0"/>
          </a:p>
        </p:txBody>
      </p:sp>
      <p:sp>
        <p:nvSpPr>
          <p:cNvPr id="74" name="Text 72"/>
          <p:cNvSpPr txBox="1"/>
          <p:nvPr/>
        </p:nvSpPr>
        <p:spPr>
          <a:xfrm>
            <a:off x="8805672" y="4791456"/>
            <a:ext cx="124358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CLAIM_NUMBER</a:t>
            </a:r>
            <a:endParaRPr lang="en-US" sz="1150" dirty="0"/>
          </a:p>
        </p:txBody>
      </p:sp>
      <p:sp>
        <p:nvSpPr>
          <p:cNvPr id="75" name="Text 73"/>
          <p:cNvSpPr txBox="1"/>
          <p:nvPr/>
        </p:nvSpPr>
        <p:spPr>
          <a:xfrm>
            <a:off x="10177272" y="4791456"/>
            <a:ext cx="133502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CLM-…-43117</a:t>
            </a:r>
            <a:endParaRPr lang="en-US" sz="1150" dirty="0"/>
          </a:p>
        </p:txBody>
      </p:sp>
      <p:sp>
        <p:nvSpPr>
          <p:cNvPr id="76" name="Shape 74"/>
          <p:cNvSpPr/>
          <p:nvPr/>
        </p:nvSpPr>
        <p:spPr>
          <a:xfrm>
            <a:off x="6336792" y="5093208"/>
            <a:ext cx="5212080" cy="301752"/>
          </a:xfrm>
          <a:prstGeom prst="rect">
            <a:avLst/>
          </a:prstGeom>
          <a:solidFill>
            <a:srgbClr val="FFFFFF"/>
          </a:solidFill>
          <a:ln/>
        </p:spPr>
      </p:sp>
      <p:sp>
        <p:nvSpPr>
          <p:cNvPr id="77" name="Text 75"/>
          <p:cNvSpPr txBox="1"/>
          <p:nvPr/>
        </p:nvSpPr>
        <p:spPr>
          <a:xfrm>
            <a:off x="6428232" y="5093208"/>
            <a:ext cx="1060704" cy="301752"/>
          </a:xfrm>
          <a:prstGeom prst="rect">
            <a:avLst/>
          </a:prstGeom>
          <a:noFill/>
          <a:ln/>
        </p:spPr>
        <p:txBody>
          <a:bodyPr wrap="square" lIns="0" tIns="0" rIns="0" bIns="0" rtlCol="0" anchor="ctr"/>
          <a:lstStyle/>
          <a:p>
            <a:pPr indent="0" marL="0">
              <a:buNone/>
            </a:pPr>
            <a:r>
              <a:rPr lang="en-US" sz="1150" dirty="0">
                <a:solidFill>
                  <a:srgbClr val="A8B4C0"/>
                </a:solidFill>
                <a:latin typeface="Calibri" pitchFamily="34" charset="0"/>
                <a:ea typeface="Calibri" pitchFamily="34" charset="-122"/>
                <a:cs typeface="Calibri" pitchFamily="34" charset="-120"/>
              </a:rPr>
              <a:t>—</a:t>
            </a:r>
            <a:endParaRPr lang="en-US" sz="1150" dirty="0"/>
          </a:p>
        </p:txBody>
      </p:sp>
      <p:sp>
        <p:nvSpPr>
          <p:cNvPr id="78" name="Text 76"/>
          <p:cNvSpPr txBox="1"/>
          <p:nvPr/>
        </p:nvSpPr>
        <p:spPr>
          <a:xfrm>
            <a:off x="7616952" y="5093208"/>
            <a:ext cx="1060704" cy="301752"/>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6031</a:t>
            </a:r>
            <a:endParaRPr lang="en-US" sz="1150" dirty="0"/>
          </a:p>
        </p:txBody>
      </p:sp>
      <p:sp>
        <p:nvSpPr>
          <p:cNvPr id="79" name="Text 77"/>
          <p:cNvSpPr txBox="1"/>
          <p:nvPr/>
        </p:nvSpPr>
        <p:spPr>
          <a:xfrm>
            <a:off x="8805672" y="5093208"/>
            <a:ext cx="1243584" cy="301752"/>
          </a:xfrm>
          <a:prstGeom prst="rect">
            <a:avLst/>
          </a:prstGeom>
          <a:noFill/>
          <a:ln/>
        </p:spPr>
        <p:txBody>
          <a:bodyPr wrap="square" lIns="0" tIns="0" rIns="0" bIns="0" rtlCol="0" anchor="ctr"/>
          <a:lstStyle/>
          <a:p>
            <a:pPr indent="0" marL="0">
              <a:buNone/>
            </a:pPr>
            <a:r>
              <a:rPr lang="en-US" sz="1150" dirty="0">
                <a:solidFill>
                  <a:srgbClr val="A8B4C0"/>
                </a:solidFill>
                <a:latin typeface="Calibri" pitchFamily="34" charset="0"/>
                <a:ea typeface="Calibri" pitchFamily="34" charset="-122"/>
                <a:cs typeface="Calibri" pitchFamily="34" charset="-120"/>
              </a:rPr>
              <a:t>—</a:t>
            </a:r>
            <a:endParaRPr lang="en-US" sz="1150" dirty="0"/>
          </a:p>
        </p:txBody>
      </p:sp>
      <p:sp>
        <p:nvSpPr>
          <p:cNvPr id="80" name="Text 78"/>
          <p:cNvSpPr txBox="1"/>
          <p:nvPr/>
        </p:nvSpPr>
        <p:spPr>
          <a:xfrm>
            <a:off x="10177272" y="5093208"/>
            <a:ext cx="1335024" cy="301752"/>
          </a:xfrm>
          <a:prstGeom prst="rect">
            <a:avLst/>
          </a:prstGeom>
          <a:noFill/>
          <a:ln/>
        </p:spPr>
        <p:txBody>
          <a:bodyPr wrap="square" lIns="0" tIns="0" rIns="0" bIns="0" rtlCol="0" anchor="ctr"/>
          <a:lstStyle/>
          <a:p>
            <a:pPr indent="0" marL="0">
              <a:buNone/>
            </a:pPr>
            <a:r>
              <a:rPr lang="en-US" sz="1150" dirty="0">
                <a:solidFill>
                  <a:srgbClr val="A8B4C0"/>
                </a:solidFill>
                <a:latin typeface="Calibri" pitchFamily="34" charset="0"/>
                <a:ea typeface="Calibri" pitchFamily="34" charset="-122"/>
                <a:cs typeface="Calibri" pitchFamily="34" charset="-120"/>
              </a:rPr>
              <a:t>—</a:t>
            </a:r>
            <a:endParaRPr lang="en-US" sz="1150" dirty="0"/>
          </a:p>
        </p:txBody>
      </p:sp>
      <p:sp>
        <p:nvSpPr>
          <p:cNvPr id="81" name="Shape 79"/>
          <p:cNvSpPr/>
          <p:nvPr/>
        </p:nvSpPr>
        <p:spPr>
          <a:xfrm>
            <a:off x="640080" y="5623560"/>
            <a:ext cx="10908792" cy="731520"/>
          </a:xfrm>
          <a:prstGeom prst="roundRect">
            <a:avLst>
              <a:gd name="adj" fmla="val 10000"/>
            </a:avLst>
          </a:prstGeom>
          <a:solidFill>
            <a:srgbClr val="F7FAFC"/>
          </a:solidFill>
          <a:ln/>
        </p:spPr>
      </p:sp>
      <p:sp>
        <p:nvSpPr>
          <p:cNvPr id="82" name="Text 80"/>
          <p:cNvSpPr txBox="1"/>
          <p:nvPr/>
        </p:nvSpPr>
        <p:spPr>
          <a:xfrm>
            <a:off x="932688" y="5623560"/>
            <a:ext cx="10323576" cy="731520"/>
          </a:xfrm>
          <a:prstGeom prst="rect">
            <a:avLst/>
          </a:prstGeom>
          <a:noFill/>
          <a:ln/>
        </p:spPr>
        <p:txBody>
          <a:bodyPr wrap="square" lIns="0" tIns="0" rIns="0" bIns="0" rtlCol="0" anchor="ctr"/>
          <a:lstStyle/>
          <a:p>
            <a:pPr indent="0" marL="0">
              <a:buNone/>
            </a:pPr>
            <a:r>
              <a:rPr lang="en-US" sz="1250" dirty="0">
                <a:solidFill>
                  <a:srgbClr val="065A82"/>
                </a:solidFill>
                <a:latin typeface="Calibri" pitchFamily="34" charset="0"/>
                <a:ea typeface="Calibri" pitchFamily="34" charset="-122"/>
                <a:cs typeface="Calibri" pitchFamily="34" charset="-120"/>
              </a:rPr>
              <a:t>Read the first path as:   run 5030  →  reason 6030  →  category 1102, which is "Inquiry → Eligibility" in the CareSource list.   Ids 1102 and 1308 are rows from the ANALYTIC_CATEGORY table two slides back.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EXAMPLE 1 OF 4</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CareSource provider — eligibility inquiry</a:t>
            </a:r>
            <a:endParaRPr lang="en-US" sz="3200" dirty="0"/>
          </a:p>
        </p:txBody>
      </p:sp>
      <p:sp>
        <p:nvSpPr>
          <p:cNvPr id="4" name="Text 2"/>
          <p:cNvSpPr txBox="1"/>
          <p:nvPr/>
        </p:nvSpPr>
        <p:spPr>
          <a:xfrm>
            <a:off x="640080" y="1170432"/>
            <a:ext cx="10241280" cy="365760"/>
          </a:xfrm>
          <a:prstGeom prst="rect">
            <a:avLst/>
          </a:prstGeom>
          <a:noFill/>
          <a:ln/>
        </p:spPr>
        <p:txBody>
          <a:bodyPr wrap="square" lIns="0" tIns="0" rIns="0" bIns="0" rtlCol="0" anchor="ctr"/>
          <a:lstStyle/>
          <a:p>
            <a:pPr indent="0" marL="0">
              <a:buNone/>
            </a:pPr>
            <a:r>
              <a:rPr lang="en-US" sz="1400" i="1" dirty="0">
                <a:solidFill>
                  <a:srgbClr val="5A6675"/>
                </a:solidFill>
                <a:latin typeface="Calibri" pitchFamily="34" charset="0"/>
                <a:ea typeface="Calibri" pitchFamily="34" charset="-122"/>
                <a:cs typeface="Calibri" pitchFamily="34" charset="-120"/>
              </a:rPr>
              <a:t>A provider asks whether a patient was eligible on the date of service, after a claim came back denied.</a:t>
            </a:r>
            <a:endParaRPr lang="en-US" sz="1400" dirty="0"/>
          </a:p>
        </p:txBody>
      </p:sp>
      <p:sp>
        <p:nvSpPr>
          <p:cNvPr id="5" name="Text 3"/>
          <p:cNvSpPr txBox="1"/>
          <p:nvPr/>
        </p:nvSpPr>
        <p:spPr>
          <a:xfrm>
            <a:off x="640080" y="1627632"/>
            <a:ext cx="1024128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Routing → CareSource + provider = TWO RUNS</a:t>
            </a:r>
            <a:endParaRPr lang="en-US" sz="1300" dirty="0"/>
          </a:p>
        </p:txBody>
      </p:sp>
      <p:sp>
        <p:nvSpPr>
          <p:cNvPr id="6" name="Shape 4"/>
          <p:cNvSpPr/>
          <p:nvPr/>
        </p:nvSpPr>
        <p:spPr>
          <a:xfrm>
            <a:off x="640080" y="2011680"/>
            <a:ext cx="5358384" cy="2880360"/>
          </a:xfrm>
          <a:prstGeom prst="roundRect">
            <a:avLst>
              <a:gd name="adj" fmla="val 2540"/>
            </a:avLst>
          </a:prstGeom>
          <a:solidFill>
            <a:srgbClr val="EEF3F7"/>
          </a:solidFill>
          <a:ln/>
        </p:spPr>
      </p:sp>
      <p:sp>
        <p:nvSpPr>
          <p:cNvPr id="7" name="Shape 5"/>
          <p:cNvSpPr/>
          <p:nvPr/>
        </p:nvSpPr>
        <p:spPr>
          <a:xfrm>
            <a:off x="640080" y="2011680"/>
            <a:ext cx="5358384" cy="45720"/>
          </a:xfrm>
          <a:prstGeom prst="rect">
            <a:avLst/>
          </a:prstGeom>
          <a:solidFill>
            <a:srgbClr val="065A82"/>
          </a:solidFill>
          <a:ln/>
        </p:spPr>
      </p:sp>
      <p:sp>
        <p:nvSpPr>
          <p:cNvPr id="8" name="Text 6"/>
          <p:cNvSpPr txBox="1"/>
          <p:nvPr/>
        </p:nvSpPr>
        <p:spPr>
          <a:xfrm>
            <a:off x="896112" y="2194560"/>
            <a:ext cx="4846320" cy="365760"/>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Run 1 — CareSource</a:t>
            </a:r>
            <a:endParaRPr lang="en-US" sz="1700" dirty="0"/>
          </a:p>
        </p:txBody>
      </p:sp>
      <p:sp>
        <p:nvSpPr>
          <p:cNvPr id="9" name="Text 7"/>
          <p:cNvSpPr txBox="1"/>
          <p:nvPr/>
        </p:nvSpPr>
        <p:spPr>
          <a:xfrm>
            <a:off x="896112" y="2633472"/>
            <a:ext cx="1051560" cy="50292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Intent</a:t>
            </a:r>
            <a:endParaRPr lang="en-US" sz="1150" dirty="0"/>
          </a:p>
        </p:txBody>
      </p:sp>
      <p:sp>
        <p:nvSpPr>
          <p:cNvPr id="10" name="Text 8"/>
          <p:cNvSpPr txBox="1"/>
          <p:nvPr/>
        </p:nvSpPr>
        <p:spPr>
          <a:xfrm>
            <a:off x="1965960" y="2633472"/>
            <a:ext cx="3794760" cy="50292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Confirming eligibility on the date of service</a:t>
            </a:r>
            <a:endParaRPr lang="en-US" sz="1250" dirty="0"/>
          </a:p>
        </p:txBody>
      </p:sp>
      <p:sp>
        <p:nvSpPr>
          <p:cNvPr id="11" name="Text 9"/>
          <p:cNvSpPr txBox="1"/>
          <p:nvPr/>
        </p:nvSpPr>
        <p:spPr>
          <a:xfrm>
            <a:off x="896112" y="3154680"/>
            <a:ext cx="1051560" cy="50292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Friction</a:t>
            </a:r>
            <a:endParaRPr lang="en-US" sz="1150" dirty="0"/>
          </a:p>
        </p:txBody>
      </p:sp>
      <p:sp>
        <p:nvSpPr>
          <p:cNvPr id="12" name="Text 10"/>
          <p:cNvSpPr txBox="1"/>
          <p:nvPr/>
        </p:nvSpPr>
        <p:spPr>
          <a:xfrm>
            <a:off x="1965960" y="3154680"/>
            <a:ext cx="3794760" cy="50292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Portal shows current coverage, not coverage as of a past date</a:t>
            </a:r>
            <a:endParaRPr lang="en-US" sz="1250" dirty="0"/>
          </a:p>
        </p:txBody>
      </p:sp>
      <p:sp>
        <p:nvSpPr>
          <p:cNvPr id="13" name="Text 11"/>
          <p:cNvSpPr txBox="1"/>
          <p:nvPr/>
        </p:nvSpPr>
        <p:spPr>
          <a:xfrm>
            <a:off x="896112" y="3675888"/>
            <a:ext cx="1051560" cy="50292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Category</a:t>
            </a:r>
            <a:endParaRPr lang="en-US" sz="1150" dirty="0"/>
          </a:p>
        </p:txBody>
      </p:sp>
      <p:sp>
        <p:nvSpPr>
          <p:cNvPr id="14" name="Text 12"/>
          <p:cNvSpPr txBox="1"/>
          <p:nvPr/>
        </p:nvSpPr>
        <p:spPr>
          <a:xfrm>
            <a:off x="1965960" y="3675888"/>
            <a:ext cx="3794760" cy="50292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Inquiry → Eligibility</a:t>
            </a:r>
            <a:endParaRPr lang="en-US" sz="1250" dirty="0"/>
          </a:p>
        </p:txBody>
      </p:sp>
      <p:sp>
        <p:nvSpPr>
          <p:cNvPr id="15" name="Text 13"/>
          <p:cNvSpPr txBox="1"/>
          <p:nvPr/>
        </p:nvSpPr>
        <p:spPr>
          <a:xfrm>
            <a:off x="896112" y="4197096"/>
            <a:ext cx="1051560" cy="50292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Attribute</a:t>
            </a:r>
            <a:endParaRPr lang="en-US" sz="1150" dirty="0"/>
          </a:p>
        </p:txBody>
      </p:sp>
      <p:sp>
        <p:nvSpPr>
          <p:cNvPr id="16" name="Text 14"/>
          <p:cNvSpPr txBox="1"/>
          <p:nvPr/>
        </p:nvSpPr>
        <p:spPr>
          <a:xfrm>
            <a:off x="1965960" y="4197096"/>
            <a:ext cx="3794760" cy="50292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CLAIM_NUMBER = CLM-2026-0043117</a:t>
            </a:r>
            <a:endParaRPr lang="en-US" sz="1250" dirty="0"/>
          </a:p>
        </p:txBody>
      </p:sp>
      <p:sp>
        <p:nvSpPr>
          <p:cNvPr id="17" name="Shape 15"/>
          <p:cNvSpPr/>
          <p:nvPr/>
        </p:nvSpPr>
        <p:spPr>
          <a:xfrm>
            <a:off x="6190488" y="2011680"/>
            <a:ext cx="5358384" cy="2880360"/>
          </a:xfrm>
          <a:prstGeom prst="roundRect">
            <a:avLst>
              <a:gd name="adj" fmla="val 2540"/>
            </a:avLst>
          </a:prstGeom>
          <a:solidFill>
            <a:srgbClr val="EEF3F7"/>
          </a:solidFill>
          <a:ln/>
        </p:spPr>
      </p:sp>
      <p:sp>
        <p:nvSpPr>
          <p:cNvPr id="18" name="Shape 16"/>
          <p:cNvSpPr/>
          <p:nvPr/>
        </p:nvSpPr>
        <p:spPr>
          <a:xfrm>
            <a:off x="6190488" y="2011680"/>
            <a:ext cx="5358384" cy="45720"/>
          </a:xfrm>
          <a:prstGeom prst="rect">
            <a:avLst/>
          </a:prstGeom>
          <a:solidFill>
            <a:srgbClr val="1C7293"/>
          </a:solidFill>
          <a:ln/>
        </p:spPr>
      </p:sp>
      <p:sp>
        <p:nvSpPr>
          <p:cNvPr id="19" name="Text 17"/>
          <p:cNvSpPr txBox="1"/>
          <p:nvPr/>
        </p:nvSpPr>
        <p:spPr>
          <a:xfrm>
            <a:off x="6446520" y="2194560"/>
            <a:ext cx="4846320" cy="365760"/>
          </a:xfrm>
          <a:prstGeom prst="rect">
            <a:avLst/>
          </a:prstGeom>
          <a:noFill/>
          <a:ln/>
        </p:spPr>
        <p:txBody>
          <a:bodyPr wrap="square" lIns="0" tIns="0" rIns="0" bIns="0" rtlCol="0" anchor="ctr"/>
          <a:lstStyle/>
          <a:p>
            <a:pPr indent="0" marL="0">
              <a:buNone/>
            </a:pPr>
            <a:r>
              <a:rPr lang="en-US" sz="1700" b="1" dirty="0">
                <a:solidFill>
                  <a:srgbClr val="1C7293"/>
                </a:solidFill>
                <a:latin typeface="Cambria" pitchFamily="34" charset="0"/>
                <a:ea typeface="Cambria" pitchFamily="34" charset="-122"/>
                <a:cs typeface="Cambria" pitchFamily="34" charset="-120"/>
              </a:rPr>
              <a:t>Run 2 — Call analysis</a:t>
            </a:r>
            <a:endParaRPr lang="en-US" sz="1700" dirty="0"/>
          </a:p>
        </p:txBody>
      </p:sp>
      <p:sp>
        <p:nvSpPr>
          <p:cNvPr id="20" name="Text 18"/>
          <p:cNvSpPr txBox="1"/>
          <p:nvPr/>
        </p:nvSpPr>
        <p:spPr>
          <a:xfrm>
            <a:off x="6446520" y="2633472"/>
            <a:ext cx="1051560" cy="50292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Intent</a:t>
            </a:r>
            <a:endParaRPr lang="en-US" sz="1150" dirty="0"/>
          </a:p>
        </p:txBody>
      </p:sp>
      <p:sp>
        <p:nvSpPr>
          <p:cNvPr id="21" name="Text 19"/>
          <p:cNvSpPr txBox="1"/>
          <p:nvPr/>
        </p:nvSpPr>
        <p:spPr>
          <a:xfrm>
            <a:off x="7516368" y="2633472"/>
            <a:ext cx="3794760" cy="50292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Wants to know why a claim denied for eligibility</a:t>
            </a:r>
            <a:endParaRPr lang="en-US" sz="1250" dirty="0"/>
          </a:p>
        </p:txBody>
      </p:sp>
      <p:sp>
        <p:nvSpPr>
          <p:cNvPr id="22" name="Text 20"/>
          <p:cNvSpPr txBox="1"/>
          <p:nvPr/>
        </p:nvSpPr>
        <p:spPr>
          <a:xfrm>
            <a:off x="6446520" y="3154680"/>
            <a:ext cx="1051560" cy="50292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Friction</a:t>
            </a:r>
            <a:endParaRPr lang="en-US" sz="1150" dirty="0"/>
          </a:p>
        </p:txBody>
      </p:sp>
      <p:sp>
        <p:nvSpPr>
          <p:cNvPr id="23" name="Text 21"/>
          <p:cNvSpPr txBox="1"/>
          <p:nvPr/>
        </p:nvSpPr>
        <p:spPr>
          <a:xfrm>
            <a:off x="7516368" y="3154680"/>
            <a:ext cx="3794760" cy="50292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Cannot view historical eligibility by service date</a:t>
            </a:r>
            <a:endParaRPr lang="en-US" sz="1250" dirty="0"/>
          </a:p>
        </p:txBody>
      </p:sp>
      <p:sp>
        <p:nvSpPr>
          <p:cNvPr id="24" name="Text 22"/>
          <p:cNvSpPr txBox="1"/>
          <p:nvPr/>
        </p:nvSpPr>
        <p:spPr>
          <a:xfrm>
            <a:off x="6446520" y="3675888"/>
            <a:ext cx="1051560" cy="50292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Category</a:t>
            </a:r>
            <a:endParaRPr lang="en-US" sz="1150" dirty="0"/>
          </a:p>
        </p:txBody>
      </p:sp>
      <p:sp>
        <p:nvSpPr>
          <p:cNvPr id="25" name="Text 23"/>
          <p:cNvSpPr txBox="1"/>
          <p:nvPr/>
        </p:nvSpPr>
        <p:spPr>
          <a:xfrm>
            <a:off x="7516368" y="3675888"/>
            <a:ext cx="3794760" cy="50292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Eligibility</a:t>
            </a:r>
            <a:endParaRPr lang="en-US" sz="1250" dirty="0"/>
          </a:p>
        </p:txBody>
      </p:sp>
      <p:sp>
        <p:nvSpPr>
          <p:cNvPr id="26" name="Text 24"/>
          <p:cNvSpPr txBox="1"/>
          <p:nvPr/>
        </p:nvSpPr>
        <p:spPr>
          <a:xfrm>
            <a:off x="6446520" y="4197096"/>
            <a:ext cx="1051560" cy="50292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Attribute</a:t>
            </a:r>
            <a:endParaRPr lang="en-US" sz="1150" dirty="0"/>
          </a:p>
        </p:txBody>
      </p:sp>
      <p:sp>
        <p:nvSpPr>
          <p:cNvPr id="27" name="Text 25"/>
          <p:cNvSpPr txBox="1"/>
          <p:nvPr/>
        </p:nvSpPr>
        <p:spPr>
          <a:xfrm>
            <a:off x="7516368" y="4197096"/>
            <a:ext cx="3794760" cy="50292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640080" y="5074920"/>
            <a:ext cx="10908792" cy="1051560"/>
          </a:xfrm>
          <a:prstGeom prst="roundRect">
            <a:avLst>
              <a:gd name="adj" fmla="val 6957"/>
            </a:avLst>
          </a:prstGeom>
          <a:solidFill>
            <a:srgbClr val="21295C"/>
          </a:solidFill>
          <a:ln/>
        </p:spPr>
      </p:sp>
      <p:sp>
        <p:nvSpPr>
          <p:cNvPr id="29" name="Text 27"/>
          <p:cNvSpPr txBox="1"/>
          <p:nvPr/>
        </p:nvSpPr>
        <p:spPr>
          <a:xfrm>
            <a:off x="960120" y="5230368"/>
            <a:ext cx="10268712"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Two framings of one conversation — and the same underlying gap surfaced twice.</a:t>
            </a:r>
            <a:endParaRPr lang="en-US" sz="1700" dirty="0"/>
          </a:p>
        </p:txBody>
      </p:sp>
      <p:sp>
        <p:nvSpPr>
          <p:cNvPr id="30" name="Text 28"/>
          <p:cNvSpPr txBox="1"/>
          <p:nvPr/>
        </p:nvSpPr>
        <p:spPr>
          <a:xfrm>
            <a:off x="960120" y="5596128"/>
            <a:ext cx="10268712" cy="457200"/>
          </a:xfrm>
          <a:prstGeom prst="rect">
            <a:avLst/>
          </a:prstGeom>
          <a:noFill/>
          <a:ln/>
        </p:spPr>
        <p:txBody>
          <a:bodyPr wrap="square" lIns="0" tIns="0" rIns="0" bIns="0" rtlCol="0" anchor="ctr"/>
          <a:lstStyle/>
          <a:p>
            <a:pPr indent="0" marL="0">
              <a:buNone/>
            </a:pPr>
            <a:r>
              <a:rPr lang="en-US" sz="1300" dirty="0">
                <a:solidFill>
                  <a:srgbClr val="C9DDE9"/>
                </a:solidFill>
                <a:latin typeface="Calibri" pitchFamily="34" charset="0"/>
                <a:ea typeface="Calibri" pitchFamily="34" charset="-122"/>
                <a:cs typeface="Calibri" pitchFamily="34" charset="-120"/>
              </a:rPr>
              <a:t>CareSource cares it was an eligibility inquiry, for their report. We care it was an eligibility problem, for our trends. Neither report would have surfaced the portal fix on its own.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EXAMPLE 2 OF 4</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Member, three questions in one call</a:t>
            </a:r>
            <a:endParaRPr lang="en-US" sz="3200" dirty="0"/>
          </a:p>
        </p:txBody>
      </p:sp>
      <p:sp>
        <p:nvSpPr>
          <p:cNvPr id="4" name="Text 2"/>
          <p:cNvSpPr txBox="1"/>
          <p:nvPr/>
        </p:nvSpPr>
        <p:spPr>
          <a:xfrm>
            <a:off x="640080" y="1170432"/>
            <a:ext cx="10241280" cy="365760"/>
          </a:xfrm>
          <a:prstGeom prst="rect">
            <a:avLst/>
          </a:prstGeom>
          <a:noFill/>
          <a:ln/>
        </p:spPr>
        <p:txBody>
          <a:bodyPr wrap="square" lIns="0" tIns="0" rIns="0" bIns="0" rtlCol="0" anchor="ctr"/>
          <a:lstStyle/>
          <a:p>
            <a:pPr indent="0" marL="0">
              <a:buNone/>
            </a:pPr>
            <a:r>
              <a:rPr lang="en-US" sz="1400" i="1" dirty="0">
                <a:solidFill>
                  <a:srgbClr val="5A6675"/>
                </a:solidFill>
                <a:latin typeface="Calibri" pitchFamily="34" charset="0"/>
                <a:ea typeface="Calibri" pitchFamily="34" charset="-122"/>
                <a:cs typeface="Calibri" pitchFamily="34" charset="-120"/>
              </a:rPr>
              <a:t>Not CareSource. Over eight minutes she asks three separate things.</a:t>
            </a:r>
            <a:endParaRPr lang="en-US" sz="1400" dirty="0"/>
          </a:p>
        </p:txBody>
      </p:sp>
      <p:sp>
        <p:nvSpPr>
          <p:cNvPr id="5" name="Text 3"/>
          <p:cNvSpPr txBox="1"/>
          <p:nvPr/>
        </p:nvSpPr>
        <p:spPr>
          <a:xfrm>
            <a:off x="640080" y="1627632"/>
            <a:ext cx="1024128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Routing → member, any client = ONE RUN, three reasons</a:t>
            </a:r>
            <a:endParaRPr lang="en-US" sz="1300" dirty="0"/>
          </a:p>
        </p:txBody>
      </p:sp>
      <p:sp>
        <p:nvSpPr>
          <p:cNvPr id="6" name="Shape 4"/>
          <p:cNvSpPr/>
          <p:nvPr/>
        </p:nvSpPr>
        <p:spPr>
          <a:xfrm>
            <a:off x="640080" y="2057400"/>
            <a:ext cx="10908792" cy="411480"/>
          </a:xfrm>
          <a:prstGeom prst="rect">
            <a:avLst/>
          </a:prstGeom>
          <a:solidFill>
            <a:srgbClr val="065A82"/>
          </a:solidFill>
          <a:ln/>
        </p:spPr>
      </p:sp>
      <p:sp>
        <p:nvSpPr>
          <p:cNvPr id="7" name="Text 5"/>
          <p:cNvSpPr txBox="1"/>
          <p:nvPr/>
        </p:nvSpPr>
        <p:spPr>
          <a:xfrm>
            <a:off x="786384" y="2057400"/>
            <a:ext cx="640080" cy="41148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a:t>
            </a:r>
            <a:endParaRPr lang="en-US" sz="1100" dirty="0"/>
          </a:p>
        </p:txBody>
      </p:sp>
      <p:sp>
        <p:nvSpPr>
          <p:cNvPr id="8" name="Text 6"/>
          <p:cNvSpPr txBox="1"/>
          <p:nvPr/>
        </p:nvSpPr>
        <p:spPr>
          <a:xfrm>
            <a:off x="1609344" y="2057400"/>
            <a:ext cx="3017520" cy="41148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WHAT THEY ASKED</a:t>
            </a:r>
            <a:endParaRPr lang="en-US" sz="1100" dirty="0"/>
          </a:p>
        </p:txBody>
      </p:sp>
      <p:sp>
        <p:nvSpPr>
          <p:cNvPr id="9" name="Text 7"/>
          <p:cNvSpPr txBox="1"/>
          <p:nvPr/>
        </p:nvSpPr>
        <p:spPr>
          <a:xfrm>
            <a:off x="4809744" y="2057400"/>
            <a:ext cx="3108960" cy="41148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WHAT THEY DID NOT KNOW</a:t>
            </a:r>
            <a:endParaRPr lang="en-US" sz="1100" dirty="0"/>
          </a:p>
        </p:txBody>
      </p:sp>
      <p:sp>
        <p:nvSpPr>
          <p:cNvPr id="10" name="Text 8"/>
          <p:cNvSpPr txBox="1"/>
          <p:nvPr/>
        </p:nvSpPr>
        <p:spPr>
          <a:xfrm>
            <a:off x="8101584" y="2057400"/>
            <a:ext cx="3410712" cy="41148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CATEGORY</a:t>
            </a:r>
            <a:endParaRPr lang="en-US" sz="1100" dirty="0"/>
          </a:p>
        </p:txBody>
      </p:sp>
      <p:sp>
        <p:nvSpPr>
          <p:cNvPr id="11" name="Shape 9"/>
          <p:cNvSpPr/>
          <p:nvPr/>
        </p:nvSpPr>
        <p:spPr>
          <a:xfrm>
            <a:off x="640080" y="2468880"/>
            <a:ext cx="10908792" cy="640080"/>
          </a:xfrm>
          <a:prstGeom prst="rect">
            <a:avLst/>
          </a:prstGeom>
          <a:solidFill>
            <a:srgbClr val="F7FAFC"/>
          </a:solidFill>
          <a:ln/>
        </p:spPr>
      </p:sp>
      <p:sp>
        <p:nvSpPr>
          <p:cNvPr id="12" name="Text 10"/>
          <p:cNvSpPr txBox="1"/>
          <p:nvPr/>
        </p:nvSpPr>
        <p:spPr>
          <a:xfrm>
            <a:off x="786384" y="2468880"/>
            <a:ext cx="640080" cy="64008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1</a:t>
            </a:r>
            <a:endParaRPr lang="en-US" sz="1250" dirty="0"/>
          </a:p>
        </p:txBody>
      </p:sp>
      <p:sp>
        <p:nvSpPr>
          <p:cNvPr id="13" name="Text 11"/>
          <p:cNvSpPr txBox="1"/>
          <p:nvPr/>
        </p:nvSpPr>
        <p:spPr>
          <a:xfrm>
            <a:off x="1609344" y="2468880"/>
            <a:ext cx="3017520" cy="64008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Is my daughter still covered</a:t>
            </a:r>
            <a:endParaRPr lang="en-US" sz="1250" dirty="0"/>
          </a:p>
        </p:txBody>
      </p:sp>
      <p:sp>
        <p:nvSpPr>
          <p:cNvPr id="14" name="Text 12"/>
          <p:cNvSpPr txBox="1"/>
          <p:nvPr/>
        </p:nvSpPr>
        <p:spPr>
          <a:xfrm>
            <a:off x="4809744" y="2468880"/>
            <a:ext cx="3108960" cy="64008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The dependent age cutoff</a:t>
            </a:r>
            <a:endParaRPr lang="en-US" sz="1250" dirty="0"/>
          </a:p>
        </p:txBody>
      </p:sp>
      <p:sp>
        <p:nvSpPr>
          <p:cNvPr id="15" name="Text 13"/>
          <p:cNvSpPr txBox="1"/>
          <p:nvPr/>
        </p:nvSpPr>
        <p:spPr>
          <a:xfrm>
            <a:off x="8101584" y="2468880"/>
            <a:ext cx="3410712" cy="64008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Eligibility</a:t>
            </a:r>
            <a:endParaRPr lang="en-US" sz="1250" dirty="0"/>
          </a:p>
        </p:txBody>
      </p:sp>
      <p:sp>
        <p:nvSpPr>
          <p:cNvPr id="16" name="Shape 14"/>
          <p:cNvSpPr/>
          <p:nvPr/>
        </p:nvSpPr>
        <p:spPr>
          <a:xfrm>
            <a:off x="640080" y="3108960"/>
            <a:ext cx="10908792" cy="868680"/>
          </a:xfrm>
          <a:prstGeom prst="rect">
            <a:avLst/>
          </a:prstGeom>
          <a:solidFill>
            <a:srgbClr val="EEF3F7"/>
          </a:solidFill>
          <a:ln/>
        </p:spPr>
      </p:sp>
      <p:sp>
        <p:nvSpPr>
          <p:cNvPr id="17" name="Text 15"/>
          <p:cNvSpPr txBox="1"/>
          <p:nvPr/>
        </p:nvSpPr>
        <p:spPr>
          <a:xfrm>
            <a:off x="786384" y="3108960"/>
            <a:ext cx="640080" cy="86868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2 ★</a:t>
            </a:r>
            <a:endParaRPr lang="en-US" sz="1250" dirty="0"/>
          </a:p>
        </p:txBody>
      </p:sp>
      <p:sp>
        <p:nvSpPr>
          <p:cNvPr id="18" name="Text 16"/>
          <p:cNvSpPr txBox="1"/>
          <p:nvPr/>
        </p:nvSpPr>
        <p:spPr>
          <a:xfrm>
            <a:off x="1609344" y="3108960"/>
            <a:ext cx="3017520" cy="86868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What would braces cost</a:t>
            </a:r>
            <a:endParaRPr lang="en-US" sz="1250" dirty="0"/>
          </a:p>
        </p:txBody>
      </p:sp>
      <p:sp>
        <p:nvSpPr>
          <p:cNvPr id="19" name="Text 17"/>
          <p:cNvSpPr txBox="1"/>
          <p:nvPr/>
        </p:nvSpPr>
        <p:spPr>
          <a:xfrm>
            <a:off x="4809744" y="3108960"/>
            <a:ext cx="3108960" cy="86868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Could not find ortho benefits in the summary</a:t>
            </a:r>
            <a:endParaRPr lang="en-US" sz="1250" dirty="0"/>
          </a:p>
        </p:txBody>
      </p:sp>
      <p:sp>
        <p:nvSpPr>
          <p:cNvPr id="20" name="Text 18"/>
          <p:cNvSpPr txBox="1"/>
          <p:nvPr/>
        </p:nvSpPr>
        <p:spPr>
          <a:xfrm>
            <a:off x="8101584" y="3108960"/>
            <a:ext cx="3410712" cy="86868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Benefits → Procedure Coverage</a:t>
            </a:r>
            <a:endParaRPr lang="en-US" sz="1250" dirty="0"/>
          </a:p>
          <a:p>
            <a:pPr indent="0" marL="0">
              <a:buNone/>
            </a:pPr>
            <a:r>
              <a:rPr lang="en-US" sz="1250" dirty="0">
                <a:solidFill>
                  <a:srgbClr val="1A2233"/>
                </a:solidFill>
                <a:latin typeface="Calibri" pitchFamily="34" charset="0"/>
                <a:ea typeface="Calibri" pitchFamily="34" charset="-122"/>
                <a:cs typeface="Calibri" pitchFamily="34" charset="-120"/>
              </a:rPr>
              <a:t>Benefits → Waiting Period</a:t>
            </a:r>
            <a:endParaRPr lang="en-US" sz="1250" dirty="0"/>
          </a:p>
        </p:txBody>
      </p:sp>
      <p:sp>
        <p:nvSpPr>
          <p:cNvPr id="21" name="Shape 19"/>
          <p:cNvSpPr/>
          <p:nvPr/>
        </p:nvSpPr>
        <p:spPr>
          <a:xfrm>
            <a:off x="640080" y="3977640"/>
            <a:ext cx="10908792" cy="640080"/>
          </a:xfrm>
          <a:prstGeom prst="rect">
            <a:avLst/>
          </a:prstGeom>
          <a:solidFill>
            <a:srgbClr val="F7FAFC"/>
          </a:solidFill>
          <a:ln/>
        </p:spPr>
      </p:sp>
      <p:sp>
        <p:nvSpPr>
          <p:cNvPr id="22" name="Text 20"/>
          <p:cNvSpPr txBox="1"/>
          <p:nvPr/>
        </p:nvSpPr>
        <p:spPr>
          <a:xfrm>
            <a:off x="786384" y="3977640"/>
            <a:ext cx="640080" cy="64008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3</a:t>
            </a:r>
            <a:endParaRPr lang="en-US" sz="1250" dirty="0"/>
          </a:p>
        </p:txBody>
      </p:sp>
      <p:sp>
        <p:nvSpPr>
          <p:cNvPr id="23" name="Text 21"/>
          <p:cNvSpPr txBox="1"/>
          <p:nvPr/>
        </p:nvSpPr>
        <p:spPr>
          <a:xfrm>
            <a:off x="1609344" y="3977640"/>
            <a:ext cx="3017520" cy="64008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Why a balance on a cleaning</a:t>
            </a:r>
            <a:endParaRPr lang="en-US" sz="1250" dirty="0"/>
          </a:p>
        </p:txBody>
      </p:sp>
      <p:sp>
        <p:nvSpPr>
          <p:cNvPr id="24" name="Text 22"/>
          <p:cNvSpPr txBox="1"/>
          <p:nvPr/>
        </p:nvSpPr>
        <p:spPr>
          <a:xfrm>
            <a:off x="4809744" y="3977640"/>
            <a:ext cx="3108960" cy="64008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Believed preventive was fully covered</a:t>
            </a:r>
            <a:endParaRPr lang="en-US" sz="1250" dirty="0"/>
          </a:p>
        </p:txBody>
      </p:sp>
      <p:sp>
        <p:nvSpPr>
          <p:cNvPr id="25" name="Text 23"/>
          <p:cNvSpPr txBox="1"/>
          <p:nvPr/>
        </p:nvSpPr>
        <p:spPr>
          <a:xfrm>
            <a:off x="8101584" y="3977640"/>
            <a:ext cx="3410712" cy="64008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Claim</a:t>
            </a:r>
            <a:endParaRPr lang="en-US" sz="1250" dirty="0"/>
          </a:p>
        </p:txBody>
      </p:sp>
      <p:sp>
        <p:nvSpPr>
          <p:cNvPr id="26" name="Text 24"/>
          <p:cNvSpPr txBox="1"/>
          <p:nvPr/>
        </p:nvSpPr>
        <p:spPr>
          <a:xfrm>
            <a:off x="640080" y="4754880"/>
            <a:ext cx="10241280" cy="320040"/>
          </a:xfrm>
          <a:prstGeom prst="rect">
            <a:avLst/>
          </a:prstGeom>
          <a:noFill/>
          <a:ln/>
        </p:spPr>
        <p:txBody>
          <a:bodyPr wrap="square" lIns="0" tIns="0" rIns="0" bIns="0" rtlCol="0" anchor="ctr"/>
          <a:lstStyle/>
          <a:p>
            <a:pPr indent="0" marL="0">
              <a:buNone/>
            </a:pPr>
            <a:r>
              <a:rPr lang="en-US" sz="1200" i="1" dirty="0">
                <a:solidFill>
                  <a:srgbClr val="5A6675"/>
                </a:solidFill>
                <a:latin typeface="Calibri" pitchFamily="34" charset="0"/>
                <a:ea typeface="Calibri" pitchFamily="34" charset="-122"/>
                <a:cs typeface="Calibri" pitchFamily="34" charset="-120"/>
              </a:rPr>
              <a:t>★  flagged as the primary reason — this is the single category Tim's report shows</a:t>
            </a:r>
            <a:endParaRPr lang="en-US" sz="1200" dirty="0"/>
          </a:p>
        </p:txBody>
      </p:sp>
      <p:sp>
        <p:nvSpPr>
          <p:cNvPr id="27" name="Shape 25"/>
          <p:cNvSpPr/>
          <p:nvPr/>
        </p:nvSpPr>
        <p:spPr>
          <a:xfrm>
            <a:off x="640080" y="5349240"/>
            <a:ext cx="3520440" cy="777240"/>
          </a:xfrm>
          <a:prstGeom prst="roundRect">
            <a:avLst>
              <a:gd name="adj" fmla="val 9412"/>
            </a:avLst>
          </a:prstGeom>
          <a:solidFill>
            <a:srgbClr val="F7FAFC"/>
          </a:solidFill>
          <a:ln/>
        </p:spPr>
      </p:sp>
      <p:sp>
        <p:nvSpPr>
          <p:cNvPr id="28" name="Text 26"/>
          <p:cNvSpPr txBox="1"/>
          <p:nvPr/>
        </p:nvSpPr>
        <p:spPr>
          <a:xfrm>
            <a:off x="868680" y="5349240"/>
            <a:ext cx="3063240" cy="777240"/>
          </a:xfrm>
          <a:prstGeom prst="rect">
            <a:avLst/>
          </a:prstGeom>
          <a:noFill/>
          <a:ln/>
        </p:spPr>
        <p:txBody>
          <a:bodyPr wrap="square" lIns="0" tIns="0" rIns="0" bIns="0" rtlCol="0" anchor="ctr"/>
          <a:lstStyle/>
          <a:p>
            <a:pPr indent="0" marL="0">
              <a:buNone/>
            </a:pPr>
            <a:r>
              <a:rPr lang="en-US" sz="1200" dirty="0">
                <a:solidFill>
                  <a:srgbClr val="1A2233"/>
                </a:solidFill>
                <a:latin typeface="Calibri" pitchFamily="34" charset="0"/>
                <a:ea typeface="Calibri" pitchFamily="34" charset="-122"/>
                <a:cs typeface="Calibri" pitchFamily="34" charset="-120"/>
              </a:rPr>
              <a:t>Reason 2 carries TWO categories — genuinely both</a:t>
            </a:r>
            <a:endParaRPr lang="en-US" sz="1200" dirty="0"/>
          </a:p>
        </p:txBody>
      </p:sp>
      <p:sp>
        <p:nvSpPr>
          <p:cNvPr id="29" name="Shape 27"/>
          <p:cNvSpPr/>
          <p:nvPr/>
        </p:nvSpPr>
        <p:spPr>
          <a:xfrm>
            <a:off x="4453128" y="5349240"/>
            <a:ext cx="3520440" cy="777240"/>
          </a:xfrm>
          <a:prstGeom prst="roundRect">
            <a:avLst>
              <a:gd name="adj" fmla="val 9412"/>
            </a:avLst>
          </a:prstGeom>
          <a:solidFill>
            <a:srgbClr val="F7FAFC"/>
          </a:solidFill>
          <a:ln/>
        </p:spPr>
      </p:sp>
      <p:sp>
        <p:nvSpPr>
          <p:cNvPr id="30" name="Text 28"/>
          <p:cNvSpPr txBox="1"/>
          <p:nvPr/>
        </p:nvSpPr>
        <p:spPr>
          <a:xfrm>
            <a:off x="4681728" y="5349240"/>
            <a:ext cx="3063240" cy="777240"/>
          </a:xfrm>
          <a:prstGeom prst="rect">
            <a:avLst/>
          </a:prstGeom>
          <a:noFill/>
          <a:ln/>
        </p:spPr>
        <p:txBody>
          <a:bodyPr wrap="square" lIns="0" tIns="0" rIns="0" bIns="0" rtlCol="0" anchor="ctr"/>
          <a:lstStyle/>
          <a:p>
            <a:pPr indent="0" marL="0">
              <a:buNone/>
            </a:pPr>
            <a:r>
              <a:rPr lang="en-US" sz="1200" dirty="0">
                <a:solidFill>
                  <a:srgbClr val="1A2233"/>
                </a:solidFill>
                <a:latin typeface="Calibri" pitchFamily="34" charset="0"/>
                <a:ea typeface="Calibri" pitchFamily="34" charset="-122"/>
                <a:cs typeface="Calibri" pitchFamily="34" charset="-120"/>
              </a:rPr>
              <a:t>Procedure code D8080 attaches to reason 2 only</a:t>
            </a:r>
            <a:endParaRPr lang="en-US" sz="1200" dirty="0"/>
          </a:p>
        </p:txBody>
      </p:sp>
      <p:sp>
        <p:nvSpPr>
          <p:cNvPr id="31" name="Shape 29"/>
          <p:cNvSpPr/>
          <p:nvPr/>
        </p:nvSpPr>
        <p:spPr>
          <a:xfrm>
            <a:off x="8266176" y="5349240"/>
            <a:ext cx="3520440" cy="777240"/>
          </a:xfrm>
          <a:prstGeom prst="roundRect">
            <a:avLst>
              <a:gd name="adj" fmla="val 9412"/>
            </a:avLst>
          </a:prstGeom>
          <a:solidFill>
            <a:srgbClr val="F7FAFC"/>
          </a:solidFill>
          <a:ln/>
        </p:spPr>
      </p:sp>
      <p:sp>
        <p:nvSpPr>
          <p:cNvPr id="32" name="Text 30"/>
          <p:cNvSpPr txBox="1"/>
          <p:nvPr/>
        </p:nvSpPr>
        <p:spPr>
          <a:xfrm>
            <a:off x="8494776" y="5349240"/>
            <a:ext cx="3063240" cy="777240"/>
          </a:xfrm>
          <a:prstGeom prst="rect">
            <a:avLst/>
          </a:prstGeom>
          <a:noFill/>
          <a:ln/>
        </p:spPr>
        <p:txBody>
          <a:bodyPr wrap="square" lIns="0" tIns="0" rIns="0" bIns="0" rtlCol="0" anchor="ctr"/>
          <a:lstStyle/>
          <a:p>
            <a:pPr indent="0" marL="0">
              <a:buNone/>
            </a:pPr>
            <a:r>
              <a:rPr lang="en-US" sz="1200" dirty="0">
                <a:solidFill>
                  <a:srgbClr val="1A2233"/>
                </a:solidFill>
                <a:latin typeface="Calibri" pitchFamily="34" charset="0"/>
                <a:ea typeface="Calibri" pitchFamily="34" charset="-122"/>
                <a:cs typeface="Calibri" pitchFamily="34" charset="-120"/>
              </a:rPr>
              <a:t>Three portal gaps from one call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EXAMPLES 3 AND 4 OF 4</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A web chat, and something we skip</a:t>
            </a:r>
            <a:endParaRPr lang="en-US" sz="3200" dirty="0"/>
          </a:p>
        </p:txBody>
      </p:sp>
      <p:sp>
        <p:nvSpPr>
          <p:cNvPr id="4" name="Shape 2"/>
          <p:cNvSpPr/>
          <p:nvPr/>
        </p:nvSpPr>
        <p:spPr>
          <a:xfrm>
            <a:off x="640080" y="1417320"/>
            <a:ext cx="5358384" cy="4023360"/>
          </a:xfrm>
          <a:prstGeom prst="roundRect">
            <a:avLst>
              <a:gd name="adj" fmla="val 1818"/>
            </a:avLst>
          </a:prstGeom>
          <a:solidFill>
            <a:srgbClr val="EEF3F7"/>
          </a:solidFill>
          <a:ln/>
        </p:spPr>
      </p:sp>
      <p:sp>
        <p:nvSpPr>
          <p:cNvPr id="5" name="Shape 3"/>
          <p:cNvSpPr/>
          <p:nvPr/>
        </p:nvSpPr>
        <p:spPr>
          <a:xfrm>
            <a:off x="640080" y="1417320"/>
            <a:ext cx="5358384" cy="45720"/>
          </a:xfrm>
          <a:prstGeom prst="rect">
            <a:avLst/>
          </a:prstGeom>
          <a:solidFill>
            <a:srgbClr val="1C7293"/>
          </a:solidFill>
          <a:ln/>
        </p:spPr>
      </p:sp>
      <p:sp>
        <p:nvSpPr>
          <p:cNvPr id="6" name="Text 4"/>
          <p:cNvSpPr txBox="1"/>
          <p:nvPr/>
        </p:nvSpPr>
        <p:spPr>
          <a:xfrm>
            <a:off x="896112" y="1600200"/>
            <a:ext cx="4846320" cy="36576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Web chat — member</a:t>
            </a:r>
            <a:endParaRPr lang="en-US" sz="1900" dirty="0"/>
          </a:p>
        </p:txBody>
      </p:sp>
      <p:sp>
        <p:nvSpPr>
          <p:cNvPr id="7" name="Text 5"/>
          <p:cNvSpPr txBox="1"/>
          <p:nvPr/>
        </p:nvSpPr>
        <p:spPr>
          <a:xfrm>
            <a:off x="896112" y="2011680"/>
            <a:ext cx="4846320" cy="320040"/>
          </a:xfrm>
          <a:prstGeom prst="rect">
            <a:avLst/>
          </a:prstGeom>
          <a:noFill/>
          <a:ln/>
        </p:spPr>
        <p:txBody>
          <a:bodyPr wrap="square" lIns="0" tIns="0" rIns="0" bIns="0" rtlCol="0" anchor="ctr"/>
          <a:lstStyle/>
          <a:p>
            <a:pPr indent="0" marL="0">
              <a:buNone/>
            </a:pPr>
            <a:r>
              <a:rPr lang="en-US" sz="1300" i="1" dirty="0">
                <a:solidFill>
                  <a:srgbClr val="5A6675"/>
                </a:solidFill>
                <a:latin typeface="Calibri" pitchFamily="34" charset="0"/>
                <a:ea typeface="Calibri" pitchFamily="34" charset="-122"/>
                <a:cs typeface="Calibri" pitchFamily="34" charset="-120"/>
              </a:rPr>
              <a:t>Asks whether a filling is covered before booking.</a:t>
            </a:r>
            <a:endParaRPr lang="en-US" sz="1300" dirty="0"/>
          </a:p>
        </p:txBody>
      </p:sp>
      <p:sp>
        <p:nvSpPr>
          <p:cNvPr id="8" name="Text 6"/>
          <p:cNvSpPr txBox="1"/>
          <p:nvPr/>
        </p:nvSpPr>
        <p:spPr>
          <a:xfrm>
            <a:off x="896112" y="2450592"/>
            <a:ext cx="1051560" cy="45720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Channel</a:t>
            </a:r>
            <a:endParaRPr lang="en-US" sz="1150" dirty="0"/>
          </a:p>
        </p:txBody>
      </p:sp>
      <p:sp>
        <p:nvSpPr>
          <p:cNvPr id="9" name="Text 7"/>
          <p:cNvSpPr txBox="1"/>
          <p:nvPr/>
        </p:nvSpPr>
        <p:spPr>
          <a:xfrm>
            <a:off x="1965960" y="2450592"/>
            <a:ext cx="3794760" cy="45720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Web chat — not a call</a:t>
            </a:r>
            <a:endParaRPr lang="en-US" sz="1250" dirty="0"/>
          </a:p>
        </p:txBody>
      </p:sp>
      <p:sp>
        <p:nvSpPr>
          <p:cNvPr id="10" name="Text 8"/>
          <p:cNvSpPr txBox="1"/>
          <p:nvPr/>
        </p:nvSpPr>
        <p:spPr>
          <a:xfrm>
            <a:off x="896112" y="2926080"/>
            <a:ext cx="1051560" cy="45720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Intent</a:t>
            </a:r>
            <a:endParaRPr lang="en-US" sz="1150" dirty="0"/>
          </a:p>
        </p:txBody>
      </p:sp>
      <p:sp>
        <p:nvSpPr>
          <p:cNvPr id="11" name="Text 9"/>
          <p:cNvSpPr txBox="1"/>
          <p:nvPr/>
        </p:nvSpPr>
        <p:spPr>
          <a:xfrm>
            <a:off x="1965960" y="2926080"/>
            <a:ext cx="3794760" cy="45720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Is a filling covered</a:t>
            </a:r>
            <a:endParaRPr lang="en-US" sz="1250" dirty="0"/>
          </a:p>
        </p:txBody>
      </p:sp>
      <p:sp>
        <p:nvSpPr>
          <p:cNvPr id="12" name="Text 10"/>
          <p:cNvSpPr txBox="1"/>
          <p:nvPr/>
        </p:nvSpPr>
        <p:spPr>
          <a:xfrm>
            <a:off x="896112" y="3401568"/>
            <a:ext cx="1051560" cy="45720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Friction</a:t>
            </a:r>
            <a:endParaRPr lang="en-US" sz="1150" dirty="0"/>
          </a:p>
        </p:txBody>
      </p:sp>
      <p:sp>
        <p:nvSpPr>
          <p:cNvPr id="13" name="Text 11"/>
          <p:cNvSpPr txBox="1"/>
          <p:nvPr/>
        </p:nvSpPr>
        <p:spPr>
          <a:xfrm>
            <a:off x="1965960" y="3401568"/>
            <a:ext cx="3794760" cy="45720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Portal coverage table did not list it</a:t>
            </a:r>
            <a:endParaRPr lang="en-US" sz="1250" dirty="0"/>
          </a:p>
        </p:txBody>
      </p:sp>
      <p:sp>
        <p:nvSpPr>
          <p:cNvPr id="14" name="Text 12"/>
          <p:cNvSpPr txBox="1"/>
          <p:nvPr/>
        </p:nvSpPr>
        <p:spPr>
          <a:xfrm>
            <a:off x="896112" y="3877056"/>
            <a:ext cx="1051560" cy="45720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Category</a:t>
            </a:r>
            <a:endParaRPr lang="en-US" sz="1150" dirty="0"/>
          </a:p>
        </p:txBody>
      </p:sp>
      <p:sp>
        <p:nvSpPr>
          <p:cNvPr id="15" name="Text 13"/>
          <p:cNvSpPr txBox="1"/>
          <p:nvPr/>
        </p:nvSpPr>
        <p:spPr>
          <a:xfrm>
            <a:off x="1965960" y="3877056"/>
            <a:ext cx="3794760" cy="45720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Benefits → Procedure Coverage</a:t>
            </a:r>
            <a:endParaRPr lang="en-US" sz="1250" dirty="0"/>
          </a:p>
        </p:txBody>
      </p:sp>
      <p:sp>
        <p:nvSpPr>
          <p:cNvPr id="16" name="Text 14"/>
          <p:cNvSpPr txBox="1"/>
          <p:nvPr/>
        </p:nvSpPr>
        <p:spPr>
          <a:xfrm>
            <a:off x="896112" y="4352544"/>
            <a:ext cx="1051560" cy="457200"/>
          </a:xfrm>
          <a:prstGeom prst="rect">
            <a:avLst/>
          </a:prstGeom>
          <a:noFill/>
          <a:ln/>
        </p:spPr>
        <p:txBody>
          <a:bodyPr wrap="square" lIns="0" tIns="0" rIns="0" bIns="0" rtlCol="0" anchor="ctr"/>
          <a:lstStyle/>
          <a:p>
            <a:pPr indent="0" marL="0">
              <a:buNone/>
            </a:pPr>
            <a:r>
              <a:rPr lang="en-US" sz="1150" b="1" dirty="0">
                <a:solidFill>
                  <a:srgbClr val="5A6675"/>
                </a:solidFill>
                <a:latin typeface="Calibri" pitchFamily="34" charset="0"/>
                <a:ea typeface="Calibri" pitchFamily="34" charset="-122"/>
                <a:cs typeface="Calibri" pitchFamily="34" charset="-120"/>
              </a:rPr>
              <a:t>Attribute</a:t>
            </a:r>
            <a:endParaRPr lang="en-US" sz="1150" dirty="0"/>
          </a:p>
        </p:txBody>
      </p:sp>
      <p:sp>
        <p:nvSpPr>
          <p:cNvPr id="17" name="Text 15"/>
          <p:cNvSpPr txBox="1"/>
          <p:nvPr/>
        </p:nvSpPr>
        <p:spPr>
          <a:xfrm>
            <a:off x="1965960" y="4352544"/>
            <a:ext cx="3794760" cy="457200"/>
          </a:xfrm>
          <a:prstGeom prst="rect">
            <a:avLst/>
          </a:prstGeom>
          <a:noFill/>
          <a:ln/>
        </p:spPr>
        <p:txBody>
          <a:bodyPr wrap="square" lIns="0" tIns="0" rIns="0" bIns="0" rtlCol="0" anchor="ctr"/>
          <a:lstStyle/>
          <a:p>
            <a:pPr indent="0" marL="0">
              <a:buNone/>
            </a:pPr>
            <a:r>
              <a:rPr lang="en-US" sz="1250" dirty="0">
                <a:solidFill>
                  <a:srgbClr val="1A2233"/>
                </a:solidFill>
                <a:latin typeface="Calibri" pitchFamily="34" charset="0"/>
                <a:ea typeface="Calibri" pitchFamily="34" charset="-122"/>
                <a:cs typeface="Calibri" pitchFamily="34" charset="-120"/>
              </a:rPr>
              <a:t>PROCEDURE_CODE = D2391</a:t>
            </a:r>
            <a:endParaRPr lang="en-US" sz="1250" dirty="0"/>
          </a:p>
        </p:txBody>
      </p:sp>
      <p:sp>
        <p:nvSpPr>
          <p:cNvPr id="18" name="Text 16"/>
          <p:cNvSpPr txBox="1"/>
          <p:nvPr/>
        </p:nvSpPr>
        <p:spPr>
          <a:xfrm>
            <a:off x="896112" y="4919472"/>
            <a:ext cx="4846320" cy="365760"/>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Identical tables. Identical query path. No special handling.</a:t>
            </a:r>
            <a:endParaRPr lang="en-US" sz="1250" dirty="0"/>
          </a:p>
        </p:txBody>
      </p:sp>
      <p:sp>
        <p:nvSpPr>
          <p:cNvPr id="19" name="Shape 17"/>
          <p:cNvSpPr/>
          <p:nvPr/>
        </p:nvSpPr>
        <p:spPr>
          <a:xfrm>
            <a:off x="6190488" y="1417320"/>
            <a:ext cx="5358384" cy="4023360"/>
          </a:xfrm>
          <a:prstGeom prst="roundRect">
            <a:avLst>
              <a:gd name="adj" fmla="val 1818"/>
            </a:avLst>
          </a:prstGeom>
          <a:solidFill>
            <a:srgbClr val="F7FAFC"/>
          </a:solidFill>
          <a:ln/>
        </p:spPr>
      </p:sp>
      <p:sp>
        <p:nvSpPr>
          <p:cNvPr id="20" name="Shape 18"/>
          <p:cNvSpPr/>
          <p:nvPr/>
        </p:nvSpPr>
        <p:spPr>
          <a:xfrm>
            <a:off x="6190488" y="1417320"/>
            <a:ext cx="5358384" cy="45720"/>
          </a:xfrm>
          <a:prstGeom prst="rect">
            <a:avLst/>
          </a:prstGeom>
          <a:solidFill>
            <a:srgbClr val="5A6675"/>
          </a:solidFill>
          <a:ln/>
        </p:spPr>
      </p:sp>
      <p:sp>
        <p:nvSpPr>
          <p:cNvPr id="21" name="Text 19"/>
          <p:cNvSpPr txBox="1"/>
          <p:nvPr/>
        </p:nvSpPr>
        <p:spPr>
          <a:xfrm>
            <a:off x="6446520" y="1600200"/>
            <a:ext cx="4846320" cy="365760"/>
          </a:xfrm>
          <a:prstGeom prst="rect">
            <a:avLst/>
          </a:prstGeom>
          <a:noFill/>
          <a:ln/>
        </p:spPr>
        <p:txBody>
          <a:bodyPr wrap="square" lIns="0" tIns="0" rIns="0" bIns="0" rtlCol="0" anchor="ctr"/>
          <a:lstStyle/>
          <a:p>
            <a:pPr indent="0" marL="0">
              <a:buNone/>
            </a:pPr>
            <a:r>
              <a:rPr lang="en-US" sz="1900" b="1" dirty="0">
                <a:solidFill>
                  <a:srgbClr val="5A6675"/>
                </a:solidFill>
                <a:latin typeface="Cambria" pitchFamily="34" charset="0"/>
                <a:ea typeface="Cambria" pitchFamily="34" charset="-122"/>
                <a:cs typeface="Cambria" pitchFamily="34" charset="-120"/>
              </a:rPr>
              <a:t>Agency call</a:t>
            </a:r>
            <a:endParaRPr lang="en-US" sz="1900" dirty="0"/>
          </a:p>
        </p:txBody>
      </p:sp>
      <p:sp>
        <p:nvSpPr>
          <p:cNvPr id="22" name="Text 20"/>
          <p:cNvSpPr txBox="1"/>
          <p:nvPr/>
        </p:nvSpPr>
        <p:spPr>
          <a:xfrm>
            <a:off x="6446520" y="2011680"/>
            <a:ext cx="4846320" cy="320040"/>
          </a:xfrm>
          <a:prstGeom prst="rect">
            <a:avLst/>
          </a:prstGeom>
          <a:noFill/>
          <a:ln/>
        </p:spPr>
        <p:txBody>
          <a:bodyPr wrap="square" lIns="0" tIns="0" rIns="0" bIns="0" rtlCol="0" anchor="ctr"/>
          <a:lstStyle/>
          <a:p>
            <a:pPr indent="0" marL="0">
              <a:buNone/>
            </a:pPr>
            <a:r>
              <a:rPr lang="en-US" sz="1300" i="1" dirty="0">
                <a:solidFill>
                  <a:srgbClr val="5A6675"/>
                </a:solidFill>
                <a:latin typeface="Calibri" pitchFamily="34" charset="0"/>
                <a:ea typeface="Calibri" pitchFamily="34" charset="-122"/>
                <a:cs typeface="Calibri" pitchFamily="34" charset="-120"/>
              </a:rPr>
              <a:t>No rule matches — we have no agency categories.</a:t>
            </a:r>
            <a:endParaRPr lang="en-US" sz="1300" dirty="0"/>
          </a:p>
        </p:txBody>
      </p:sp>
      <p:sp>
        <p:nvSpPr>
          <p:cNvPr id="23" name="Text 21"/>
          <p:cNvSpPr txBox="1"/>
          <p:nvPr/>
        </p:nvSpPr>
        <p:spPr>
          <a:xfrm>
            <a:off x="6446520" y="2606040"/>
            <a:ext cx="4846320" cy="502920"/>
          </a:xfrm>
          <a:prstGeom prst="rect">
            <a:avLst/>
          </a:prstGeom>
          <a:noFill/>
          <a:ln/>
        </p:spPr>
        <p:txBody>
          <a:bodyPr wrap="square" lIns="0" tIns="0" rIns="0" bIns="0" rtlCol="0" anchor="ctr"/>
          <a:lstStyle/>
          <a:p>
            <a:pPr indent="0" marL="0">
              <a:buNone/>
            </a:pPr>
            <a:r>
              <a:rPr lang="en-US" sz="2000" b="1" dirty="0">
                <a:solidFill>
                  <a:srgbClr val="1A2233"/>
                </a:solidFill>
                <a:latin typeface="Calibri" pitchFamily="34" charset="0"/>
                <a:ea typeface="Calibri" pitchFamily="34" charset="-122"/>
                <a:cs typeface="Calibri" pitchFamily="34" charset="-120"/>
              </a:rPr>
              <a:t>NO_RULE_MATCH</a:t>
            </a:r>
            <a:endParaRPr lang="en-US" sz="2000" dirty="0"/>
          </a:p>
        </p:txBody>
      </p:sp>
      <p:sp>
        <p:nvSpPr>
          <p:cNvPr id="24" name="Text 22"/>
          <p:cNvSpPr txBox="1"/>
          <p:nvPr/>
        </p:nvSpPr>
        <p:spPr>
          <a:xfrm>
            <a:off x="6446520" y="3200400"/>
            <a:ext cx="4846320" cy="1828800"/>
          </a:xfrm>
          <a:prstGeom prst="rect">
            <a:avLst/>
          </a:prstGeom>
          <a:noFill/>
          <a:ln/>
        </p:spPr>
        <p:txBody>
          <a:bodyPr wrap="square" lIns="0" tIns="0" rIns="0" bIns="0" rtlCol="0" anchor="ctr"/>
          <a:lstStyle/>
          <a:p>
            <a:pPr indent="0" marL="0">
              <a:lnSpc>
                <a:spcPts val="1700"/>
              </a:lnSpc>
              <a:buNone/>
            </a:pPr>
            <a:r>
              <a:rPr lang="en-US" sz="1300" dirty="0">
                <a:solidFill>
                  <a:srgbClr val="5A6675"/>
                </a:solidFill>
                <a:latin typeface="Calibri" pitchFamily="34" charset="0"/>
                <a:ea typeface="Calibri" pitchFamily="34" charset="-122"/>
                <a:cs typeface="Calibri" pitchFamily="34" charset="-120"/>
              </a:rPr>
              <a:t>We still write a row.</a:t>
            </a:r>
            <a:endParaRPr lang="en-US" sz="1300" dirty="0"/>
          </a:p>
          <a:p>
            <a:pPr indent="0" marL="0">
              <a:lnSpc>
                <a:spcPts val="1700"/>
              </a:lnSpc>
              <a:buNone/>
            </a:pPr>
            <a:endParaRPr lang="en-US" sz="1300" dirty="0"/>
          </a:p>
          <a:p>
            <a:pPr indent="0" marL="0">
              <a:lnSpc>
                <a:spcPts val="1700"/>
              </a:lnSpc>
              <a:buNone/>
            </a:pPr>
            <a:r>
              <a:rPr lang="en-US" sz="1300" dirty="0">
                <a:solidFill>
                  <a:srgbClr val="5A6675"/>
                </a:solidFill>
                <a:latin typeface="Calibri" pitchFamily="34" charset="0"/>
                <a:ea typeface="Calibri" pitchFamily="34" charset="-122"/>
                <a:cs typeface="Calibri" pitchFamily="34" charset="-120"/>
              </a:rPr>
              <a:t>So "we looked and nothing applied" is distinguishable from "we never processed this".</a:t>
            </a:r>
            <a:endParaRPr lang="en-US" sz="1300" dirty="0"/>
          </a:p>
          <a:p>
            <a:pPr indent="0" marL="0">
              <a:lnSpc>
                <a:spcPts val="1700"/>
              </a:lnSpc>
              <a:buNone/>
            </a:pPr>
            <a:endParaRPr lang="en-US" sz="1300" dirty="0"/>
          </a:p>
          <a:p>
            <a:pPr indent="0" marL="0">
              <a:lnSpc>
                <a:spcPts val="1700"/>
              </a:lnSpc>
              <a:buNone/>
            </a:pPr>
            <a:r>
              <a:rPr lang="en-US" sz="1300" dirty="0">
                <a:solidFill>
                  <a:srgbClr val="5A6675"/>
                </a:solidFill>
                <a:latin typeface="Calibri" pitchFamily="34" charset="0"/>
                <a:ea typeface="Calibri" pitchFamily="34" charset="-122"/>
                <a:cs typeface="Calibri" pitchFamily="34" charset="-120"/>
              </a:rPr>
              <a:t>That is what lets us prove coverage instead of assuming it.</a:t>
            </a:r>
            <a:endParaRPr lang="en-US" sz="1300" dirty="0"/>
          </a:p>
        </p:txBody>
      </p:sp>
      <p:sp>
        <p:nvSpPr>
          <p:cNvPr id="25" name="Shape 23"/>
          <p:cNvSpPr/>
          <p:nvPr/>
        </p:nvSpPr>
        <p:spPr>
          <a:xfrm>
            <a:off x="640080" y="5623560"/>
            <a:ext cx="10908792" cy="685800"/>
          </a:xfrm>
          <a:prstGeom prst="roundRect">
            <a:avLst>
              <a:gd name="adj" fmla="val 10667"/>
            </a:avLst>
          </a:prstGeom>
          <a:solidFill>
            <a:srgbClr val="21295C"/>
          </a:solidFill>
          <a:ln/>
        </p:spPr>
      </p:sp>
      <p:sp>
        <p:nvSpPr>
          <p:cNvPr id="26" name="Text 24"/>
          <p:cNvSpPr txBox="1"/>
          <p:nvPr/>
        </p:nvSpPr>
        <p:spPr>
          <a:xfrm>
            <a:off x="960120" y="5623560"/>
            <a:ext cx="10268712" cy="6858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Four interactions. Four different shapes. One schema, no conditional logic.</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WHAT WE GET BACK</a:t>
            </a:r>
            <a:endParaRPr lang="en-US" sz="1100" dirty="0"/>
          </a:p>
        </p:txBody>
      </p:sp>
      <p:sp>
        <p:nvSpPr>
          <p:cNvPr id="3" name="Text 1"/>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1A2233"/>
                </a:solidFill>
                <a:latin typeface="Cambria" pitchFamily="34" charset="0"/>
                <a:ea typeface="Cambria" pitchFamily="34" charset="-122"/>
                <a:cs typeface="Cambria" pitchFamily="34" charset="-120"/>
              </a:rPr>
              <a:t>Six reports, one set of tables</a:t>
            </a:r>
            <a:endParaRPr lang="en-US" sz="3200" dirty="0"/>
          </a:p>
        </p:txBody>
      </p:sp>
      <p:sp>
        <p:nvSpPr>
          <p:cNvPr id="4" name="Shape 2"/>
          <p:cNvSpPr/>
          <p:nvPr/>
        </p:nvSpPr>
        <p:spPr>
          <a:xfrm>
            <a:off x="640080" y="1463040"/>
            <a:ext cx="5358384" cy="1234440"/>
          </a:xfrm>
          <a:prstGeom prst="roundRect">
            <a:avLst>
              <a:gd name="adj" fmla="val 5926"/>
            </a:avLst>
          </a:prstGeom>
          <a:solidFill>
            <a:srgbClr val="EEF3F7"/>
          </a:solidFill>
          <a:ln/>
        </p:spPr>
      </p:sp>
      <p:sp>
        <p:nvSpPr>
          <p:cNvPr id="5" name="Text 3"/>
          <p:cNvSpPr txBox="1"/>
          <p:nvPr/>
        </p:nvSpPr>
        <p:spPr>
          <a:xfrm>
            <a:off x="896112" y="1645920"/>
            <a:ext cx="4846320" cy="36576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PCDR</a:t>
            </a:r>
            <a:endParaRPr lang="en-US" sz="1700" dirty="0"/>
          </a:p>
        </p:txBody>
      </p:sp>
      <p:sp>
        <p:nvSpPr>
          <p:cNvPr id="6" name="Text 4"/>
          <p:cNvSpPr txBox="1"/>
          <p:nvPr/>
        </p:nvSpPr>
        <p:spPr>
          <a:xfrm>
            <a:off x="896112" y="2057400"/>
            <a:ext cx="4846320" cy="45720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CareSource set, top level = Dispute</a:t>
            </a:r>
            <a:endParaRPr lang="en-US" sz="1250" dirty="0"/>
          </a:p>
        </p:txBody>
      </p:sp>
      <p:sp>
        <p:nvSpPr>
          <p:cNvPr id="7" name="Shape 5"/>
          <p:cNvSpPr/>
          <p:nvPr/>
        </p:nvSpPr>
        <p:spPr>
          <a:xfrm>
            <a:off x="640080" y="2862072"/>
            <a:ext cx="5358384" cy="1234440"/>
          </a:xfrm>
          <a:prstGeom prst="roundRect">
            <a:avLst>
              <a:gd name="adj" fmla="val 5926"/>
            </a:avLst>
          </a:prstGeom>
          <a:solidFill>
            <a:srgbClr val="EEF3F7"/>
          </a:solidFill>
          <a:ln/>
        </p:spPr>
      </p:sp>
      <p:sp>
        <p:nvSpPr>
          <p:cNvPr id="8" name="Text 6"/>
          <p:cNvSpPr txBox="1"/>
          <p:nvPr/>
        </p:nvSpPr>
        <p:spPr>
          <a:xfrm>
            <a:off x="896112" y="3044952"/>
            <a:ext cx="4846320" cy="36576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PCIR</a:t>
            </a:r>
            <a:endParaRPr lang="en-US" sz="1700" dirty="0"/>
          </a:p>
        </p:txBody>
      </p:sp>
      <p:sp>
        <p:nvSpPr>
          <p:cNvPr id="9" name="Text 7"/>
          <p:cNvSpPr txBox="1"/>
          <p:nvPr/>
        </p:nvSpPr>
        <p:spPr>
          <a:xfrm>
            <a:off x="896112" y="3456432"/>
            <a:ext cx="4846320" cy="45720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CareSource set, top level = Inquiry</a:t>
            </a:r>
            <a:endParaRPr lang="en-US" sz="1250" dirty="0"/>
          </a:p>
        </p:txBody>
      </p:sp>
      <p:sp>
        <p:nvSpPr>
          <p:cNvPr id="10" name="Shape 8"/>
          <p:cNvSpPr/>
          <p:nvPr/>
        </p:nvSpPr>
        <p:spPr>
          <a:xfrm>
            <a:off x="640080" y="4261104"/>
            <a:ext cx="5358384" cy="1234440"/>
          </a:xfrm>
          <a:prstGeom prst="roundRect">
            <a:avLst>
              <a:gd name="adj" fmla="val 5926"/>
            </a:avLst>
          </a:prstGeom>
          <a:solidFill>
            <a:srgbClr val="EEF3F7"/>
          </a:solidFill>
          <a:ln/>
        </p:spPr>
      </p:sp>
      <p:sp>
        <p:nvSpPr>
          <p:cNvPr id="11" name="Text 9"/>
          <p:cNvSpPr txBox="1"/>
          <p:nvPr/>
        </p:nvSpPr>
        <p:spPr>
          <a:xfrm>
            <a:off x="896112" y="4443984"/>
            <a:ext cx="4846320" cy="36576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Tim's top category</a:t>
            </a:r>
            <a:endParaRPr lang="en-US" sz="1700" dirty="0"/>
          </a:p>
        </p:txBody>
      </p:sp>
      <p:sp>
        <p:nvSpPr>
          <p:cNvPr id="12" name="Text 10"/>
          <p:cNvSpPr txBox="1"/>
          <p:nvPr/>
        </p:nvSpPr>
        <p:spPr>
          <a:xfrm>
            <a:off x="896112" y="4855464"/>
            <a:ext cx="4846320" cy="45720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Call analysis, reasons flagged primary</a:t>
            </a:r>
            <a:endParaRPr lang="en-US" sz="1250" dirty="0"/>
          </a:p>
        </p:txBody>
      </p:sp>
      <p:sp>
        <p:nvSpPr>
          <p:cNvPr id="13" name="Shape 11"/>
          <p:cNvSpPr/>
          <p:nvPr/>
        </p:nvSpPr>
        <p:spPr>
          <a:xfrm>
            <a:off x="6190488" y="1463040"/>
            <a:ext cx="5358384" cy="1234440"/>
          </a:xfrm>
          <a:prstGeom prst="roundRect">
            <a:avLst>
              <a:gd name="adj" fmla="val 5926"/>
            </a:avLst>
          </a:prstGeom>
          <a:solidFill>
            <a:srgbClr val="EEF3F7"/>
          </a:solidFill>
          <a:ln/>
        </p:spPr>
      </p:sp>
      <p:sp>
        <p:nvSpPr>
          <p:cNvPr id="14" name="Text 12"/>
          <p:cNvSpPr txBox="1"/>
          <p:nvPr/>
        </p:nvSpPr>
        <p:spPr>
          <a:xfrm>
            <a:off x="6446520" y="1645920"/>
            <a:ext cx="4846320" cy="36576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Procedures asked about</a:t>
            </a:r>
            <a:endParaRPr lang="en-US" sz="1700" dirty="0"/>
          </a:p>
        </p:txBody>
      </p:sp>
      <p:sp>
        <p:nvSpPr>
          <p:cNvPr id="15" name="Text 13"/>
          <p:cNvSpPr txBox="1"/>
          <p:nvPr/>
        </p:nvSpPr>
        <p:spPr>
          <a:xfrm>
            <a:off x="6446520" y="2057400"/>
            <a:ext cx="4846320" cy="45720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Attributes of type PROCEDURE_CODE</a:t>
            </a:r>
            <a:endParaRPr lang="en-US" sz="1250" dirty="0"/>
          </a:p>
        </p:txBody>
      </p:sp>
      <p:sp>
        <p:nvSpPr>
          <p:cNvPr id="16" name="Shape 14"/>
          <p:cNvSpPr/>
          <p:nvPr/>
        </p:nvSpPr>
        <p:spPr>
          <a:xfrm>
            <a:off x="6190488" y="2862072"/>
            <a:ext cx="5358384" cy="1234440"/>
          </a:xfrm>
          <a:prstGeom prst="roundRect">
            <a:avLst>
              <a:gd name="adj" fmla="val 5926"/>
            </a:avLst>
          </a:prstGeom>
          <a:solidFill>
            <a:srgbClr val="EEF3F7"/>
          </a:solidFill>
          <a:ln/>
        </p:spPr>
      </p:sp>
      <p:sp>
        <p:nvSpPr>
          <p:cNvPr id="17" name="Text 15"/>
          <p:cNvSpPr txBox="1"/>
          <p:nvPr/>
        </p:nvSpPr>
        <p:spPr>
          <a:xfrm>
            <a:off x="6446520" y="3044952"/>
            <a:ext cx="4846320" cy="36576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Friction analysis</a:t>
            </a:r>
            <a:endParaRPr lang="en-US" sz="1700" dirty="0"/>
          </a:p>
        </p:txBody>
      </p:sp>
      <p:sp>
        <p:nvSpPr>
          <p:cNvPr id="18" name="Text 16"/>
          <p:cNvSpPr txBox="1"/>
          <p:nvPr/>
        </p:nvSpPr>
        <p:spPr>
          <a:xfrm>
            <a:off x="6446520" y="3456432"/>
            <a:ext cx="4846320" cy="45720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Every reason with a friction note</a:t>
            </a:r>
            <a:endParaRPr lang="en-US" sz="1250" dirty="0"/>
          </a:p>
        </p:txBody>
      </p:sp>
      <p:sp>
        <p:nvSpPr>
          <p:cNvPr id="19" name="Shape 17"/>
          <p:cNvSpPr/>
          <p:nvPr/>
        </p:nvSpPr>
        <p:spPr>
          <a:xfrm>
            <a:off x="6190488" y="4261104"/>
            <a:ext cx="5358384" cy="1234440"/>
          </a:xfrm>
          <a:prstGeom prst="roundRect">
            <a:avLst>
              <a:gd name="adj" fmla="val 5926"/>
            </a:avLst>
          </a:prstGeom>
          <a:solidFill>
            <a:srgbClr val="EEF3F7"/>
          </a:solidFill>
          <a:ln/>
        </p:spPr>
      </p:sp>
      <p:sp>
        <p:nvSpPr>
          <p:cNvPr id="20" name="Text 18"/>
          <p:cNvSpPr txBox="1"/>
          <p:nvPr/>
        </p:nvSpPr>
        <p:spPr>
          <a:xfrm>
            <a:off x="6446520" y="4443984"/>
            <a:ext cx="4846320" cy="365760"/>
          </a:xfrm>
          <a:prstGeom prst="rect">
            <a:avLst/>
          </a:prstGeom>
          <a:noFill/>
          <a:ln/>
        </p:spPr>
        <p:txBody>
          <a:bodyPr wrap="square" lIns="0" tIns="0" rIns="0" bIns="0" rtlCol="0" anchor="ctr"/>
          <a:lstStyle/>
          <a:p>
            <a:pPr indent="0" marL="0">
              <a:buNone/>
            </a:pPr>
            <a:r>
              <a:rPr lang="en-US" sz="1700" b="1" dirty="0">
                <a:solidFill>
                  <a:srgbClr val="1A2233"/>
                </a:solidFill>
                <a:latin typeface="Cambria" pitchFamily="34" charset="0"/>
                <a:ea typeface="Cambria" pitchFamily="34" charset="-122"/>
                <a:cs typeface="Cambria" pitchFamily="34" charset="-120"/>
              </a:rPr>
              <a:t>Coverage check</a:t>
            </a:r>
            <a:endParaRPr lang="en-US" sz="1700" dirty="0"/>
          </a:p>
        </p:txBody>
      </p:sp>
      <p:sp>
        <p:nvSpPr>
          <p:cNvPr id="21" name="Text 19"/>
          <p:cNvSpPr txBox="1"/>
          <p:nvPr/>
        </p:nvSpPr>
        <p:spPr>
          <a:xfrm>
            <a:off x="6446520" y="4855464"/>
            <a:ext cx="4846320" cy="45720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Runs grouped by status — proves nothing was missed</a:t>
            </a:r>
            <a:endParaRPr lang="en-US" sz="1250" dirty="0"/>
          </a:p>
        </p:txBody>
      </p:sp>
      <p:sp>
        <p:nvSpPr>
          <p:cNvPr id="22" name="Shape 20"/>
          <p:cNvSpPr/>
          <p:nvPr/>
        </p:nvSpPr>
        <p:spPr>
          <a:xfrm>
            <a:off x="640080" y="5669280"/>
            <a:ext cx="10908792" cy="658368"/>
          </a:xfrm>
          <a:prstGeom prst="roundRect">
            <a:avLst>
              <a:gd name="adj" fmla="val 11111"/>
            </a:avLst>
          </a:prstGeom>
          <a:solidFill>
            <a:srgbClr val="F7FAFC"/>
          </a:solidFill>
          <a:ln/>
        </p:spPr>
      </p:sp>
      <p:sp>
        <p:nvSpPr>
          <p:cNvPr id="23" name="Text 21"/>
          <p:cNvSpPr txBox="1"/>
          <p:nvPr/>
        </p:nvSpPr>
        <p:spPr>
          <a:xfrm>
            <a:off x="932688" y="5669280"/>
            <a:ext cx="10323576" cy="658368"/>
          </a:xfrm>
          <a:prstGeom prst="rect">
            <a:avLst/>
          </a:prstGeom>
          <a:noFill/>
          <a:ln/>
        </p:spPr>
        <p:txBody>
          <a:bodyPr wrap="square" lIns="0" tIns="0" rIns="0" bIns="0" rtlCol="0" anchor="ctr"/>
          <a:lstStyle/>
          <a:p>
            <a:pPr indent="0" marL="0">
              <a:buNone/>
            </a:pPr>
            <a:r>
              <a:rPr lang="en-US" sz="1300" dirty="0">
                <a:solidFill>
                  <a:srgbClr val="065A82"/>
                </a:solidFill>
                <a:latin typeface="Calibri" pitchFamily="34" charset="0"/>
                <a:ea typeface="Calibri" pitchFamily="34" charset="-122"/>
                <a:cs typeface="Calibri" pitchFamily="34" charset="-120"/>
              </a:rPr>
              <a:t>Across a quarter boundary, roll up on the stable category code — not the row id, which changes with each version.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881360" y="-1920240"/>
            <a:ext cx="3840480" cy="3840480"/>
          </a:xfrm>
          <a:prstGeom prst="ellipse">
            <a:avLst/>
          </a:prstGeom>
          <a:solidFill>
            <a:srgbClr val="065A82">
              <a:alpha val="40000"/>
            </a:srgbClr>
          </a:solidFill>
          <a:ln/>
        </p:spPr>
      </p:sp>
      <p:sp>
        <p:nvSpPr>
          <p:cNvPr id="3" name="Text 1"/>
          <p:cNvSpPr txBox="1"/>
          <p:nvPr/>
        </p:nvSpPr>
        <p:spPr>
          <a:xfrm>
            <a:off x="640080" y="164592"/>
            <a:ext cx="10908792" cy="274320"/>
          </a:xfrm>
          <a:prstGeom prst="rect">
            <a:avLst/>
          </a:prstGeom>
          <a:noFill/>
          <a:ln/>
        </p:spPr>
        <p:txBody>
          <a:bodyPr wrap="square" lIns="0" tIns="0" rIns="0" bIns="0" rtlCol="0" anchor="ctr"/>
          <a:lstStyle/>
          <a:p>
            <a:pPr indent="0" marL="0">
              <a:buNone/>
            </a:pPr>
            <a:r>
              <a:rPr lang="en-US" sz="1100" b="1" spc="200" kern="0" dirty="0">
                <a:solidFill>
                  <a:srgbClr val="9FC5DC"/>
                </a:solidFill>
                <a:latin typeface="Calibri" pitchFamily="34" charset="0"/>
                <a:ea typeface="Calibri" pitchFamily="34" charset="-122"/>
                <a:cs typeface="Calibri" pitchFamily="34" charset="-120"/>
              </a:rPr>
              <a:t>WHERE WE NEED YOU</a:t>
            </a:r>
            <a:endParaRPr lang="en-US" sz="1100" dirty="0"/>
          </a:p>
        </p:txBody>
      </p:sp>
      <p:sp>
        <p:nvSpPr>
          <p:cNvPr id="4" name="Text 2"/>
          <p:cNvSpPr txBox="1"/>
          <p:nvPr/>
        </p:nvSpPr>
        <p:spPr>
          <a:xfrm>
            <a:off x="640080" y="411480"/>
            <a:ext cx="10908792" cy="68580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Open questions</a:t>
            </a:r>
            <a:endParaRPr lang="en-US" sz="3200" dirty="0"/>
          </a:p>
        </p:txBody>
      </p:sp>
      <p:sp>
        <p:nvSpPr>
          <p:cNvPr id="5" name="Text 3"/>
          <p:cNvSpPr txBox="1"/>
          <p:nvPr/>
        </p:nvSpPr>
        <p:spPr>
          <a:xfrm>
            <a:off x="640080" y="1371600"/>
            <a:ext cx="548640" cy="457200"/>
          </a:xfrm>
          <a:prstGeom prst="rect">
            <a:avLst/>
          </a:prstGeom>
          <a:noFill/>
          <a:ln/>
        </p:spPr>
        <p:txBody>
          <a:bodyPr wrap="square" lIns="0" tIns="0" rIns="0" bIns="0" rtlCol="0" anchor="ctr"/>
          <a:lstStyle/>
          <a:p>
            <a:pPr indent="0" marL="0">
              <a:buNone/>
            </a:pPr>
            <a:r>
              <a:rPr lang="en-US" sz="1600" b="1" dirty="0">
                <a:solidFill>
                  <a:srgbClr val="6E9EBF"/>
                </a:solidFill>
                <a:latin typeface="Cambria" pitchFamily="34" charset="0"/>
                <a:ea typeface="Cambria" pitchFamily="34" charset="-122"/>
                <a:cs typeface="Cambria" pitchFamily="34" charset="-120"/>
              </a:rPr>
              <a:t>01</a:t>
            </a:r>
            <a:endParaRPr lang="en-US" sz="1600" dirty="0"/>
          </a:p>
        </p:txBody>
      </p:sp>
      <p:sp>
        <p:nvSpPr>
          <p:cNvPr id="6" name="Text 4"/>
          <p:cNvSpPr txBox="1"/>
          <p:nvPr/>
        </p:nvSpPr>
        <p:spPr>
          <a:xfrm>
            <a:off x="1280160" y="1371600"/>
            <a:ext cx="6766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What is CareSource in the data — payer, plan, group, or client?</a:t>
            </a:r>
            <a:endParaRPr lang="en-US" sz="1450" dirty="0"/>
          </a:p>
        </p:txBody>
      </p:sp>
      <p:sp>
        <p:nvSpPr>
          <p:cNvPr id="7" name="Text 5"/>
          <p:cNvSpPr txBox="1"/>
          <p:nvPr/>
        </p:nvSpPr>
        <p:spPr>
          <a:xfrm>
            <a:off x="8138160" y="1371600"/>
            <a:ext cx="3383280" cy="457200"/>
          </a:xfrm>
          <a:prstGeom prst="rect">
            <a:avLst/>
          </a:prstGeom>
          <a:noFill/>
          <a:ln/>
        </p:spPr>
        <p:txBody>
          <a:bodyPr wrap="square" lIns="0" tIns="0" rIns="0" bIns="0" rtlCol="0" anchor="ctr"/>
          <a:lstStyle/>
          <a:p>
            <a:pPr indent="0" marL="0">
              <a:buNone/>
            </a:pPr>
            <a:r>
              <a:rPr lang="en-US" sz="1200" i="1" dirty="0">
                <a:solidFill>
                  <a:srgbClr val="9FC5DC"/>
                </a:solidFill>
                <a:latin typeface="Calibri" pitchFamily="34" charset="0"/>
                <a:ea typeface="Calibri" pitchFamily="34" charset="-122"/>
                <a:cs typeface="Calibri" pitchFamily="34" charset="-120"/>
              </a:rPr>
              <a:t>Blocks the routing rule</a:t>
            </a:r>
            <a:endParaRPr lang="en-US" sz="1200" dirty="0"/>
          </a:p>
        </p:txBody>
      </p:sp>
      <p:sp>
        <p:nvSpPr>
          <p:cNvPr id="8" name="Text 6"/>
          <p:cNvSpPr txBox="1"/>
          <p:nvPr/>
        </p:nvSpPr>
        <p:spPr>
          <a:xfrm>
            <a:off x="640080" y="2029968"/>
            <a:ext cx="548640" cy="457200"/>
          </a:xfrm>
          <a:prstGeom prst="rect">
            <a:avLst/>
          </a:prstGeom>
          <a:noFill/>
          <a:ln/>
        </p:spPr>
        <p:txBody>
          <a:bodyPr wrap="square" lIns="0" tIns="0" rIns="0" bIns="0" rtlCol="0" anchor="ctr"/>
          <a:lstStyle/>
          <a:p>
            <a:pPr indent="0" marL="0">
              <a:buNone/>
            </a:pPr>
            <a:r>
              <a:rPr lang="en-US" sz="1600" b="1" dirty="0">
                <a:solidFill>
                  <a:srgbClr val="6E9EBF"/>
                </a:solidFill>
                <a:latin typeface="Cambria" pitchFamily="34" charset="0"/>
                <a:ea typeface="Cambria" pitchFamily="34" charset="-122"/>
                <a:cs typeface="Cambria" pitchFamily="34" charset="-120"/>
              </a:rPr>
              <a:t>02</a:t>
            </a:r>
            <a:endParaRPr lang="en-US" sz="1600" dirty="0"/>
          </a:p>
        </p:txBody>
      </p:sp>
      <p:sp>
        <p:nvSpPr>
          <p:cNvPr id="9" name="Text 7"/>
          <p:cNvSpPr txBox="1"/>
          <p:nvPr/>
        </p:nvSpPr>
        <p:spPr>
          <a:xfrm>
            <a:off x="1280160" y="2029968"/>
            <a:ext cx="6766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Is the caller field produced by the summarizer, or carried from telephony?</a:t>
            </a:r>
            <a:endParaRPr lang="en-US" sz="1450" dirty="0"/>
          </a:p>
        </p:txBody>
      </p:sp>
      <p:sp>
        <p:nvSpPr>
          <p:cNvPr id="10" name="Text 8"/>
          <p:cNvSpPr txBox="1"/>
          <p:nvPr/>
        </p:nvSpPr>
        <p:spPr>
          <a:xfrm>
            <a:off x="8138160" y="2029968"/>
            <a:ext cx="3383280" cy="457200"/>
          </a:xfrm>
          <a:prstGeom prst="rect">
            <a:avLst/>
          </a:prstGeom>
          <a:noFill/>
          <a:ln/>
        </p:spPr>
        <p:txBody>
          <a:bodyPr wrap="square" lIns="0" tIns="0" rIns="0" bIns="0" rtlCol="0" anchor="ctr"/>
          <a:lstStyle/>
          <a:p>
            <a:pPr indent="0" marL="0">
              <a:buNone/>
            </a:pPr>
            <a:r>
              <a:rPr lang="en-US" sz="1200" i="1" dirty="0">
                <a:solidFill>
                  <a:srgbClr val="9FC5DC"/>
                </a:solidFill>
                <a:latin typeface="Calibri" pitchFamily="34" charset="0"/>
                <a:ea typeface="Calibri" pitchFamily="34" charset="-122"/>
                <a:cs typeface="Calibri" pitchFamily="34" charset="-120"/>
              </a:rPr>
              <a:t>If it is a model output, routing depends on it</a:t>
            </a:r>
            <a:endParaRPr lang="en-US" sz="1200" dirty="0"/>
          </a:p>
        </p:txBody>
      </p:sp>
      <p:sp>
        <p:nvSpPr>
          <p:cNvPr id="11" name="Text 9"/>
          <p:cNvSpPr txBox="1"/>
          <p:nvPr/>
        </p:nvSpPr>
        <p:spPr>
          <a:xfrm>
            <a:off x="640080" y="2688336"/>
            <a:ext cx="548640" cy="457200"/>
          </a:xfrm>
          <a:prstGeom prst="rect">
            <a:avLst/>
          </a:prstGeom>
          <a:noFill/>
          <a:ln/>
        </p:spPr>
        <p:txBody>
          <a:bodyPr wrap="square" lIns="0" tIns="0" rIns="0" bIns="0" rtlCol="0" anchor="ctr"/>
          <a:lstStyle/>
          <a:p>
            <a:pPr indent="0" marL="0">
              <a:buNone/>
            </a:pPr>
            <a:r>
              <a:rPr lang="en-US" sz="1600" b="1" dirty="0">
                <a:solidFill>
                  <a:srgbClr val="6E9EBF"/>
                </a:solidFill>
                <a:latin typeface="Cambria" pitchFamily="34" charset="0"/>
                <a:ea typeface="Cambria" pitchFamily="34" charset="-122"/>
                <a:cs typeface="Cambria" pitchFamily="34" charset="-120"/>
              </a:rPr>
              <a:t>03</a:t>
            </a:r>
            <a:endParaRPr lang="en-US" sz="1600" dirty="0"/>
          </a:p>
        </p:txBody>
      </p:sp>
      <p:sp>
        <p:nvSpPr>
          <p:cNvPr id="12" name="Text 10"/>
          <p:cNvSpPr txBox="1"/>
          <p:nvPr/>
        </p:nvSpPr>
        <p:spPr>
          <a:xfrm>
            <a:off x="1280160" y="2688336"/>
            <a:ext cx="6766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Are the PCDR and PCIR definitions different, or only the labels?</a:t>
            </a:r>
            <a:endParaRPr lang="en-US" sz="1450" dirty="0"/>
          </a:p>
        </p:txBody>
      </p:sp>
      <p:sp>
        <p:nvSpPr>
          <p:cNvPr id="13" name="Text 11"/>
          <p:cNvSpPr txBox="1"/>
          <p:nvPr/>
        </p:nvSpPr>
        <p:spPr>
          <a:xfrm>
            <a:off x="8138160" y="2688336"/>
            <a:ext cx="3383280" cy="457200"/>
          </a:xfrm>
          <a:prstGeom prst="rect">
            <a:avLst/>
          </a:prstGeom>
          <a:noFill/>
          <a:ln/>
        </p:spPr>
        <p:txBody>
          <a:bodyPr wrap="square" lIns="0" tIns="0" rIns="0" bIns="0" rtlCol="0" anchor="ctr"/>
          <a:lstStyle/>
          <a:p>
            <a:pPr indent="0" marL="0">
              <a:buNone/>
            </a:pPr>
            <a:r>
              <a:rPr lang="en-US" sz="1200" i="1" dirty="0">
                <a:solidFill>
                  <a:srgbClr val="9FC5DC"/>
                </a:solidFill>
                <a:latin typeface="Calibri" pitchFamily="34" charset="0"/>
                <a:ea typeface="Calibri" pitchFamily="34" charset="-122"/>
                <a:cs typeface="Calibri" pitchFamily="34" charset="-120"/>
              </a:rPr>
              <a:t>Ten-minute diff, decides the tree</a:t>
            </a:r>
            <a:endParaRPr lang="en-US" sz="1200" dirty="0"/>
          </a:p>
        </p:txBody>
      </p:sp>
      <p:sp>
        <p:nvSpPr>
          <p:cNvPr id="14" name="Text 12"/>
          <p:cNvSpPr txBox="1"/>
          <p:nvPr/>
        </p:nvSpPr>
        <p:spPr>
          <a:xfrm>
            <a:off x="640080" y="3346704"/>
            <a:ext cx="548640" cy="457200"/>
          </a:xfrm>
          <a:prstGeom prst="rect">
            <a:avLst/>
          </a:prstGeom>
          <a:noFill/>
          <a:ln/>
        </p:spPr>
        <p:txBody>
          <a:bodyPr wrap="square" lIns="0" tIns="0" rIns="0" bIns="0" rtlCol="0" anchor="ctr"/>
          <a:lstStyle/>
          <a:p>
            <a:pPr indent="0" marL="0">
              <a:buNone/>
            </a:pPr>
            <a:r>
              <a:rPr lang="en-US" sz="1600" b="1" dirty="0">
                <a:solidFill>
                  <a:srgbClr val="6E9EBF"/>
                </a:solidFill>
                <a:latin typeface="Cambria" pitchFamily="34" charset="0"/>
                <a:ea typeface="Cambria" pitchFamily="34" charset="-122"/>
                <a:cs typeface="Cambria" pitchFamily="34" charset="-120"/>
              </a:rPr>
              <a:t>04</a:t>
            </a:r>
            <a:endParaRPr lang="en-US" sz="1600" dirty="0"/>
          </a:p>
        </p:txBody>
      </p:sp>
      <p:sp>
        <p:nvSpPr>
          <p:cNvPr id="15" name="Text 13"/>
          <p:cNvSpPr txBox="1"/>
          <p:nvPr/>
        </p:nvSpPr>
        <p:spPr>
          <a:xfrm>
            <a:off x="1280160" y="3346704"/>
            <a:ext cx="6766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What does Tim mean by "top category"?</a:t>
            </a:r>
            <a:endParaRPr lang="en-US" sz="1450" dirty="0"/>
          </a:p>
        </p:txBody>
      </p:sp>
      <p:sp>
        <p:nvSpPr>
          <p:cNvPr id="16" name="Text 14"/>
          <p:cNvSpPr txBox="1"/>
          <p:nvPr/>
        </p:nvSpPr>
        <p:spPr>
          <a:xfrm>
            <a:off x="8138160" y="3346704"/>
            <a:ext cx="3383280" cy="457200"/>
          </a:xfrm>
          <a:prstGeom prst="rect">
            <a:avLst/>
          </a:prstGeom>
          <a:noFill/>
          <a:ln/>
        </p:spPr>
        <p:txBody>
          <a:bodyPr wrap="square" lIns="0" tIns="0" rIns="0" bIns="0" rtlCol="0" anchor="ctr"/>
          <a:lstStyle/>
          <a:p>
            <a:pPr indent="0" marL="0">
              <a:buNone/>
            </a:pPr>
            <a:r>
              <a:rPr lang="en-US" sz="1200" i="1" dirty="0">
                <a:solidFill>
                  <a:srgbClr val="9FC5DC"/>
                </a:solidFill>
                <a:latin typeface="Calibri" pitchFamily="34" charset="0"/>
                <a:ea typeface="Calibri" pitchFamily="34" charset="-122"/>
                <a:cs typeface="Calibri" pitchFamily="34" charset="-120"/>
              </a:rPr>
              <a:t>Most important reason, or something separate?</a:t>
            </a:r>
            <a:endParaRPr lang="en-US" sz="1200" dirty="0"/>
          </a:p>
        </p:txBody>
      </p:sp>
      <p:sp>
        <p:nvSpPr>
          <p:cNvPr id="17" name="Text 15"/>
          <p:cNvSpPr txBox="1"/>
          <p:nvPr/>
        </p:nvSpPr>
        <p:spPr>
          <a:xfrm>
            <a:off x="640080" y="4005072"/>
            <a:ext cx="548640" cy="457200"/>
          </a:xfrm>
          <a:prstGeom prst="rect">
            <a:avLst/>
          </a:prstGeom>
          <a:noFill/>
          <a:ln/>
        </p:spPr>
        <p:txBody>
          <a:bodyPr wrap="square" lIns="0" tIns="0" rIns="0" bIns="0" rtlCol="0" anchor="ctr"/>
          <a:lstStyle/>
          <a:p>
            <a:pPr indent="0" marL="0">
              <a:buNone/>
            </a:pPr>
            <a:r>
              <a:rPr lang="en-US" sz="1600" b="1" dirty="0">
                <a:solidFill>
                  <a:srgbClr val="6E9EBF"/>
                </a:solidFill>
                <a:latin typeface="Cambria" pitchFamily="34" charset="0"/>
                <a:ea typeface="Cambria" pitchFamily="34" charset="-122"/>
                <a:cs typeface="Cambria" pitchFamily="34" charset="-120"/>
              </a:rPr>
              <a:t>05</a:t>
            </a:r>
            <a:endParaRPr lang="en-US" sz="1600" dirty="0"/>
          </a:p>
        </p:txBody>
      </p:sp>
      <p:sp>
        <p:nvSpPr>
          <p:cNvPr id="18" name="Text 16"/>
          <p:cNvSpPr txBox="1"/>
          <p:nvPr/>
        </p:nvSpPr>
        <p:spPr>
          <a:xfrm>
            <a:off x="1280160" y="4005072"/>
            <a:ext cx="6766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Where are the manually labelled dispute/inquiry calls?</a:t>
            </a:r>
            <a:endParaRPr lang="en-US" sz="1450" dirty="0"/>
          </a:p>
        </p:txBody>
      </p:sp>
      <p:sp>
        <p:nvSpPr>
          <p:cNvPr id="19" name="Text 17"/>
          <p:cNvSpPr txBox="1"/>
          <p:nvPr/>
        </p:nvSpPr>
        <p:spPr>
          <a:xfrm>
            <a:off x="8138160" y="4005072"/>
            <a:ext cx="3383280" cy="457200"/>
          </a:xfrm>
          <a:prstGeom prst="rect">
            <a:avLst/>
          </a:prstGeom>
          <a:noFill/>
          <a:ln/>
        </p:spPr>
        <p:txBody>
          <a:bodyPr wrap="square" lIns="0" tIns="0" rIns="0" bIns="0" rtlCol="0" anchor="ctr"/>
          <a:lstStyle/>
          <a:p>
            <a:pPr indent="0" marL="0">
              <a:buNone/>
            </a:pPr>
            <a:r>
              <a:rPr lang="en-US" sz="1200" i="1" dirty="0">
                <a:solidFill>
                  <a:srgbClr val="9FC5DC"/>
                </a:solidFill>
                <a:latin typeface="Calibri" pitchFamily="34" charset="0"/>
                <a:ea typeface="Calibri" pitchFamily="34" charset="-122"/>
                <a:cs typeface="Calibri" pitchFamily="34" charset="-120"/>
              </a:rPr>
              <a:t>That is our accuracy check</a:t>
            </a:r>
            <a:endParaRPr lang="en-US" sz="1200" dirty="0"/>
          </a:p>
        </p:txBody>
      </p:sp>
      <p:sp>
        <p:nvSpPr>
          <p:cNvPr id="20" name="Text 18"/>
          <p:cNvSpPr txBox="1"/>
          <p:nvPr/>
        </p:nvSpPr>
        <p:spPr>
          <a:xfrm>
            <a:off x="640080" y="4663440"/>
            <a:ext cx="548640" cy="457200"/>
          </a:xfrm>
          <a:prstGeom prst="rect">
            <a:avLst/>
          </a:prstGeom>
          <a:noFill/>
          <a:ln/>
        </p:spPr>
        <p:txBody>
          <a:bodyPr wrap="square" lIns="0" tIns="0" rIns="0" bIns="0" rtlCol="0" anchor="ctr"/>
          <a:lstStyle/>
          <a:p>
            <a:pPr indent="0" marL="0">
              <a:buNone/>
            </a:pPr>
            <a:r>
              <a:rPr lang="en-US" sz="1600" b="1" dirty="0">
                <a:solidFill>
                  <a:srgbClr val="6E9EBF"/>
                </a:solidFill>
                <a:latin typeface="Cambria" pitchFamily="34" charset="0"/>
                <a:ea typeface="Cambria" pitchFamily="34" charset="-122"/>
                <a:cs typeface="Cambria" pitchFamily="34" charset="-120"/>
              </a:rPr>
              <a:t>06</a:t>
            </a:r>
            <a:endParaRPr lang="en-US" sz="1600" dirty="0"/>
          </a:p>
        </p:txBody>
      </p:sp>
      <p:sp>
        <p:nvSpPr>
          <p:cNvPr id="21" name="Text 19"/>
          <p:cNvSpPr txBox="1"/>
          <p:nvPr/>
        </p:nvSpPr>
        <p:spPr>
          <a:xfrm>
            <a:off x="1280160" y="4663440"/>
            <a:ext cx="6766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What happens when the AI is wrong?</a:t>
            </a:r>
            <a:endParaRPr lang="en-US" sz="1450" dirty="0"/>
          </a:p>
        </p:txBody>
      </p:sp>
      <p:sp>
        <p:nvSpPr>
          <p:cNvPr id="22" name="Text 20"/>
          <p:cNvSpPr txBox="1"/>
          <p:nvPr/>
        </p:nvSpPr>
        <p:spPr>
          <a:xfrm>
            <a:off x="8138160" y="4663440"/>
            <a:ext cx="3383280" cy="457200"/>
          </a:xfrm>
          <a:prstGeom prst="rect">
            <a:avLst/>
          </a:prstGeom>
          <a:noFill/>
          <a:ln/>
        </p:spPr>
        <p:txBody>
          <a:bodyPr wrap="square" lIns="0" tIns="0" rIns="0" bIns="0" rtlCol="0" anchor="ctr"/>
          <a:lstStyle/>
          <a:p>
            <a:pPr indent="0" marL="0">
              <a:buNone/>
            </a:pPr>
            <a:r>
              <a:rPr lang="en-US" sz="1200" i="1" dirty="0">
                <a:solidFill>
                  <a:srgbClr val="9FC5DC"/>
                </a:solidFill>
                <a:latin typeface="Calibri" pitchFamily="34" charset="0"/>
                <a:ea typeface="Calibri" pitchFamily="34" charset="-122"/>
                <a:cs typeface="Calibri" pitchFamily="34" charset="-120"/>
              </a:rPr>
              <a:t>Nothing records a human correction today</a:t>
            </a:r>
            <a:endParaRPr lang="en-US" sz="1200" dirty="0"/>
          </a:p>
        </p:txBody>
      </p:sp>
      <p:sp>
        <p:nvSpPr>
          <p:cNvPr id="23" name="Text 21"/>
          <p:cNvSpPr txBox="1"/>
          <p:nvPr/>
        </p:nvSpPr>
        <p:spPr>
          <a:xfrm>
            <a:off x="640080" y="5760720"/>
            <a:ext cx="10241280" cy="457200"/>
          </a:xfrm>
          <a:prstGeom prst="rect">
            <a:avLst/>
          </a:prstGeom>
          <a:noFill/>
          <a:ln/>
        </p:spPr>
        <p:txBody>
          <a:bodyPr wrap="square" lIns="0" tIns="0" rIns="0" bIns="0" rtlCol="0" anchor="ctr"/>
          <a:lstStyle/>
          <a:p>
            <a:pPr indent="0" marL="0">
              <a:buNone/>
            </a:pPr>
            <a:r>
              <a:rPr lang="en-US" sz="1600" i="1" dirty="0">
                <a:solidFill>
                  <a:srgbClr val="C9DDE9"/>
                </a:solidFill>
                <a:latin typeface="Cambria" pitchFamily="34" charset="0"/>
                <a:ea typeface="Cambria" pitchFamily="34" charset="-122"/>
                <a:cs typeface="Cambria" pitchFamily="34" charset="-120"/>
              </a:rPr>
              <a:t>Next: load these tables in the demo database, run the test queries, then take it to Tim and Wendy.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 Analytics — Categorization Model</dc:title>
  <dc:subject>PptxGenJS Presentation</dc:subject>
  <dc:creator>Call Analytics</dc:creator>
  <cp:lastModifiedBy>Call Analytics</cp:lastModifiedBy>
  <cp:revision>1</cp:revision>
  <dcterms:created xsi:type="dcterms:W3CDTF">2026-09-10T15:15:17Z</dcterms:created>
  <dcterms:modified xsi:type="dcterms:W3CDTF">2026-09-10T15:15:17Z</dcterms:modified>
</cp:coreProperties>
</file>