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b07f66f-f942-6038-8ddf-c1b42c99eca3}">
          <p14:sldIdLst>
            <p14:sldId id="256"/>
            <p14:sldId id="257"/>
          </p14:sldIdLst>
        </p14:section>
        <p14:section name="Scope for funding" id="{08d852e4-84c8-1da1-cd53-9f1a2a754252}">
          <p14:sldIdLst>
            <p14:sldId id="258"/>
            <p14:sldId id="259"/>
          </p14:sldIdLst>
        </p14:section>
        <p14:section name="Future direction" id="{18ff6981-4dc4-f522-e3ae-1613ada01670}">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agree what the business gets from each release, and approve funding for R0, R1 and R1.5.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funded releases on the left; R2 to R4 are direction only and will be re-scoped after R1.5.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 is groundwork; R1 is the first business value; R1.5 checks our category list against real calls. Each column ends with its completion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options need no further build. The last one is the path into R2.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only. Each would be re-scoped after R1.5 based on what R1 and R1.5 show and the tools available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0058400" cy="1188720"/>
          </a:xfrm>
          <a:prstGeom prst="rect">
            <a:avLst/>
          </a:prstGeom>
          <a:noFill/>
          <a:ln/>
        </p:spPr>
        <p:txBody>
          <a:bodyPr wrap="square" rtlCol="0"/>
          <a:lstStyle>
            <a:lvl1pPr algn="l" indent="0" marL="0">
              <a:buNone/>
              <a:defRPr lang="en-US" sz="4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548640" y="3520440"/>
            <a:ext cx="10058400" cy="1097280"/>
          </a:xfrm>
          <a:prstGeom prst="rect">
            <a:avLst/>
          </a:prstGeom>
          <a:noFill/>
          <a:ln/>
        </p:spPr>
        <p:txBody>
          <a:bodyPr wrap="square" rtlCol="0"/>
          <a:lstStyle>
            <a:lvl1pPr algn="l" indent="0" marL="0">
              <a:buNone/>
              <a:defRPr lang="en-US" sz="2200" dirty="0">
                <a:solidFill>
                  <a:schemeClr val="tx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46520"/>
            <a:ext cx="2743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Call Analysis</a:t>
            </a:r>
            <a:endParaRPr lang="en-US" sz="10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0058400" cy="1188720"/>
          </a:xfrm>
          <a:prstGeom prst="rect">
            <a:avLst/>
          </a:prstGeom>
          <a:noFill/>
          <a:ln/>
        </p:spPr>
        <p:txBody>
          <a:bodyPr wrap="square" lIns="0" tIns="0" rIns="0" bIns="0" rtlCol="0" anchor="b"/>
          <a:lstStyle/>
          <a:p>
            <a:pPr algn="l" indent="0" marL="0">
              <a:buNone/>
            </a:pPr>
            <a:r>
              <a:rPr lang="en-US" sz="4800" b="1" dirty="0">
                <a:solidFill>
                  <a:schemeClr val="tx2"/>
                </a:solidFill>
                <a:latin typeface="Cambria" pitchFamily="34" charset="0"/>
                <a:ea typeface="Cambria" pitchFamily="34" charset="-122"/>
                <a:cs typeface="Cambria" pitchFamily="34" charset="-120"/>
              </a:rPr>
              <a:t>Call Analysis</a:t>
            </a:r>
            <a:endParaRPr lang="en-US" sz="4800" dirty="0"/>
          </a:p>
        </p:txBody>
      </p:sp>
      <p:sp>
        <p:nvSpPr>
          <p:cNvPr id="3" name="Text 0"/>
          <p:cNvSpPr/>
          <p:nvPr>
            <p:ph idx="101" type="body" hasCustomPrompt="1"/>
          </p:nvPr>
        </p:nvSpPr>
        <p:spPr>
          <a:xfrm>
            <a:off x="548640" y="3520440"/>
            <a:ext cx="10058400" cy="1097280"/>
          </a:xfrm>
          <a:prstGeom prst="rect">
            <a:avLst/>
          </a:prstGeom>
          <a:noFill/>
          <a:ln/>
        </p:spPr>
        <p:txBody>
          <a:bodyPr wrap="square" lIns="0" tIns="0" rIns="0" bIns="0" rtlCol="0" anchor="t"/>
          <a:lstStyle/>
          <a:p>
            <a:pPr algn="l" indent="0" marL="0">
              <a:buNone/>
            </a:pPr>
            <a:r>
              <a:rPr lang="en-US" sz="2200" dirty="0">
                <a:solidFill>
                  <a:schemeClr val="tx1"/>
                </a:solidFill>
                <a:latin typeface="Calibri" pitchFamily="34" charset="0"/>
                <a:ea typeface="Calibri" pitchFamily="34" charset="-122"/>
                <a:cs typeface="Calibri" pitchFamily="34" charset="-120"/>
              </a:rPr>
              <a:t>What the business gets from each release</a:t>
            </a:r>
            <a:endParaRPr lang="en-US" sz="2200" dirty="0"/>
          </a:p>
          <a:p>
            <a:pPr algn="l" indent="0" marL="0">
              <a:buNone/>
            </a:pPr>
            <a:r>
              <a:rPr lang="en-US" sz="2200" dirty="0">
                <a:solidFill>
                  <a:schemeClr val="tx1"/>
                </a:solidFill>
                <a:latin typeface="Calibri" pitchFamily="34" charset="0"/>
                <a:ea typeface="Calibri" pitchFamily="34" charset="-122"/>
                <a:cs typeface="Calibri" pitchFamily="34" charset="-120"/>
              </a:rPr>
              <a:t>Ask: fund R0, R1 and R1.5, then reassess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Roadmap at a glance</a:t>
            </a:r>
            <a:endParaRPr lang="en-US" sz="3200" dirty="0"/>
          </a:p>
        </p:txBody>
      </p:sp>
      <p:sp>
        <p:nvSpPr>
          <p:cNvPr id="3" name="Funding group"/>
          <p:cNvSpPr/>
          <p:nvPr/>
        </p:nvSpPr>
        <p:spPr>
          <a:xfrm>
            <a:off x="457200" y="1371600"/>
            <a:ext cx="5568696" cy="3749040"/>
          </a:xfrm>
          <a:prstGeom prst="roundRect">
            <a:avLst>
              <a:gd name="adj" fmla="val 2927"/>
            </a:avLst>
          </a:prstGeom>
          <a:solidFill>
            <a:schemeClr val="accent5"/>
          </a:solidFill>
          <a:ln/>
        </p:spPr>
      </p:sp>
      <p:sp>
        <p:nvSpPr>
          <p:cNvPr id="4" name="Text 2"/>
          <p:cNvSpPr txBox="1"/>
          <p:nvPr/>
        </p:nvSpPr>
        <p:spPr>
          <a:xfrm>
            <a:off x="548640" y="1463040"/>
            <a:ext cx="5385816" cy="411480"/>
          </a:xfrm>
          <a:prstGeom prst="rect">
            <a:avLst/>
          </a:prstGeom>
          <a:noFill/>
          <a:ln/>
        </p:spPr>
        <p:txBody>
          <a:bodyPr wrap="square" lIns="0" tIns="0" rIns="0" bIns="0" rtlCol="0" anchor="ctr"/>
          <a:lstStyle/>
          <a:p>
            <a:pPr indent="0" marL="0">
              <a:buNone/>
            </a:pPr>
            <a:r>
              <a:rPr lang="en-US" sz="1600" b="1" dirty="0">
                <a:solidFill>
                  <a:schemeClr val="tx2"/>
                </a:solidFill>
              </a:rPr>
              <a:t>Scope for funding</a:t>
            </a:r>
            <a:endParaRPr lang="en-US" sz="1600" dirty="0"/>
          </a:p>
        </p:txBody>
      </p:sp>
      <p:sp>
        <p:nvSpPr>
          <p:cNvPr id="5" name="Future group"/>
          <p:cNvSpPr/>
          <p:nvPr/>
        </p:nvSpPr>
        <p:spPr>
          <a:xfrm>
            <a:off x="6345936" y="1371600"/>
            <a:ext cx="5568696" cy="3749040"/>
          </a:xfrm>
          <a:prstGeom prst="roundRect">
            <a:avLst>
              <a:gd name="adj" fmla="val 2927"/>
            </a:avLst>
          </a:prstGeom>
          <a:solidFill>
            <a:schemeClr val="accent6"/>
          </a:solidFill>
          <a:ln/>
        </p:spPr>
      </p:sp>
      <p:sp>
        <p:nvSpPr>
          <p:cNvPr id="6" name="Text 4"/>
          <p:cNvSpPr txBox="1"/>
          <p:nvPr/>
        </p:nvSpPr>
        <p:spPr>
          <a:xfrm>
            <a:off x="6437376" y="1463040"/>
            <a:ext cx="5385816" cy="411480"/>
          </a:xfrm>
          <a:prstGeom prst="rect">
            <a:avLst/>
          </a:prstGeom>
          <a:noFill/>
          <a:ln/>
        </p:spPr>
        <p:txBody>
          <a:bodyPr wrap="square" lIns="0" tIns="0" rIns="0" bIns="0" rtlCol="0" anchor="ctr"/>
          <a:lstStyle/>
          <a:p>
            <a:pPr indent="0" marL="0">
              <a:buNone/>
            </a:pPr>
            <a:r>
              <a:rPr lang="en-US" sz="1600" b="1" dirty="0">
                <a:solidFill>
                  <a:schemeClr val="accent4"/>
                </a:solidFill>
              </a:rPr>
              <a:t>Future direction (not estimated)</a:t>
            </a:r>
            <a:endParaRPr lang="en-US" sz="1600" dirty="0"/>
          </a:p>
        </p:txBody>
      </p:sp>
      <p:sp>
        <p:nvSpPr>
          <p:cNvPr id="7" name="Card R0"/>
          <p:cNvSpPr/>
          <p:nvPr/>
        </p:nvSpPr>
        <p:spPr>
          <a:xfrm>
            <a:off x="548640" y="2148840"/>
            <a:ext cx="1691640" cy="2788920"/>
          </a:xfrm>
          <a:prstGeom prst="roundRect">
            <a:avLst>
              <a:gd name="adj" fmla="val 5405"/>
            </a:avLst>
          </a:prstGeom>
          <a:solidFill>
            <a:schemeClr val="bg1"/>
          </a:solidFill>
          <a:ln w="12700">
            <a:solidFill>
              <a:schemeClr val="accent1"/>
            </a:solidFill>
            <a:prstDash val="solid"/>
          </a:ln>
        </p:spPr>
      </p:sp>
      <p:sp>
        <p:nvSpPr>
          <p:cNvPr id="8" name="Icon bg R0"/>
          <p:cNvSpPr/>
          <p:nvPr/>
        </p:nvSpPr>
        <p:spPr>
          <a:xfrm>
            <a:off x="1051560" y="2377440"/>
            <a:ext cx="685800" cy="685800"/>
          </a:xfrm>
          <a:prstGeom prst="ellipse">
            <a:avLst/>
          </a:prstGeom>
          <a:solidFill>
            <a:schemeClr val="accent1"/>
          </a:solidFill>
          <a:ln/>
        </p:spPr>
      </p:sp>
      <p:pic>
        <p:nvPicPr>
          <p:cNvPr id="9" name="Image 0" descr="preencoded.png">    </p:cNvPr>
          <p:cNvPicPr>
            <a:picLocks noChangeAspect="1"/>
          </p:cNvPicPr>
          <p:nvPr/>
        </p:nvPicPr>
        <p:blipFill>
          <a:blip r:embed="rId1"/>
          <a:stretch>
            <a:fillRect/>
          </a:stretch>
        </p:blipFill>
        <p:spPr>
          <a:xfrm>
            <a:off x="1211580" y="2537460"/>
            <a:ext cx="365760" cy="365760"/>
          </a:xfrm>
          <a:prstGeom prst="rect">
            <a:avLst/>
          </a:prstGeom>
        </p:spPr>
      </p:pic>
      <p:sp>
        <p:nvSpPr>
          <p:cNvPr id="10" name="Text 7"/>
          <p:cNvSpPr txBox="1"/>
          <p:nvPr/>
        </p:nvSpPr>
        <p:spPr>
          <a:xfrm>
            <a:off x="548640" y="3246120"/>
            <a:ext cx="1691640" cy="457200"/>
          </a:xfrm>
          <a:prstGeom prst="rect">
            <a:avLst/>
          </a:prstGeom>
          <a:noFill/>
          <a:ln/>
        </p:spPr>
        <p:txBody>
          <a:bodyPr wrap="square" lIns="0" tIns="0" rIns="0" bIns="0" rtlCol="0" anchor="ctr"/>
          <a:lstStyle/>
          <a:p>
            <a:pPr algn="ctr" indent="0" marL="0">
              <a:buNone/>
            </a:pPr>
            <a:r>
              <a:rPr lang="en-US" sz="2400" b="1" dirty="0">
                <a:solidFill>
                  <a:schemeClr val="tx2"/>
                </a:solidFill>
                <a:latin typeface="Cambria" pitchFamily="34" charset="0"/>
                <a:ea typeface="Cambria" pitchFamily="34" charset="-122"/>
                <a:cs typeface="Cambria" pitchFamily="34" charset="-120"/>
              </a:rPr>
              <a:t>R0</a:t>
            </a:r>
            <a:endParaRPr lang="en-US" sz="2400" dirty="0"/>
          </a:p>
        </p:txBody>
      </p:sp>
      <p:sp>
        <p:nvSpPr>
          <p:cNvPr id="11" name="Text 8"/>
          <p:cNvSpPr txBox="1"/>
          <p:nvPr/>
        </p:nvSpPr>
        <p:spPr>
          <a:xfrm>
            <a:off x="658368" y="3749040"/>
            <a:ext cx="1472184" cy="1097280"/>
          </a:xfrm>
          <a:prstGeom prst="rect">
            <a:avLst/>
          </a:prstGeom>
          <a:noFill/>
          <a:ln/>
        </p:spPr>
        <p:txBody>
          <a:bodyPr wrap="square" lIns="0" tIns="0" rIns="0" bIns="0" rtlCol="0" anchor="t"/>
          <a:lstStyle/>
          <a:p>
            <a:pPr algn="ctr" indent="0" marL="0">
              <a:buNone/>
            </a:pPr>
            <a:r>
              <a:rPr lang="en-US" sz="1500" dirty="0">
                <a:solidFill>
                  <a:schemeClr val="tx1"/>
                </a:solidFill>
              </a:rPr>
              <a:t>Groundwork</a:t>
            </a:r>
            <a:endParaRPr lang="en-US" sz="1500" dirty="0"/>
          </a:p>
        </p:txBody>
      </p:sp>
      <p:sp>
        <p:nvSpPr>
          <p:cNvPr id="12" name="Card R1"/>
          <p:cNvSpPr/>
          <p:nvPr/>
        </p:nvSpPr>
        <p:spPr>
          <a:xfrm>
            <a:off x="2395728" y="2148840"/>
            <a:ext cx="1691640" cy="2788920"/>
          </a:xfrm>
          <a:prstGeom prst="roundRect">
            <a:avLst>
              <a:gd name="adj" fmla="val 5405"/>
            </a:avLst>
          </a:prstGeom>
          <a:solidFill>
            <a:schemeClr val="bg1"/>
          </a:solidFill>
          <a:ln w="12700">
            <a:solidFill>
              <a:schemeClr val="accent1"/>
            </a:solidFill>
            <a:prstDash val="solid"/>
          </a:ln>
        </p:spPr>
      </p:sp>
      <p:sp>
        <p:nvSpPr>
          <p:cNvPr id="13" name="Icon bg R1"/>
          <p:cNvSpPr/>
          <p:nvPr/>
        </p:nvSpPr>
        <p:spPr>
          <a:xfrm>
            <a:off x="2898648" y="2377440"/>
            <a:ext cx="685800" cy="685800"/>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3058668" y="2537460"/>
            <a:ext cx="365760" cy="365760"/>
          </a:xfrm>
          <a:prstGeom prst="rect">
            <a:avLst/>
          </a:prstGeom>
        </p:spPr>
      </p:pic>
      <p:sp>
        <p:nvSpPr>
          <p:cNvPr id="15" name="Text 11"/>
          <p:cNvSpPr txBox="1"/>
          <p:nvPr/>
        </p:nvSpPr>
        <p:spPr>
          <a:xfrm>
            <a:off x="2395728" y="3246120"/>
            <a:ext cx="1691640" cy="457200"/>
          </a:xfrm>
          <a:prstGeom prst="rect">
            <a:avLst/>
          </a:prstGeom>
          <a:noFill/>
          <a:ln/>
        </p:spPr>
        <p:txBody>
          <a:bodyPr wrap="square" lIns="0" tIns="0" rIns="0" bIns="0" rtlCol="0" anchor="ctr"/>
          <a:lstStyle/>
          <a:p>
            <a:pPr algn="ctr" indent="0" marL="0">
              <a:buNone/>
            </a:pPr>
            <a:r>
              <a:rPr lang="en-US" sz="2400" b="1" dirty="0">
                <a:solidFill>
                  <a:schemeClr val="tx2"/>
                </a:solidFill>
                <a:latin typeface="Cambria" pitchFamily="34" charset="0"/>
                <a:ea typeface="Cambria" pitchFamily="34" charset="-122"/>
                <a:cs typeface="Cambria" pitchFamily="34" charset="-120"/>
              </a:rPr>
              <a:t>R1</a:t>
            </a:r>
            <a:endParaRPr lang="en-US" sz="2400" dirty="0"/>
          </a:p>
        </p:txBody>
      </p:sp>
      <p:sp>
        <p:nvSpPr>
          <p:cNvPr id="16" name="Text 12"/>
          <p:cNvSpPr txBox="1"/>
          <p:nvPr/>
        </p:nvSpPr>
        <p:spPr>
          <a:xfrm>
            <a:off x="2505456" y="3749040"/>
            <a:ext cx="1472184" cy="1097280"/>
          </a:xfrm>
          <a:prstGeom prst="rect">
            <a:avLst/>
          </a:prstGeom>
          <a:noFill/>
          <a:ln/>
        </p:spPr>
        <p:txBody>
          <a:bodyPr wrap="square" lIns="0" tIns="0" rIns="0" bIns="0" rtlCol="0" anchor="t"/>
          <a:lstStyle/>
          <a:p>
            <a:pPr algn="ctr" indent="0" marL="0">
              <a:buNone/>
            </a:pPr>
            <a:r>
              <a:rPr lang="en-US" sz="1500" dirty="0">
                <a:solidFill>
                  <a:schemeClr val="tx1"/>
                </a:solidFill>
              </a:rPr>
              <a:t>Every call categorized</a:t>
            </a:r>
            <a:endParaRPr lang="en-US" sz="1500" dirty="0"/>
          </a:p>
        </p:txBody>
      </p:sp>
      <p:sp>
        <p:nvSpPr>
          <p:cNvPr id="17" name="Card R1.5"/>
          <p:cNvSpPr/>
          <p:nvPr/>
        </p:nvSpPr>
        <p:spPr>
          <a:xfrm>
            <a:off x="4242816" y="2148840"/>
            <a:ext cx="1691640" cy="2788920"/>
          </a:xfrm>
          <a:prstGeom prst="roundRect">
            <a:avLst>
              <a:gd name="adj" fmla="val 5405"/>
            </a:avLst>
          </a:prstGeom>
          <a:solidFill>
            <a:schemeClr val="bg1"/>
          </a:solidFill>
          <a:ln w="12700">
            <a:solidFill>
              <a:schemeClr val="accent1"/>
            </a:solidFill>
            <a:prstDash val="solid"/>
          </a:ln>
        </p:spPr>
      </p:sp>
      <p:sp>
        <p:nvSpPr>
          <p:cNvPr id="18" name="Icon bg R1.5"/>
          <p:cNvSpPr/>
          <p:nvPr/>
        </p:nvSpPr>
        <p:spPr>
          <a:xfrm>
            <a:off x="4745736" y="2377440"/>
            <a:ext cx="685800" cy="685800"/>
          </a:xfrm>
          <a:prstGeom prst="ellipse">
            <a:avLst/>
          </a:prstGeom>
          <a:solidFill>
            <a:schemeClr val="accent1"/>
          </a:solidFill>
          <a:ln/>
        </p:spPr>
      </p:sp>
      <p:pic>
        <p:nvPicPr>
          <p:cNvPr id="19" name="Image 2" descr="preencoded.png">    </p:cNvPr>
          <p:cNvPicPr>
            <a:picLocks noChangeAspect="1"/>
          </p:cNvPicPr>
          <p:nvPr/>
        </p:nvPicPr>
        <p:blipFill>
          <a:blip r:embed="rId3"/>
          <a:stretch>
            <a:fillRect/>
          </a:stretch>
        </p:blipFill>
        <p:spPr>
          <a:xfrm>
            <a:off x="4905756" y="2537460"/>
            <a:ext cx="365760" cy="365760"/>
          </a:xfrm>
          <a:prstGeom prst="rect">
            <a:avLst/>
          </a:prstGeom>
        </p:spPr>
      </p:pic>
      <p:sp>
        <p:nvSpPr>
          <p:cNvPr id="20" name="Text 15"/>
          <p:cNvSpPr txBox="1"/>
          <p:nvPr/>
        </p:nvSpPr>
        <p:spPr>
          <a:xfrm>
            <a:off x="4242816" y="3246120"/>
            <a:ext cx="1691640" cy="457200"/>
          </a:xfrm>
          <a:prstGeom prst="rect">
            <a:avLst/>
          </a:prstGeom>
          <a:noFill/>
          <a:ln/>
        </p:spPr>
        <p:txBody>
          <a:bodyPr wrap="square" lIns="0" tIns="0" rIns="0" bIns="0" rtlCol="0" anchor="ctr"/>
          <a:lstStyle/>
          <a:p>
            <a:pPr algn="ctr" indent="0" marL="0">
              <a:buNone/>
            </a:pPr>
            <a:r>
              <a:rPr lang="en-US" sz="2400" b="1" dirty="0">
                <a:solidFill>
                  <a:schemeClr val="tx2"/>
                </a:solidFill>
                <a:latin typeface="Cambria" pitchFamily="34" charset="0"/>
                <a:ea typeface="Cambria" pitchFamily="34" charset="-122"/>
                <a:cs typeface="Cambria" pitchFamily="34" charset="-120"/>
              </a:rPr>
              <a:t>R1.5</a:t>
            </a:r>
            <a:endParaRPr lang="en-US" sz="2400" dirty="0"/>
          </a:p>
        </p:txBody>
      </p:sp>
      <p:sp>
        <p:nvSpPr>
          <p:cNvPr id="21" name="Text 16"/>
          <p:cNvSpPr txBox="1"/>
          <p:nvPr/>
        </p:nvSpPr>
        <p:spPr>
          <a:xfrm>
            <a:off x="4352544" y="3749040"/>
            <a:ext cx="1472184" cy="1097280"/>
          </a:xfrm>
          <a:prstGeom prst="rect">
            <a:avLst/>
          </a:prstGeom>
          <a:noFill/>
          <a:ln/>
        </p:spPr>
        <p:txBody>
          <a:bodyPr wrap="square" lIns="0" tIns="0" rIns="0" bIns="0" rtlCol="0" anchor="t"/>
          <a:lstStyle/>
          <a:p>
            <a:pPr algn="ctr" indent="0" marL="0">
              <a:buNone/>
            </a:pPr>
            <a:r>
              <a:rPr lang="en-US" sz="1500" dirty="0">
                <a:solidFill>
                  <a:schemeClr val="tx1"/>
                </a:solidFill>
              </a:rPr>
              <a:t>Category discovery</a:t>
            </a:r>
            <a:endParaRPr lang="en-US" sz="1500" dirty="0"/>
          </a:p>
        </p:txBody>
      </p:sp>
      <p:sp>
        <p:nvSpPr>
          <p:cNvPr id="22" name="Card R2"/>
          <p:cNvSpPr/>
          <p:nvPr/>
        </p:nvSpPr>
        <p:spPr>
          <a:xfrm>
            <a:off x="6437376" y="2148840"/>
            <a:ext cx="1691640" cy="2788920"/>
          </a:xfrm>
          <a:prstGeom prst="roundRect">
            <a:avLst>
              <a:gd name="adj" fmla="val 5405"/>
            </a:avLst>
          </a:prstGeom>
          <a:solidFill>
            <a:schemeClr val="bg1"/>
          </a:solidFill>
          <a:ln w="12700">
            <a:solidFill>
              <a:schemeClr val="accent4"/>
            </a:solidFill>
            <a:prstDash val="solid"/>
          </a:ln>
        </p:spPr>
      </p:sp>
      <p:sp>
        <p:nvSpPr>
          <p:cNvPr id="23" name="Icon bg R2"/>
          <p:cNvSpPr/>
          <p:nvPr/>
        </p:nvSpPr>
        <p:spPr>
          <a:xfrm>
            <a:off x="6940296" y="2377440"/>
            <a:ext cx="685800" cy="685800"/>
          </a:xfrm>
          <a:prstGeom prst="ellipse">
            <a:avLst/>
          </a:prstGeom>
          <a:solidFill>
            <a:schemeClr val="accent4"/>
          </a:solidFill>
          <a:ln/>
        </p:spPr>
      </p:sp>
      <p:pic>
        <p:nvPicPr>
          <p:cNvPr id="24" name="Image 3" descr="preencoded.png">    </p:cNvPr>
          <p:cNvPicPr>
            <a:picLocks noChangeAspect="1"/>
          </p:cNvPicPr>
          <p:nvPr/>
        </p:nvPicPr>
        <p:blipFill>
          <a:blip r:embed="rId4"/>
          <a:stretch>
            <a:fillRect/>
          </a:stretch>
        </p:blipFill>
        <p:spPr>
          <a:xfrm>
            <a:off x="7100316" y="2537460"/>
            <a:ext cx="365760" cy="365760"/>
          </a:xfrm>
          <a:prstGeom prst="rect">
            <a:avLst/>
          </a:prstGeom>
        </p:spPr>
      </p:pic>
      <p:sp>
        <p:nvSpPr>
          <p:cNvPr id="25" name="Text 19"/>
          <p:cNvSpPr txBox="1"/>
          <p:nvPr/>
        </p:nvSpPr>
        <p:spPr>
          <a:xfrm>
            <a:off x="6437376" y="3246120"/>
            <a:ext cx="1691640" cy="457200"/>
          </a:xfrm>
          <a:prstGeom prst="rect">
            <a:avLst/>
          </a:prstGeom>
          <a:noFill/>
          <a:ln/>
        </p:spPr>
        <p:txBody>
          <a:bodyPr wrap="square" lIns="0" tIns="0" rIns="0" bIns="0" rtlCol="0" anchor="ctr"/>
          <a:lstStyle/>
          <a:p>
            <a:pPr algn="ctr" indent="0" marL="0">
              <a:buNone/>
            </a:pPr>
            <a:r>
              <a:rPr lang="en-US" sz="2400" b="1" dirty="0">
                <a:solidFill>
                  <a:schemeClr val="accent4"/>
                </a:solidFill>
                <a:latin typeface="Cambria" pitchFamily="34" charset="0"/>
                <a:ea typeface="Cambria" pitchFamily="34" charset="-122"/>
                <a:cs typeface="Cambria" pitchFamily="34" charset="-120"/>
              </a:rPr>
              <a:t>R2</a:t>
            </a:r>
            <a:endParaRPr lang="en-US" sz="2400" dirty="0"/>
          </a:p>
        </p:txBody>
      </p:sp>
      <p:sp>
        <p:nvSpPr>
          <p:cNvPr id="26" name="Text 20"/>
          <p:cNvSpPr txBox="1"/>
          <p:nvPr/>
        </p:nvSpPr>
        <p:spPr>
          <a:xfrm>
            <a:off x="6547104" y="3749040"/>
            <a:ext cx="1472184" cy="1097280"/>
          </a:xfrm>
          <a:prstGeom prst="rect">
            <a:avLst/>
          </a:prstGeom>
          <a:noFill/>
          <a:ln/>
        </p:spPr>
        <p:txBody>
          <a:bodyPr wrap="square" lIns="0" tIns="0" rIns="0" bIns="0" rtlCol="0" anchor="t"/>
          <a:lstStyle/>
          <a:p>
            <a:pPr algn="ctr" indent="0" marL="0">
              <a:buNone/>
            </a:pPr>
            <a:r>
              <a:rPr lang="en-US" sz="1500" dirty="0">
                <a:solidFill>
                  <a:schemeClr val="tx1"/>
                </a:solidFill>
              </a:rPr>
              <a:t>Drill-down detail and dashboard</a:t>
            </a:r>
            <a:endParaRPr lang="en-US" sz="1500" dirty="0"/>
          </a:p>
        </p:txBody>
      </p:sp>
      <p:sp>
        <p:nvSpPr>
          <p:cNvPr id="27" name="Card R3"/>
          <p:cNvSpPr/>
          <p:nvPr/>
        </p:nvSpPr>
        <p:spPr>
          <a:xfrm>
            <a:off x="8284464" y="2148840"/>
            <a:ext cx="1691640" cy="2788920"/>
          </a:xfrm>
          <a:prstGeom prst="roundRect">
            <a:avLst>
              <a:gd name="adj" fmla="val 5405"/>
            </a:avLst>
          </a:prstGeom>
          <a:solidFill>
            <a:schemeClr val="bg1"/>
          </a:solidFill>
          <a:ln w="12700">
            <a:solidFill>
              <a:schemeClr val="accent4"/>
            </a:solidFill>
            <a:prstDash val="solid"/>
          </a:ln>
        </p:spPr>
      </p:sp>
      <p:sp>
        <p:nvSpPr>
          <p:cNvPr id="28" name="Icon bg R3"/>
          <p:cNvSpPr/>
          <p:nvPr/>
        </p:nvSpPr>
        <p:spPr>
          <a:xfrm>
            <a:off x="8787384" y="2377440"/>
            <a:ext cx="685800" cy="685800"/>
          </a:xfrm>
          <a:prstGeom prst="ellipse">
            <a:avLst/>
          </a:prstGeom>
          <a:solidFill>
            <a:schemeClr val="accent4"/>
          </a:solidFill>
          <a:ln/>
        </p:spPr>
      </p:sp>
      <p:pic>
        <p:nvPicPr>
          <p:cNvPr id="29" name="Image 4" descr="preencoded.png">    </p:cNvPr>
          <p:cNvPicPr>
            <a:picLocks noChangeAspect="1"/>
          </p:cNvPicPr>
          <p:nvPr/>
        </p:nvPicPr>
        <p:blipFill>
          <a:blip r:embed="rId5"/>
          <a:stretch>
            <a:fillRect/>
          </a:stretch>
        </p:blipFill>
        <p:spPr>
          <a:xfrm>
            <a:off x="8947404" y="2537460"/>
            <a:ext cx="365760" cy="365760"/>
          </a:xfrm>
          <a:prstGeom prst="rect">
            <a:avLst/>
          </a:prstGeom>
        </p:spPr>
      </p:pic>
      <p:sp>
        <p:nvSpPr>
          <p:cNvPr id="30" name="Text 23"/>
          <p:cNvSpPr txBox="1"/>
          <p:nvPr/>
        </p:nvSpPr>
        <p:spPr>
          <a:xfrm>
            <a:off x="8284464" y="3246120"/>
            <a:ext cx="1691640" cy="457200"/>
          </a:xfrm>
          <a:prstGeom prst="rect">
            <a:avLst/>
          </a:prstGeom>
          <a:noFill/>
          <a:ln/>
        </p:spPr>
        <p:txBody>
          <a:bodyPr wrap="square" lIns="0" tIns="0" rIns="0" bIns="0" rtlCol="0" anchor="ctr"/>
          <a:lstStyle/>
          <a:p>
            <a:pPr algn="ctr" indent="0" marL="0">
              <a:buNone/>
            </a:pPr>
            <a:r>
              <a:rPr lang="en-US" sz="2400" b="1" dirty="0">
                <a:solidFill>
                  <a:schemeClr val="accent4"/>
                </a:solidFill>
                <a:latin typeface="Cambria" pitchFamily="34" charset="0"/>
                <a:ea typeface="Cambria" pitchFamily="34" charset="-122"/>
                <a:cs typeface="Cambria" pitchFamily="34" charset="-120"/>
              </a:rPr>
              <a:t>R3</a:t>
            </a:r>
            <a:endParaRPr lang="en-US" sz="2400" dirty="0"/>
          </a:p>
        </p:txBody>
      </p:sp>
      <p:sp>
        <p:nvSpPr>
          <p:cNvPr id="31" name="Text 24"/>
          <p:cNvSpPr txBox="1"/>
          <p:nvPr/>
        </p:nvSpPr>
        <p:spPr>
          <a:xfrm>
            <a:off x="8394192" y="3749040"/>
            <a:ext cx="1472184" cy="1097280"/>
          </a:xfrm>
          <a:prstGeom prst="rect">
            <a:avLst/>
          </a:prstGeom>
          <a:noFill/>
          <a:ln/>
        </p:spPr>
        <p:txBody>
          <a:bodyPr wrap="square" lIns="0" tIns="0" rIns="0" bIns="0" rtlCol="0" anchor="t"/>
          <a:lstStyle/>
          <a:p>
            <a:pPr algn="ctr" indent="0" marL="0">
              <a:buNone/>
            </a:pPr>
            <a:r>
              <a:rPr lang="en-US" sz="1500" dirty="0">
                <a:solidFill>
                  <a:schemeClr val="tx1"/>
                </a:solidFill>
              </a:rPr>
              <a:t>Trends, chatbot and business-managed categories</a:t>
            </a:r>
            <a:endParaRPr lang="en-US" sz="1500" dirty="0"/>
          </a:p>
        </p:txBody>
      </p:sp>
      <p:sp>
        <p:nvSpPr>
          <p:cNvPr id="32" name="Card R4"/>
          <p:cNvSpPr/>
          <p:nvPr/>
        </p:nvSpPr>
        <p:spPr>
          <a:xfrm>
            <a:off x="10131552" y="2148840"/>
            <a:ext cx="1691640" cy="2788920"/>
          </a:xfrm>
          <a:prstGeom prst="roundRect">
            <a:avLst>
              <a:gd name="adj" fmla="val 5405"/>
            </a:avLst>
          </a:prstGeom>
          <a:solidFill>
            <a:schemeClr val="bg1"/>
          </a:solidFill>
          <a:ln w="12700">
            <a:solidFill>
              <a:schemeClr val="accent4"/>
            </a:solidFill>
            <a:prstDash val="solid"/>
          </a:ln>
        </p:spPr>
      </p:sp>
      <p:sp>
        <p:nvSpPr>
          <p:cNvPr id="33" name="Icon bg R4"/>
          <p:cNvSpPr/>
          <p:nvPr/>
        </p:nvSpPr>
        <p:spPr>
          <a:xfrm>
            <a:off x="10634472" y="2377440"/>
            <a:ext cx="685800" cy="685800"/>
          </a:xfrm>
          <a:prstGeom prst="ellipse">
            <a:avLst/>
          </a:prstGeom>
          <a:solidFill>
            <a:schemeClr val="accent4"/>
          </a:solidFill>
          <a:ln/>
        </p:spPr>
      </p:sp>
      <p:pic>
        <p:nvPicPr>
          <p:cNvPr id="34" name="Image 5" descr="preencoded.png">    </p:cNvPr>
          <p:cNvPicPr>
            <a:picLocks noChangeAspect="1"/>
          </p:cNvPicPr>
          <p:nvPr/>
        </p:nvPicPr>
        <p:blipFill>
          <a:blip r:embed="rId6"/>
          <a:stretch>
            <a:fillRect/>
          </a:stretch>
        </p:blipFill>
        <p:spPr>
          <a:xfrm>
            <a:off x="10794492" y="2537460"/>
            <a:ext cx="365760" cy="365760"/>
          </a:xfrm>
          <a:prstGeom prst="rect">
            <a:avLst/>
          </a:prstGeom>
        </p:spPr>
      </p:pic>
      <p:sp>
        <p:nvSpPr>
          <p:cNvPr id="35" name="Text 27"/>
          <p:cNvSpPr txBox="1"/>
          <p:nvPr/>
        </p:nvSpPr>
        <p:spPr>
          <a:xfrm>
            <a:off x="10131552" y="3246120"/>
            <a:ext cx="1691640" cy="457200"/>
          </a:xfrm>
          <a:prstGeom prst="rect">
            <a:avLst/>
          </a:prstGeom>
          <a:noFill/>
          <a:ln/>
        </p:spPr>
        <p:txBody>
          <a:bodyPr wrap="square" lIns="0" tIns="0" rIns="0" bIns="0" rtlCol="0" anchor="ctr"/>
          <a:lstStyle/>
          <a:p>
            <a:pPr algn="ctr" indent="0" marL="0">
              <a:buNone/>
            </a:pPr>
            <a:r>
              <a:rPr lang="en-US" sz="2400" b="1" dirty="0">
                <a:solidFill>
                  <a:schemeClr val="accent4"/>
                </a:solidFill>
                <a:latin typeface="Cambria" pitchFamily="34" charset="0"/>
                <a:ea typeface="Cambria" pitchFamily="34" charset="-122"/>
                <a:cs typeface="Cambria" pitchFamily="34" charset="-120"/>
              </a:rPr>
              <a:t>R4</a:t>
            </a:r>
            <a:endParaRPr lang="en-US" sz="2400" dirty="0"/>
          </a:p>
        </p:txBody>
      </p:sp>
      <p:sp>
        <p:nvSpPr>
          <p:cNvPr id="36" name="Text 28"/>
          <p:cNvSpPr txBox="1"/>
          <p:nvPr/>
        </p:nvSpPr>
        <p:spPr>
          <a:xfrm>
            <a:off x="10241280" y="3749040"/>
            <a:ext cx="1472184" cy="1097280"/>
          </a:xfrm>
          <a:prstGeom prst="rect">
            <a:avLst/>
          </a:prstGeom>
          <a:noFill/>
          <a:ln/>
        </p:spPr>
        <p:txBody>
          <a:bodyPr wrap="square" lIns="0" tIns="0" rIns="0" bIns="0" rtlCol="0" anchor="t"/>
          <a:lstStyle/>
          <a:p>
            <a:pPr algn="ctr" indent="0" marL="0">
              <a:buNone/>
            </a:pPr>
            <a:r>
              <a:rPr lang="en-US" sz="1500" dirty="0">
                <a:solidFill>
                  <a:schemeClr val="tx1"/>
                </a:solidFill>
              </a:rPr>
              <a:t>Ask questions of the data</a:t>
            </a:r>
            <a:endParaRPr lang="en-US" sz="1500" dirty="0"/>
          </a:p>
        </p:txBody>
      </p:sp>
      <p:sp>
        <p:nvSpPr>
          <p:cNvPr id="37" name="Ask"/>
          <p:cNvSpPr/>
          <p:nvPr/>
        </p:nvSpPr>
        <p:spPr>
          <a:xfrm>
            <a:off x="548640" y="5440680"/>
            <a:ext cx="11094415" cy="685800"/>
          </a:xfrm>
          <a:prstGeom prst="roundRect">
            <a:avLst>
              <a:gd name="adj" fmla="val 13333"/>
            </a:avLst>
          </a:prstGeom>
          <a:solidFill>
            <a:schemeClr val="accent1"/>
          </a:solidFill>
          <a:ln/>
        </p:spPr>
      </p:sp>
      <p:pic>
        <p:nvPicPr>
          <p:cNvPr id="38" name="Image 6" descr="preencoded.png">    </p:cNvPr>
          <p:cNvPicPr>
            <a:picLocks noChangeAspect="1"/>
          </p:cNvPicPr>
          <p:nvPr/>
        </p:nvPicPr>
        <p:blipFill>
          <a:blip r:embed="rId7"/>
          <a:stretch>
            <a:fillRect/>
          </a:stretch>
        </p:blipFill>
        <p:spPr>
          <a:xfrm>
            <a:off x="822960" y="5614416"/>
            <a:ext cx="338328" cy="338328"/>
          </a:xfrm>
          <a:prstGeom prst="rect">
            <a:avLst/>
          </a:prstGeom>
        </p:spPr>
      </p:pic>
      <p:sp>
        <p:nvSpPr>
          <p:cNvPr id="39" name="Text 30"/>
          <p:cNvSpPr txBox="1"/>
          <p:nvPr/>
        </p:nvSpPr>
        <p:spPr>
          <a:xfrm>
            <a:off x="1325880" y="5440680"/>
            <a:ext cx="10058400" cy="685800"/>
          </a:xfrm>
          <a:prstGeom prst="rect">
            <a:avLst/>
          </a:prstGeom>
          <a:noFill/>
          <a:ln/>
        </p:spPr>
        <p:txBody>
          <a:bodyPr wrap="square" lIns="0" tIns="0" rIns="0" bIns="0" rtlCol="0" anchor="ctr"/>
          <a:lstStyle/>
          <a:p>
            <a:pPr indent="0" marL="0">
              <a:buNone/>
            </a:pPr>
            <a:r>
              <a:rPr lang="en-US" sz="1800" b="1" dirty="0">
                <a:solidFill>
                  <a:schemeClr val="bg1"/>
                </a:solidFill>
              </a:rPr>
              <a:t>We fund R0, R1 and R1.5, then reassess before committing to anything further.</a:t>
            </a:r>
            <a:endParaRPr lang="en-US" sz="18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the business gets: R0, R1 and R1.5</a:t>
            </a:r>
            <a:endParaRPr lang="en-US" sz="3200" dirty="0"/>
          </a:p>
        </p:txBody>
      </p:sp>
      <p:sp>
        <p:nvSpPr>
          <p:cNvPr id="3" name="Release R0"/>
          <p:cNvSpPr/>
          <p:nvPr/>
        </p:nvSpPr>
        <p:spPr>
          <a:xfrm>
            <a:off x="548640" y="1188720"/>
            <a:ext cx="3545738" cy="5120640"/>
          </a:xfrm>
          <a:prstGeom prst="roundRect">
            <a:avLst>
              <a:gd name="adj" fmla="val 2063"/>
            </a:avLst>
          </a:prstGeom>
          <a:solidFill>
            <a:schemeClr val="bg1"/>
          </a:solidFill>
          <a:ln w="12700">
            <a:solidFill>
              <a:schemeClr val="accent5"/>
            </a:solidFill>
            <a:prstDash val="solid"/>
          </a:ln>
        </p:spPr>
      </p:sp>
      <p:sp>
        <p:nvSpPr>
          <p:cNvPr id="4" name="Release icon bg R0"/>
          <p:cNvSpPr/>
          <p:nvPr/>
        </p:nvSpPr>
        <p:spPr>
          <a:xfrm>
            <a:off x="749808" y="1371600"/>
            <a:ext cx="548640" cy="548640"/>
          </a:xfrm>
          <a:prstGeom prst="ellipse">
            <a:avLst/>
          </a:prstGeom>
          <a:solidFill>
            <a:schemeClr val="accent4"/>
          </a:solidFill>
          <a:ln/>
        </p:spPr>
      </p:sp>
      <p:pic>
        <p:nvPicPr>
          <p:cNvPr id="5" name="Image 0" descr="preencoded.png">    </p:cNvPr>
          <p:cNvPicPr>
            <a:picLocks noChangeAspect="1"/>
          </p:cNvPicPr>
          <p:nvPr/>
        </p:nvPicPr>
        <p:blipFill>
          <a:blip r:embed="rId1"/>
          <a:stretch>
            <a:fillRect/>
          </a:stretch>
        </p:blipFill>
        <p:spPr>
          <a:xfrm>
            <a:off x="886968" y="1508760"/>
            <a:ext cx="274320" cy="274320"/>
          </a:xfrm>
          <a:prstGeom prst="rect">
            <a:avLst/>
          </a:prstGeom>
        </p:spPr>
      </p:pic>
      <p:sp>
        <p:nvSpPr>
          <p:cNvPr id="6" name="Text 3"/>
          <p:cNvSpPr txBox="1"/>
          <p:nvPr/>
        </p:nvSpPr>
        <p:spPr>
          <a:xfrm>
            <a:off x="1435608" y="1353312"/>
            <a:ext cx="2457602" cy="36576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R0  </a:t>
            </a:r>
            <a:pPr indent="0" marL="0">
              <a:buNone/>
            </a:pPr>
            <a:r>
              <a:rPr lang="en-US" sz="1600" b="1" dirty="0">
                <a:solidFill>
                  <a:schemeClr val="tx2"/>
                </a:solidFill>
                <a:latin typeface="Cambria" pitchFamily="34" charset="0"/>
                <a:ea typeface="Cambria" pitchFamily="34" charset="-122"/>
                <a:cs typeface="Cambria" pitchFamily="34" charset="-120"/>
              </a:rPr>
              <a:t>Groundwork</a:t>
            </a:r>
            <a:endParaRPr lang="en-US" sz="1600" dirty="0"/>
          </a:p>
        </p:txBody>
      </p:sp>
      <p:sp>
        <p:nvSpPr>
          <p:cNvPr id="7" name="Text 4"/>
          <p:cNvSpPr txBox="1"/>
          <p:nvPr/>
        </p:nvSpPr>
        <p:spPr>
          <a:xfrm>
            <a:off x="1435608" y="1691640"/>
            <a:ext cx="2457602" cy="256032"/>
          </a:xfrm>
          <a:prstGeom prst="rect">
            <a:avLst/>
          </a:prstGeom>
          <a:noFill/>
          <a:ln/>
        </p:spPr>
        <p:txBody>
          <a:bodyPr wrap="square" lIns="0" tIns="0" rIns="0" bIns="0" rtlCol="0" anchor="ctr"/>
          <a:lstStyle/>
          <a:p>
            <a:pPr indent="0" marL="0">
              <a:buNone/>
            </a:pPr>
            <a:r>
              <a:rPr lang="en-US" sz="1100" i="1" dirty="0">
                <a:solidFill>
                  <a:schemeClr val="accent4"/>
                </a:solidFill>
              </a:rPr>
              <a:t>Internal</a:t>
            </a:r>
            <a:endParaRPr lang="en-US" sz="1100" dirty="0"/>
          </a:p>
        </p:txBody>
      </p:sp>
      <p:sp>
        <p:nvSpPr>
          <p:cNvPr id="8" name="Text 5"/>
          <p:cNvSpPr txBox="1"/>
          <p:nvPr/>
        </p:nvSpPr>
        <p:spPr>
          <a:xfrm>
            <a:off x="749808" y="2084832"/>
            <a:ext cx="3143402" cy="228600"/>
          </a:xfrm>
          <a:prstGeom prst="rect">
            <a:avLst/>
          </a:prstGeom>
          <a:noFill/>
          <a:ln/>
        </p:spPr>
        <p:txBody>
          <a:bodyPr wrap="square" lIns="0" tIns="0" rIns="0" bIns="0" rtlCol="0" anchor="ctr"/>
          <a:lstStyle/>
          <a:p>
            <a:pPr indent="0" marL="0">
              <a:buNone/>
            </a:pPr>
            <a:r>
              <a:rPr lang="en-US" sz="1150" b="1" dirty="0">
                <a:solidFill>
                  <a:schemeClr val="tx2"/>
                </a:solidFill>
              </a:rPr>
              <a:t>Business outcome</a:t>
            </a:r>
            <a:endParaRPr lang="en-US" sz="1150" dirty="0"/>
          </a:p>
        </p:txBody>
      </p:sp>
      <p:sp>
        <p:nvSpPr>
          <p:cNvPr id="9" name="Text 6"/>
          <p:cNvSpPr txBox="1"/>
          <p:nvPr/>
        </p:nvSpPr>
        <p:spPr>
          <a:xfrm>
            <a:off x="749808" y="2331720"/>
            <a:ext cx="3143402" cy="1417320"/>
          </a:xfrm>
          <a:prstGeom prst="rect">
            <a:avLst/>
          </a:prstGeom>
          <a:noFill/>
          <a:ln/>
        </p:spPr>
        <p:txBody>
          <a:bodyPr wrap="square" lIns="0" tIns="0" rIns="0" bIns="0" rtlCol="0" anchor="t"/>
          <a:lstStyle/>
          <a:p>
            <a:pPr indent="0" marL="0">
              <a:buNone/>
            </a:pPr>
            <a:r>
              <a:rPr lang="en-US" sz="1050" dirty="0">
                <a:solidFill>
                  <a:schemeClr val="tx1"/>
                </a:solidFill>
              </a:rPr>
              <a:t>Nothing visible to the business yet. The data structures are built and the first list of call categories and subcategories is agreed with the call center leads. The database supports refining the list and keeping every version, so later changes are additions rather than rework. There is no screen for editing the list yet; changes are made by the team.</a:t>
            </a:r>
            <a:endParaRPr lang="en-US" sz="1050" dirty="0"/>
          </a:p>
        </p:txBody>
      </p:sp>
      <p:sp>
        <p:nvSpPr>
          <p:cNvPr id="10" name="Text 7"/>
          <p:cNvSpPr txBox="1"/>
          <p:nvPr/>
        </p:nvSpPr>
        <p:spPr>
          <a:xfrm>
            <a:off x="749808" y="3822192"/>
            <a:ext cx="3143402" cy="228600"/>
          </a:xfrm>
          <a:prstGeom prst="rect">
            <a:avLst/>
          </a:prstGeom>
          <a:noFill/>
          <a:ln/>
        </p:spPr>
        <p:txBody>
          <a:bodyPr wrap="square" lIns="0" tIns="0" rIns="0" bIns="0" rtlCol="0" anchor="ctr"/>
          <a:lstStyle/>
          <a:p>
            <a:pPr indent="0" marL="0">
              <a:buNone/>
            </a:pPr>
            <a:r>
              <a:rPr lang="en-US" sz="1150" b="1" dirty="0">
                <a:solidFill>
                  <a:schemeClr val="tx2"/>
                </a:solidFill>
              </a:rPr>
              <a:t>What business users receive</a:t>
            </a:r>
            <a:endParaRPr lang="en-US" sz="1150" dirty="0"/>
          </a:p>
        </p:txBody>
      </p:sp>
      <p:sp>
        <p:nvSpPr>
          <p:cNvPr id="11" name="Text 8"/>
          <p:cNvSpPr txBox="1"/>
          <p:nvPr/>
        </p:nvSpPr>
        <p:spPr>
          <a:xfrm>
            <a:off x="749808" y="4069080"/>
            <a:ext cx="3143402" cy="150876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rPr>
              <a:t>A category and subcategory list to review and sign off.</a:t>
            </a:r>
            <a:endParaRPr lang="en-US" sz="1050" dirty="0"/>
          </a:p>
        </p:txBody>
      </p:sp>
      <p:sp>
        <p:nvSpPr>
          <p:cNvPr id="12" name="Done R0"/>
          <p:cNvSpPr/>
          <p:nvPr/>
        </p:nvSpPr>
        <p:spPr>
          <a:xfrm>
            <a:off x="640080" y="5650992"/>
            <a:ext cx="3362858" cy="566928"/>
          </a:xfrm>
          <a:prstGeom prst="roundRect">
            <a:avLst>
              <a:gd name="adj" fmla="val 9677"/>
            </a:avLst>
          </a:prstGeom>
          <a:solidFill>
            <a:schemeClr val="accent5"/>
          </a:solidFill>
          <a:ln/>
        </p:spPr>
      </p:sp>
      <p:pic>
        <p:nvPicPr>
          <p:cNvPr id="13" name="Image 1" descr="preencoded.png">    </p:cNvPr>
          <p:cNvPicPr>
            <a:picLocks noChangeAspect="1"/>
          </p:cNvPicPr>
          <p:nvPr/>
        </p:nvPicPr>
        <p:blipFill>
          <a:blip r:embed="rId2"/>
          <a:stretch>
            <a:fillRect/>
          </a:stretch>
        </p:blipFill>
        <p:spPr>
          <a:xfrm>
            <a:off x="731520" y="5797296"/>
            <a:ext cx="256032" cy="256032"/>
          </a:xfrm>
          <a:prstGeom prst="rect">
            <a:avLst/>
          </a:prstGeom>
        </p:spPr>
      </p:pic>
      <p:sp>
        <p:nvSpPr>
          <p:cNvPr id="14" name="Text 10"/>
          <p:cNvSpPr txBox="1"/>
          <p:nvPr/>
        </p:nvSpPr>
        <p:spPr>
          <a:xfrm>
            <a:off x="1078992" y="5650992"/>
            <a:ext cx="2859938" cy="566928"/>
          </a:xfrm>
          <a:prstGeom prst="rect">
            <a:avLst/>
          </a:prstGeom>
          <a:noFill/>
          <a:ln/>
        </p:spPr>
        <p:txBody>
          <a:bodyPr wrap="square" lIns="0" tIns="0" rIns="0" bIns="0" rtlCol="0" anchor="ctr"/>
          <a:lstStyle/>
          <a:p>
            <a:pPr indent="0" marL="0">
              <a:buNone/>
            </a:pPr>
            <a:r>
              <a:rPr lang="en-US" sz="1050" b="1" dirty="0">
                <a:solidFill>
                  <a:schemeClr val="tx2"/>
                </a:solidFill>
              </a:rPr>
              <a:t>Done when: </a:t>
            </a:r>
            <a:pPr indent="0" marL="0">
              <a:buNone/>
            </a:pPr>
            <a:r>
              <a:rPr lang="en-US" sz="1050" dirty="0">
                <a:solidFill>
                  <a:schemeClr val="tx1"/>
                </a:solidFill>
              </a:rPr>
              <a:t>The call center has signed off the first category list and the tables are in place.</a:t>
            </a:r>
            <a:endParaRPr lang="en-US" sz="1050" dirty="0"/>
          </a:p>
        </p:txBody>
      </p:sp>
      <p:sp>
        <p:nvSpPr>
          <p:cNvPr id="15" name="Release R1"/>
          <p:cNvSpPr/>
          <p:nvPr/>
        </p:nvSpPr>
        <p:spPr>
          <a:xfrm>
            <a:off x="4322978" y="1188720"/>
            <a:ext cx="3545738" cy="5120640"/>
          </a:xfrm>
          <a:prstGeom prst="roundRect">
            <a:avLst>
              <a:gd name="adj" fmla="val 2063"/>
            </a:avLst>
          </a:prstGeom>
          <a:solidFill>
            <a:schemeClr val="bg1"/>
          </a:solidFill>
          <a:ln w="12700">
            <a:solidFill>
              <a:schemeClr val="accent5"/>
            </a:solidFill>
            <a:prstDash val="solid"/>
          </a:ln>
        </p:spPr>
      </p:sp>
      <p:sp>
        <p:nvSpPr>
          <p:cNvPr id="16" name="Release icon bg R1"/>
          <p:cNvSpPr/>
          <p:nvPr/>
        </p:nvSpPr>
        <p:spPr>
          <a:xfrm>
            <a:off x="4524146" y="1371600"/>
            <a:ext cx="548640" cy="54864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4661306" y="1508760"/>
            <a:ext cx="274320" cy="274320"/>
          </a:xfrm>
          <a:prstGeom prst="rect">
            <a:avLst/>
          </a:prstGeom>
        </p:spPr>
      </p:pic>
      <p:sp>
        <p:nvSpPr>
          <p:cNvPr id="18" name="Text 13"/>
          <p:cNvSpPr txBox="1"/>
          <p:nvPr/>
        </p:nvSpPr>
        <p:spPr>
          <a:xfrm>
            <a:off x="5209946" y="1353312"/>
            <a:ext cx="2457602" cy="36576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R1  </a:t>
            </a:r>
            <a:pPr indent="0" marL="0">
              <a:buNone/>
            </a:pPr>
            <a:r>
              <a:rPr lang="en-US" sz="1600" b="1" dirty="0">
                <a:solidFill>
                  <a:schemeClr val="tx2"/>
                </a:solidFill>
                <a:latin typeface="Cambria" pitchFamily="34" charset="0"/>
                <a:ea typeface="Cambria" pitchFamily="34" charset="-122"/>
                <a:cs typeface="Cambria" pitchFamily="34" charset="-120"/>
              </a:rPr>
              <a:t>Every call categorized</a:t>
            </a:r>
            <a:endParaRPr lang="en-US" sz="1600" dirty="0"/>
          </a:p>
        </p:txBody>
      </p:sp>
      <p:sp>
        <p:nvSpPr>
          <p:cNvPr id="19" name="Text 14"/>
          <p:cNvSpPr txBox="1"/>
          <p:nvPr/>
        </p:nvSpPr>
        <p:spPr>
          <a:xfrm>
            <a:off x="5209946" y="1691640"/>
            <a:ext cx="2457602" cy="256032"/>
          </a:xfrm>
          <a:prstGeom prst="rect">
            <a:avLst/>
          </a:prstGeom>
          <a:noFill/>
          <a:ln/>
        </p:spPr>
        <p:txBody>
          <a:bodyPr wrap="square" lIns="0" tIns="0" rIns="0" bIns="0" rtlCol="0" anchor="ctr"/>
          <a:lstStyle/>
          <a:p>
            <a:pPr indent="0" marL="0">
              <a:buNone/>
            </a:pPr>
            <a:r>
              <a:rPr lang="en-US" sz="1100" i="1" dirty="0">
                <a:solidFill>
                  <a:schemeClr val="accent4"/>
                </a:solidFill>
              </a:rPr>
              <a:t>First value</a:t>
            </a:r>
            <a:endParaRPr lang="en-US" sz="1100" dirty="0"/>
          </a:p>
        </p:txBody>
      </p:sp>
      <p:sp>
        <p:nvSpPr>
          <p:cNvPr id="20" name="Text 15"/>
          <p:cNvSpPr txBox="1"/>
          <p:nvPr/>
        </p:nvSpPr>
        <p:spPr>
          <a:xfrm>
            <a:off x="4524146" y="2084832"/>
            <a:ext cx="3143402" cy="228600"/>
          </a:xfrm>
          <a:prstGeom prst="rect">
            <a:avLst/>
          </a:prstGeom>
          <a:noFill/>
          <a:ln/>
        </p:spPr>
        <p:txBody>
          <a:bodyPr wrap="square" lIns="0" tIns="0" rIns="0" bIns="0" rtlCol="0" anchor="ctr"/>
          <a:lstStyle/>
          <a:p>
            <a:pPr indent="0" marL="0">
              <a:buNone/>
            </a:pPr>
            <a:r>
              <a:rPr lang="en-US" sz="1150" b="1" dirty="0">
                <a:solidFill>
                  <a:schemeClr val="tx2"/>
                </a:solidFill>
              </a:rPr>
              <a:t>Business outcome</a:t>
            </a:r>
            <a:endParaRPr lang="en-US" sz="1150" dirty="0"/>
          </a:p>
        </p:txBody>
      </p:sp>
      <p:sp>
        <p:nvSpPr>
          <p:cNvPr id="21" name="Text 16"/>
          <p:cNvSpPr txBox="1"/>
          <p:nvPr/>
        </p:nvSpPr>
        <p:spPr>
          <a:xfrm>
            <a:off x="4524146" y="2331720"/>
            <a:ext cx="3143402" cy="1417320"/>
          </a:xfrm>
          <a:prstGeom prst="rect">
            <a:avLst/>
          </a:prstGeom>
          <a:noFill/>
          <a:ln/>
        </p:spPr>
        <p:txBody>
          <a:bodyPr wrap="square" lIns="0" tIns="0" rIns="0" bIns="0" rtlCol="0" anchor="t"/>
          <a:lstStyle/>
          <a:p>
            <a:pPr indent="0" marL="0">
              <a:buNone/>
            </a:pPr>
            <a:r>
              <a:rPr lang="en-US" sz="1050" dirty="0">
                <a:solidFill>
                  <a:schemeClr val="tx1"/>
                </a:solidFill>
              </a:rPr>
              <a:t>Calls on the Genesys queues chosen for categorization are analyzed as soon as their transcript is available. This runs separately from call summarization, so calls that never reach an agent (for example, calls handled entirely in the IVR) can be included. Each call is split into the topics discussed (for example, crown coverage and then finding a dentist) and each topic is given a category and subcategory. No detail below subcategory yet.</a:t>
            </a:r>
            <a:endParaRPr lang="en-US" sz="1050" dirty="0"/>
          </a:p>
        </p:txBody>
      </p:sp>
      <p:sp>
        <p:nvSpPr>
          <p:cNvPr id="22" name="Text 17"/>
          <p:cNvSpPr txBox="1"/>
          <p:nvPr/>
        </p:nvSpPr>
        <p:spPr>
          <a:xfrm>
            <a:off x="4524146" y="3822192"/>
            <a:ext cx="3143402" cy="228600"/>
          </a:xfrm>
          <a:prstGeom prst="rect">
            <a:avLst/>
          </a:prstGeom>
          <a:noFill/>
          <a:ln/>
        </p:spPr>
        <p:txBody>
          <a:bodyPr wrap="square" lIns="0" tIns="0" rIns="0" bIns="0" rtlCol="0" anchor="ctr"/>
          <a:lstStyle/>
          <a:p>
            <a:pPr indent="0" marL="0">
              <a:buNone/>
            </a:pPr>
            <a:r>
              <a:rPr lang="en-US" sz="1150" b="1" dirty="0">
                <a:solidFill>
                  <a:schemeClr val="tx2"/>
                </a:solidFill>
              </a:rPr>
              <a:t>What business users receive</a:t>
            </a:r>
            <a:endParaRPr lang="en-US" sz="1150" dirty="0"/>
          </a:p>
        </p:txBody>
      </p:sp>
      <p:sp>
        <p:nvSpPr>
          <p:cNvPr id="23" name="Text 18"/>
          <p:cNvSpPr txBox="1"/>
          <p:nvPr/>
        </p:nvSpPr>
        <p:spPr>
          <a:xfrm>
            <a:off x="4524146" y="4069080"/>
            <a:ext cx="3143402" cy="150876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rPr>
              <a:t>A report for any group, payer or caller type showing the number and share of calls by category and subcategory, for any period.</a:t>
            </a:r>
            <a:endParaRPr lang="en-US" sz="1050" dirty="0"/>
          </a:p>
          <a:p>
            <a:pPr marL="342900" indent="-342900">
              <a:spcAft>
                <a:spcPts val="200"/>
              </a:spcAft>
              <a:buSzPct val="100000"/>
              <a:buChar char="•"/>
            </a:pPr>
            <a:r>
              <a:rPr lang="en-US" sz="1050" dirty="0">
                <a:solidFill>
                  <a:schemeClr val="tx1"/>
                </a:solidFill>
              </a:rPr>
              <a:t>The categorized data in Snowflake, available to Power BI, Tableau or other Snowflake analytics tools, combined with group, member and plan data.</a:t>
            </a:r>
            <a:endParaRPr lang="en-US" sz="1050" dirty="0"/>
          </a:p>
          <a:p>
            <a:pPr marL="342900" indent="-342900">
              <a:spcAft>
                <a:spcPts val="200"/>
              </a:spcAft>
              <a:buSzPct val="100000"/>
              <a:buChar char="•"/>
            </a:pPr>
            <a:r>
              <a:rPr lang="en-US" sz="1050" dirty="0">
                <a:solidFill>
                  <a:schemeClr val="tx1"/>
                </a:solidFill>
              </a:rPr>
              <a:t>Categorization data from which the CareSource Ohio PCIR and PCDR reports can be produced (producing those reports is a separate effort).</a:t>
            </a:r>
            <a:endParaRPr lang="en-US" sz="1050" dirty="0"/>
          </a:p>
        </p:txBody>
      </p:sp>
      <p:sp>
        <p:nvSpPr>
          <p:cNvPr id="24" name="Done R1"/>
          <p:cNvSpPr/>
          <p:nvPr/>
        </p:nvSpPr>
        <p:spPr>
          <a:xfrm>
            <a:off x="4414418" y="5650992"/>
            <a:ext cx="3362858" cy="566928"/>
          </a:xfrm>
          <a:prstGeom prst="roundRect">
            <a:avLst>
              <a:gd name="adj" fmla="val 9677"/>
            </a:avLst>
          </a:prstGeom>
          <a:solidFill>
            <a:schemeClr val="accent5"/>
          </a:solidFill>
          <a:ln/>
        </p:spPr>
      </p:sp>
      <p:pic>
        <p:nvPicPr>
          <p:cNvPr id="25" name="Image 3" descr="preencoded.png">    </p:cNvPr>
          <p:cNvPicPr>
            <a:picLocks noChangeAspect="1"/>
          </p:cNvPicPr>
          <p:nvPr/>
        </p:nvPicPr>
        <p:blipFill>
          <a:blip r:embed="rId4"/>
          <a:stretch>
            <a:fillRect/>
          </a:stretch>
        </p:blipFill>
        <p:spPr>
          <a:xfrm>
            <a:off x="4505858" y="5797296"/>
            <a:ext cx="256032" cy="256032"/>
          </a:xfrm>
          <a:prstGeom prst="rect">
            <a:avLst/>
          </a:prstGeom>
        </p:spPr>
      </p:pic>
      <p:sp>
        <p:nvSpPr>
          <p:cNvPr id="26" name="Text 20"/>
          <p:cNvSpPr txBox="1"/>
          <p:nvPr/>
        </p:nvSpPr>
        <p:spPr>
          <a:xfrm>
            <a:off x="4853330" y="5650992"/>
            <a:ext cx="2859938" cy="566928"/>
          </a:xfrm>
          <a:prstGeom prst="rect">
            <a:avLst/>
          </a:prstGeom>
          <a:noFill/>
          <a:ln/>
        </p:spPr>
        <p:txBody>
          <a:bodyPr wrap="square" lIns="0" tIns="0" rIns="0" bIns="0" rtlCol="0" anchor="ctr"/>
          <a:lstStyle/>
          <a:p>
            <a:pPr indent="0" marL="0">
              <a:buNone/>
            </a:pPr>
            <a:r>
              <a:rPr lang="en-US" sz="1050" b="1" dirty="0">
                <a:solidFill>
                  <a:schemeClr val="tx2"/>
                </a:solidFill>
              </a:rPr>
              <a:t>Done when: </a:t>
            </a:r>
            <a:pPr indent="0" marL="0">
              <a:buNone/>
            </a:pPr>
            <a:r>
              <a:rPr lang="en-US" sz="1050" dirty="0">
                <a:solidFill>
                  <a:schemeClr val="tx1"/>
                </a:solidFill>
              </a:rPr>
              <a:t>Every call on the configured queues is categorized automatically and the category report is available.</a:t>
            </a:r>
            <a:endParaRPr lang="en-US" sz="1050" dirty="0"/>
          </a:p>
        </p:txBody>
      </p:sp>
      <p:sp>
        <p:nvSpPr>
          <p:cNvPr id="27" name="Release R1.5"/>
          <p:cNvSpPr/>
          <p:nvPr/>
        </p:nvSpPr>
        <p:spPr>
          <a:xfrm>
            <a:off x="8097317" y="1188720"/>
            <a:ext cx="3545738" cy="5120640"/>
          </a:xfrm>
          <a:prstGeom prst="roundRect">
            <a:avLst>
              <a:gd name="adj" fmla="val 2063"/>
            </a:avLst>
          </a:prstGeom>
          <a:solidFill>
            <a:schemeClr val="bg1"/>
          </a:solidFill>
          <a:ln w="12700">
            <a:solidFill>
              <a:schemeClr val="accent5"/>
            </a:solidFill>
            <a:prstDash val="solid"/>
          </a:ln>
        </p:spPr>
      </p:sp>
      <p:sp>
        <p:nvSpPr>
          <p:cNvPr id="28" name="Release icon bg R1.5"/>
          <p:cNvSpPr/>
          <p:nvPr/>
        </p:nvSpPr>
        <p:spPr>
          <a:xfrm>
            <a:off x="8298485" y="1371600"/>
            <a:ext cx="548640" cy="548640"/>
          </a:xfrm>
          <a:prstGeom prst="ellipse">
            <a:avLst/>
          </a:prstGeom>
          <a:solidFill>
            <a:schemeClr val="accent1"/>
          </a:solidFill>
          <a:ln/>
        </p:spPr>
      </p:sp>
      <p:pic>
        <p:nvPicPr>
          <p:cNvPr id="29" name="Image 4" descr="preencoded.png">    </p:cNvPr>
          <p:cNvPicPr>
            <a:picLocks noChangeAspect="1"/>
          </p:cNvPicPr>
          <p:nvPr/>
        </p:nvPicPr>
        <p:blipFill>
          <a:blip r:embed="rId5"/>
          <a:stretch>
            <a:fillRect/>
          </a:stretch>
        </p:blipFill>
        <p:spPr>
          <a:xfrm>
            <a:off x="8435645" y="1508760"/>
            <a:ext cx="274320" cy="274320"/>
          </a:xfrm>
          <a:prstGeom prst="rect">
            <a:avLst/>
          </a:prstGeom>
        </p:spPr>
      </p:pic>
      <p:sp>
        <p:nvSpPr>
          <p:cNvPr id="30" name="Text 23"/>
          <p:cNvSpPr txBox="1"/>
          <p:nvPr/>
        </p:nvSpPr>
        <p:spPr>
          <a:xfrm>
            <a:off x="8984285" y="1353312"/>
            <a:ext cx="2457602" cy="36576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R1.5  </a:t>
            </a:r>
            <a:pPr indent="0" marL="0">
              <a:buNone/>
            </a:pPr>
            <a:r>
              <a:rPr lang="en-US" sz="1600" b="1" dirty="0">
                <a:solidFill>
                  <a:schemeClr val="tx2"/>
                </a:solidFill>
                <a:latin typeface="Cambria" pitchFamily="34" charset="0"/>
                <a:ea typeface="Cambria" pitchFamily="34" charset="-122"/>
                <a:cs typeface="Cambria" pitchFamily="34" charset="-120"/>
              </a:rPr>
              <a:t>Category discovery</a:t>
            </a:r>
            <a:endParaRPr lang="en-US" sz="1600" dirty="0"/>
          </a:p>
        </p:txBody>
      </p:sp>
      <p:sp>
        <p:nvSpPr>
          <p:cNvPr id="31" name="Text 24"/>
          <p:cNvSpPr txBox="1"/>
          <p:nvPr/>
        </p:nvSpPr>
        <p:spPr>
          <a:xfrm>
            <a:off x="8984285" y="1691640"/>
            <a:ext cx="2457602" cy="256032"/>
          </a:xfrm>
          <a:prstGeom prst="rect">
            <a:avLst/>
          </a:prstGeom>
          <a:noFill/>
          <a:ln/>
        </p:spPr>
        <p:txBody>
          <a:bodyPr wrap="square" lIns="0" tIns="0" rIns="0" bIns="0" rtlCol="0" anchor="ctr"/>
          <a:lstStyle/>
          <a:p>
            <a:pPr indent="0" marL="0">
              <a:buNone/>
            </a:pPr>
            <a:r>
              <a:rPr lang="en-US" sz="1100" i="1" dirty="0">
                <a:solidFill>
                  <a:schemeClr val="accent4"/>
                </a:solidFill>
              </a:rPr>
              <a:t>Find what we missed</a:t>
            </a:r>
            <a:endParaRPr lang="en-US" sz="1100" dirty="0"/>
          </a:p>
        </p:txBody>
      </p:sp>
      <p:sp>
        <p:nvSpPr>
          <p:cNvPr id="32" name="Text 25"/>
          <p:cNvSpPr txBox="1"/>
          <p:nvPr/>
        </p:nvSpPr>
        <p:spPr>
          <a:xfrm>
            <a:off x="8298485" y="2084832"/>
            <a:ext cx="3143402" cy="228600"/>
          </a:xfrm>
          <a:prstGeom prst="rect">
            <a:avLst/>
          </a:prstGeom>
          <a:noFill/>
          <a:ln/>
        </p:spPr>
        <p:txBody>
          <a:bodyPr wrap="square" lIns="0" tIns="0" rIns="0" bIns="0" rtlCol="0" anchor="ctr"/>
          <a:lstStyle/>
          <a:p>
            <a:pPr indent="0" marL="0">
              <a:buNone/>
            </a:pPr>
            <a:r>
              <a:rPr lang="en-US" sz="1150" b="1" dirty="0">
                <a:solidFill>
                  <a:schemeClr val="tx2"/>
                </a:solidFill>
              </a:rPr>
              <a:t>Business outcome</a:t>
            </a:r>
            <a:endParaRPr lang="en-US" sz="1150" dirty="0"/>
          </a:p>
        </p:txBody>
      </p:sp>
      <p:sp>
        <p:nvSpPr>
          <p:cNvPr id="33" name="Text 26"/>
          <p:cNvSpPr txBox="1"/>
          <p:nvPr/>
        </p:nvSpPr>
        <p:spPr>
          <a:xfrm>
            <a:off x="8298485" y="2331720"/>
            <a:ext cx="3143402" cy="1417320"/>
          </a:xfrm>
          <a:prstGeom prst="rect">
            <a:avLst/>
          </a:prstGeom>
          <a:noFill/>
          <a:ln/>
        </p:spPr>
        <p:txBody>
          <a:bodyPr wrap="square" lIns="0" tIns="0" rIns="0" bIns="0" rtlCol="0" anchor="t"/>
          <a:lstStyle/>
          <a:p>
            <a:pPr indent="0" marL="0">
              <a:buNone/>
            </a:pPr>
            <a:r>
              <a:rPr lang="en-US" sz="1050" dirty="0">
                <a:solidFill>
                  <a:schemeClr val="tx1"/>
                </a:solidFill>
              </a:rPr>
              <a:t>The first category list is our best judgment. This release analyzes the historical calls and groups similar topics together to find categories and subcategories we did not know about, including what is currently landing in 'other'. The business reviews what is found and the approved additions become a new version of the list.</a:t>
            </a:r>
            <a:endParaRPr lang="en-US" sz="1050" dirty="0"/>
          </a:p>
        </p:txBody>
      </p:sp>
      <p:sp>
        <p:nvSpPr>
          <p:cNvPr id="34" name="Text 27"/>
          <p:cNvSpPr txBox="1"/>
          <p:nvPr/>
        </p:nvSpPr>
        <p:spPr>
          <a:xfrm>
            <a:off x="8298485" y="3822192"/>
            <a:ext cx="3143402" cy="228600"/>
          </a:xfrm>
          <a:prstGeom prst="rect">
            <a:avLst/>
          </a:prstGeom>
          <a:noFill/>
          <a:ln/>
        </p:spPr>
        <p:txBody>
          <a:bodyPr wrap="square" lIns="0" tIns="0" rIns="0" bIns="0" rtlCol="0" anchor="ctr"/>
          <a:lstStyle/>
          <a:p>
            <a:pPr indent="0" marL="0">
              <a:buNone/>
            </a:pPr>
            <a:r>
              <a:rPr lang="en-US" sz="1150" b="1" dirty="0">
                <a:solidFill>
                  <a:schemeClr val="tx2"/>
                </a:solidFill>
              </a:rPr>
              <a:t>What business users receive</a:t>
            </a:r>
            <a:endParaRPr lang="en-US" sz="1150" dirty="0"/>
          </a:p>
        </p:txBody>
      </p:sp>
      <p:sp>
        <p:nvSpPr>
          <p:cNvPr id="35" name="Text 28"/>
          <p:cNvSpPr txBox="1"/>
          <p:nvPr/>
        </p:nvSpPr>
        <p:spPr>
          <a:xfrm>
            <a:off x="8298485" y="4069080"/>
            <a:ext cx="3143402" cy="150876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rPr>
              <a:t>A list of proposed new categories and subcategories, each with call volume and example topics, for review.</a:t>
            </a:r>
            <a:endParaRPr lang="en-US" sz="1050" dirty="0"/>
          </a:p>
          <a:p>
            <a:pPr marL="342900" indent="-342900">
              <a:spcAft>
                <a:spcPts val="200"/>
              </a:spcAft>
              <a:buSzPct val="100000"/>
              <a:buChar char="•"/>
            </a:pPr>
            <a:r>
              <a:rPr lang="en-US" sz="1050" dirty="0">
                <a:solidFill>
                  <a:schemeClr val="tx1"/>
                </a:solidFill>
              </a:rPr>
              <a:t>Approved additions applied to new calls from that point.</a:t>
            </a:r>
            <a:endParaRPr lang="en-US" sz="1050" dirty="0"/>
          </a:p>
        </p:txBody>
      </p:sp>
      <p:sp>
        <p:nvSpPr>
          <p:cNvPr id="36" name="Done R1.5"/>
          <p:cNvSpPr/>
          <p:nvPr/>
        </p:nvSpPr>
        <p:spPr>
          <a:xfrm>
            <a:off x="8188757" y="5650992"/>
            <a:ext cx="3362858" cy="566928"/>
          </a:xfrm>
          <a:prstGeom prst="roundRect">
            <a:avLst>
              <a:gd name="adj" fmla="val 9677"/>
            </a:avLst>
          </a:prstGeom>
          <a:solidFill>
            <a:schemeClr val="accent5"/>
          </a:solidFill>
          <a:ln/>
        </p:spPr>
      </p:sp>
      <p:pic>
        <p:nvPicPr>
          <p:cNvPr id="37" name="Image 5" descr="preencoded.png">    </p:cNvPr>
          <p:cNvPicPr>
            <a:picLocks noChangeAspect="1"/>
          </p:cNvPicPr>
          <p:nvPr/>
        </p:nvPicPr>
        <p:blipFill>
          <a:blip r:embed="rId6"/>
          <a:stretch>
            <a:fillRect/>
          </a:stretch>
        </p:blipFill>
        <p:spPr>
          <a:xfrm>
            <a:off x="8280197" y="5797296"/>
            <a:ext cx="256032" cy="256032"/>
          </a:xfrm>
          <a:prstGeom prst="rect">
            <a:avLst/>
          </a:prstGeom>
        </p:spPr>
      </p:pic>
      <p:sp>
        <p:nvSpPr>
          <p:cNvPr id="38" name="Text 30"/>
          <p:cNvSpPr txBox="1"/>
          <p:nvPr/>
        </p:nvSpPr>
        <p:spPr>
          <a:xfrm>
            <a:off x="8627669" y="5650992"/>
            <a:ext cx="2859938" cy="566928"/>
          </a:xfrm>
          <a:prstGeom prst="rect">
            <a:avLst/>
          </a:prstGeom>
          <a:noFill/>
          <a:ln/>
        </p:spPr>
        <p:txBody>
          <a:bodyPr wrap="square" lIns="0" tIns="0" rIns="0" bIns="0" rtlCol="0" anchor="ctr"/>
          <a:lstStyle/>
          <a:p>
            <a:pPr indent="0" marL="0">
              <a:buNone/>
            </a:pPr>
            <a:r>
              <a:rPr lang="en-US" sz="1050" b="1" dirty="0">
                <a:solidFill>
                  <a:schemeClr val="tx2"/>
                </a:solidFill>
              </a:rPr>
              <a:t>Done when: </a:t>
            </a:r>
            <a:pPr indent="0" marL="0">
              <a:buNone/>
            </a:pPr>
            <a:r>
              <a:rPr lang="en-US" sz="1050" dirty="0">
                <a:solidFill>
                  <a:schemeClr val="tx1"/>
                </a:solidFill>
              </a:rPr>
              <a:t>A discovery run over historical calls has been reviewed, and the approved additions are in use for new calls.</a:t>
            </a:r>
            <a:endParaRPr lang="en-US" sz="105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After R1.5: options for going deeper</a:t>
            </a:r>
            <a:endParaRPr lang="en-US" sz="3200" dirty="0"/>
          </a:p>
        </p:txBody>
      </p:sp>
      <p:sp>
        <p:nvSpPr>
          <p:cNvPr id="3" name="Text 1"/>
          <p:cNvSpPr txBox="1"/>
          <p:nvPr/>
        </p:nvSpPr>
        <p:spPr>
          <a:xfrm>
            <a:off x="548640" y="1005840"/>
            <a:ext cx="7315200" cy="365760"/>
          </a:xfrm>
          <a:prstGeom prst="rect">
            <a:avLst/>
          </a:prstGeom>
          <a:noFill/>
          <a:ln/>
        </p:spPr>
        <p:txBody>
          <a:bodyPr wrap="square" lIns="0" tIns="0" rIns="0" bIns="0" rtlCol="0" anchor="ctr"/>
          <a:lstStyle/>
          <a:p>
            <a:pPr indent="0" marL="0">
              <a:buNone/>
            </a:pPr>
            <a:r>
              <a:rPr lang="en-US" sz="1500" i="1" dirty="0">
                <a:solidFill>
                  <a:schemeClr val="accent4"/>
                </a:solidFill>
              </a:rPr>
              <a:t>Most are available as soon as R1 is live</a:t>
            </a:r>
            <a:endParaRPr lang="en-US" sz="1500" dirty="0"/>
          </a:p>
        </p:txBody>
      </p:sp>
      <p:sp>
        <p:nvSpPr>
          <p:cNvPr id="4" name="Option 1"/>
          <p:cNvSpPr/>
          <p:nvPr/>
        </p:nvSpPr>
        <p:spPr>
          <a:xfrm>
            <a:off x="548640" y="1600200"/>
            <a:ext cx="2036003" cy="4206240"/>
          </a:xfrm>
          <a:prstGeom prst="roundRect">
            <a:avLst>
              <a:gd name="adj" fmla="val 4491"/>
            </a:avLst>
          </a:prstGeom>
          <a:solidFill>
            <a:schemeClr val="bg1"/>
          </a:solidFill>
          <a:ln w="12700">
            <a:solidFill>
              <a:schemeClr val="accent5"/>
            </a:solidFill>
            <a:prstDash val="solid"/>
          </a:ln>
        </p:spPr>
      </p:sp>
      <p:sp>
        <p:nvSpPr>
          <p:cNvPr id="5" name="Option icon bg 1"/>
          <p:cNvSpPr/>
          <p:nvPr/>
        </p:nvSpPr>
        <p:spPr>
          <a:xfrm>
            <a:off x="777240" y="1874520"/>
            <a:ext cx="640080" cy="64008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32688" y="2029968"/>
            <a:ext cx="329184" cy="329184"/>
          </a:xfrm>
          <a:prstGeom prst="rect">
            <a:avLst/>
          </a:prstGeom>
        </p:spPr>
      </p:pic>
      <p:sp>
        <p:nvSpPr>
          <p:cNvPr id="7" name="Text 4"/>
          <p:cNvSpPr txBox="1"/>
          <p:nvPr/>
        </p:nvSpPr>
        <p:spPr>
          <a:xfrm>
            <a:off x="777240" y="2624328"/>
            <a:ext cx="1624523" cy="731520"/>
          </a:xfrm>
          <a:prstGeom prst="rect">
            <a:avLst/>
          </a:prstGeom>
          <a:noFill/>
          <a:ln/>
        </p:spPr>
        <p:txBody>
          <a:bodyPr wrap="square" lIns="0" tIns="0" rIns="0" bIns="0" rtlCol="0" anchor="t"/>
          <a:lstStyle/>
          <a:p>
            <a:pPr indent="0" marL="0">
              <a:buNone/>
            </a:pPr>
            <a:r>
              <a:rPr lang="en-US" sz="1400" b="1" dirty="0">
                <a:solidFill>
                  <a:schemeClr val="tx2"/>
                </a:solidFill>
              </a:rPr>
              <a:t>Download the data</a:t>
            </a:r>
            <a:endParaRPr lang="en-US" sz="1400" dirty="0"/>
          </a:p>
        </p:txBody>
      </p:sp>
      <p:sp>
        <p:nvSpPr>
          <p:cNvPr id="8" name="Text 5"/>
          <p:cNvSpPr txBox="1"/>
          <p:nvPr/>
        </p:nvSpPr>
        <p:spPr>
          <a:xfrm>
            <a:off x="777240" y="3474720"/>
            <a:ext cx="1624523" cy="2194560"/>
          </a:xfrm>
          <a:prstGeom prst="rect">
            <a:avLst/>
          </a:prstGeom>
          <a:noFill/>
          <a:ln/>
        </p:spPr>
        <p:txBody>
          <a:bodyPr wrap="square" lIns="0" tIns="0" rIns="0" bIns="0" rtlCol="0" anchor="t"/>
          <a:lstStyle/>
          <a:p>
            <a:pPr indent="0" marL="0">
              <a:buNone/>
            </a:pPr>
            <a:r>
              <a:rPr lang="en-US" sz="1300" dirty="0">
                <a:solidFill>
                  <a:schemeClr val="tx1"/>
                </a:solidFill>
              </a:rPr>
              <a:t>Pull the categorized calls for any category, subcategory, group or period as an extract (for example to Excel) and analyze them however you like.</a:t>
            </a:r>
            <a:endParaRPr lang="en-US" sz="1300" dirty="0"/>
          </a:p>
        </p:txBody>
      </p:sp>
      <p:sp>
        <p:nvSpPr>
          <p:cNvPr id="9" name="Option 2"/>
          <p:cNvSpPr/>
          <p:nvPr/>
        </p:nvSpPr>
        <p:spPr>
          <a:xfrm>
            <a:off x="2813243" y="1600200"/>
            <a:ext cx="2036003" cy="4206240"/>
          </a:xfrm>
          <a:prstGeom prst="roundRect">
            <a:avLst>
              <a:gd name="adj" fmla="val 4491"/>
            </a:avLst>
          </a:prstGeom>
          <a:solidFill>
            <a:schemeClr val="bg1"/>
          </a:solidFill>
          <a:ln w="12700">
            <a:solidFill>
              <a:schemeClr val="accent5"/>
            </a:solidFill>
            <a:prstDash val="solid"/>
          </a:ln>
        </p:spPr>
      </p:sp>
      <p:sp>
        <p:nvSpPr>
          <p:cNvPr id="10" name="Option icon bg 2"/>
          <p:cNvSpPr/>
          <p:nvPr/>
        </p:nvSpPr>
        <p:spPr>
          <a:xfrm>
            <a:off x="3041843" y="1874520"/>
            <a:ext cx="640080" cy="64008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3197291" y="2029968"/>
            <a:ext cx="329184" cy="329184"/>
          </a:xfrm>
          <a:prstGeom prst="rect">
            <a:avLst/>
          </a:prstGeom>
        </p:spPr>
      </p:pic>
      <p:sp>
        <p:nvSpPr>
          <p:cNvPr id="12" name="Text 8"/>
          <p:cNvSpPr txBox="1"/>
          <p:nvPr/>
        </p:nvSpPr>
        <p:spPr>
          <a:xfrm>
            <a:off x="3041843" y="2624328"/>
            <a:ext cx="1624523" cy="731520"/>
          </a:xfrm>
          <a:prstGeom prst="rect">
            <a:avLst/>
          </a:prstGeom>
          <a:noFill/>
          <a:ln/>
        </p:spPr>
        <p:txBody>
          <a:bodyPr wrap="square" lIns="0" tIns="0" rIns="0" bIns="0" rtlCol="0" anchor="t"/>
          <a:lstStyle/>
          <a:p>
            <a:pPr indent="0" marL="0">
              <a:buNone/>
            </a:pPr>
            <a:r>
              <a:rPr lang="en-US" sz="1400" b="1" dirty="0">
                <a:solidFill>
                  <a:schemeClr val="tx2"/>
                </a:solidFill>
              </a:rPr>
              <a:t>Self-service BI</a:t>
            </a:r>
            <a:endParaRPr lang="en-US" sz="1400" dirty="0"/>
          </a:p>
        </p:txBody>
      </p:sp>
      <p:sp>
        <p:nvSpPr>
          <p:cNvPr id="13" name="Text 9"/>
          <p:cNvSpPr txBox="1"/>
          <p:nvPr/>
        </p:nvSpPr>
        <p:spPr>
          <a:xfrm>
            <a:off x="3041843" y="3474720"/>
            <a:ext cx="1624523" cy="2194560"/>
          </a:xfrm>
          <a:prstGeom prst="rect">
            <a:avLst/>
          </a:prstGeom>
          <a:noFill/>
          <a:ln/>
        </p:spPr>
        <p:txBody>
          <a:bodyPr wrap="square" lIns="0" tIns="0" rIns="0" bIns="0" rtlCol="0" anchor="t"/>
          <a:lstStyle/>
          <a:p>
            <a:pPr indent="0" marL="0">
              <a:buNone/>
            </a:pPr>
            <a:r>
              <a:rPr lang="en-US" sz="1300" dirty="0">
                <a:solidFill>
                  <a:schemeClr val="tx1"/>
                </a:solidFill>
              </a:rPr>
              <a:t>Use Power BI, Tableau or other Snowflake analytics tools on the categorized data, combined with group, member and plan data.</a:t>
            </a:r>
            <a:endParaRPr lang="en-US" sz="1300" dirty="0"/>
          </a:p>
        </p:txBody>
      </p:sp>
      <p:sp>
        <p:nvSpPr>
          <p:cNvPr id="14" name="Option 3"/>
          <p:cNvSpPr/>
          <p:nvPr/>
        </p:nvSpPr>
        <p:spPr>
          <a:xfrm>
            <a:off x="5077846" y="1600200"/>
            <a:ext cx="2036003" cy="4206240"/>
          </a:xfrm>
          <a:prstGeom prst="roundRect">
            <a:avLst>
              <a:gd name="adj" fmla="val 4491"/>
            </a:avLst>
          </a:prstGeom>
          <a:solidFill>
            <a:schemeClr val="bg1"/>
          </a:solidFill>
          <a:ln w="12700">
            <a:solidFill>
              <a:schemeClr val="accent5"/>
            </a:solidFill>
            <a:prstDash val="solid"/>
          </a:ln>
        </p:spPr>
      </p:sp>
      <p:sp>
        <p:nvSpPr>
          <p:cNvPr id="15" name="Option icon bg 3"/>
          <p:cNvSpPr/>
          <p:nvPr/>
        </p:nvSpPr>
        <p:spPr>
          <a:xfrm>
            <a:off x="5306446" y="1874520"/>
            <a:ext cx="640080" cy="64008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5461894" y="2029968"/>
            <a:ext cx="329184" cy="329184"/>
          </a:xfrm>
          <a:prstGeom prst="rect">
            <a:avLst/>
          </a:prstGeom>
        </p:spPr>
      </p:pic>
      <p:sp>
        <p:nvSpPr>
          <p:cNvPr id="17" name="Text 12"/>
          <p:cNvSpPr txBox="1"/>
          <p:nvPr/>
        </p:nvSpPr>
        <p:spPr>
          <a:xfrm>
            <a:off x="5306446" y="2624328"/>
            <a:ext cx="1624523" cy="731520"/>
          </a:xfrm>
          <a:prstGeom prst="rect">
            <a:avLst/>
          </a:prstGeom>
          <a:noFill/>
          <a:ln/>
        </p:spPr>
        <p:txBody>
          <a:bodyPr wrap="square" lIns="0" tIns="0" rIns="0" bIns="0" rtlCol="0" anchor="t"/>
          <a:lstStyle/>
          <a:p>
            <a:pPr indent="0" marL="0">
              <a:buNone/>
            </a:pPr>
            <a:r>
              <a:rPr lang="en-US" sz="1400" b="1" dirty="0">
                <a:solidFill>
                  <a:schemeClr val="tx2"/>
                </a:solidFill>
              </a:rPr>
              <a:t>Ask the data science team</a:t>
            </a:r>
            <a:endParaRPr lang="en-US" sz="1400" dirty="0"/>
          </a:p>
        </p:txBody>
      </p:sp>
      <p:sp>
        <p:nvSpPr>
          <p:cNvPr id="18" name="Text 13"/>
          <p:cNvSpPr txBox="1"/>
          <p:nvPr/>
        </p:nvSpPr>
        <p:spPr>
          <a:xfrm>
            <a:off x="5306446" y="3474720"/>
            <a:ext cx="1624523" cy="2194560"/>
          </a:xfrm>
          <a:prstGeom prst="rect">
            <a:avLst/>
          </a:prstGeom>
          <a:noFill/>
          <a:ln/>
        </p:spPr>
        <p:txBody>
          <a:bodyPr wrap="square" lIns="0" tIns="0" rIns="0" bIns="0" rtlCol="0" anchor="t"/>
          <a:lstStyle/>
          <a:p>
            <a:pPr indent="0" marL="0">
              <a:buNone/>
            </a:pPr>
            <a:r>
              <a:rPr lang="en-US" sz="1300" dirty="0">
                <a:solidFill>
                  <a:schemeClr val="tx1"/>
                </a:solidFill>
              </a:rPr>
              <a:t>Hand the calls for a subcategory to the data science team for a focused study.</a:t>
            </a:r>
            <a:endParaRPr lang="en-US" sz="1300" dirty="0"/>
          </a:p>
        </p:txBody>
      </p:sp>
      <p:sp>
        <p:nvSpPr>
          <p:cNvPr id="19" name="Option 4"/>
          <p:cNvSpPr/>
          <p:nvPr/>
        </p:nvSpPr>
        <p:spPr>
          <a:xfrm>
            <a:off x="7342449" y="1600200"/>
            <a:ext cx="2036003" cy="4206240"/>
          </a:xfrm>
          <a:prstGeom prst="roundRect">
            <a:avLst>
              <a:gd name="adj" fmla="val 4491"/>
            </a:avLst>
          </a:prstGeom>
          <a:solidFill>
            <a:schemeClr val="bg1"/>
          </a:solidFill>
          <a:ln w="12700">
            <a:solidFill>
              <a:schemeClr val="accent5"/>
            </a:solidFill>
            <a:prstDash val="solid"/>
          </a:ln>
        </p:spPr>
      </p:sp>
      <p:sp>
        <p:nvSpPr>
          <p:cNvPr id="20" name="Option icon bg 4"/>
          <p:cNvSpPr/>
          <p:nvPr/>
        </p:nvSpPr>
        <p:spPr>
          <a:xfrm>
            <a:off x="7571049" y="1874520"/>
            <a:ext cx="640080" cy="64008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7726497" y="2029968"/>
            <a:ext cx="329184" cy="329184"/>
          </a:xfrm>
          <a:prstGeom prst="rect">
            <a:avLst/>
          </a:prstGeom>
        </p:spPr>
      </p:pic>
      <p:sp>
        <p:nvSpPr>
          <p:cNvPr id="22" name="Text 16"/>
          <p:cNvSpPr txBox="1"/>
          <p:nvPr/>
        </p:nvSpPr>
        <p:spPr>
          <a:xfrm>
            <a:off x="7571049" y="2624328"/>
            <a:ext cx="1624523" cy="731520"/>
          </a:xfrm>
          <a:prstGeom prst="rect">
            <a:avLst/>
          </a:prstGeom>
          <a:noFill/>
          <a:ln/>
        </p:spPr>
        <p:txBody>
          <a:bodyPr wrap="square" lIns="0" tIns="0" rIns="0" bIns="0" rtlCol="0" anchor="t"/>
          <a:lstStyle/>
          <a:p>
            <a:pPr indent="0" marL="0">
              <a:buNone/>
            </a:pPr>
            <a:r>
              <a:rPr lang="en-US" sz="1400" b="1" dirty="0">
                <a:solidFill>
                  <a:schemeClr val="tx2"/>
                </a:solidFill>
              </a:rPr>
              <a:t>Chat with the data using an AI assistant</a:t>
            </a:r>
            <a:endParaRPr lang="en-US" sz="1400" dirty="0"/>
          </a:p>
        </p:txBody>
      </p:sp>
      <p:sp>
        <p:nvSpPr>
          <p:cNvPr id="23" name="Text 17"/>
          <p:cNvSpPr txBox="1"/>
          <p:nvPr/>
        </p:nvSpPr>
        <p:spPr>
          <a:xfrm>
            <a:off x="7571049" y="3474720"/>
            <a:ext cx="1624523" cy="2194560"/>
          </a:xfrm>
          <a:prstGeom prst="rect">
            <a:avLst/>
          </a:prstGeom>
          <a:noFill/>
          <a:ln/>
        </p:spPr>
        <p:txBody>
          <a:bodyPr wrap="square" lIns="0" tIns="0" rIns="0" bIns="0" rtlCol="0" anchor="t"/>
          <a:lstStyle/>
          <a:p>
            <a:pPr indent="0" marL="0">
              <a:buNone/>
            </a:pPr>
            <a:r>
              <a:rPr lang="en-US" sz="1300" dirty="0">
                <a:solidFill>
                  <a:schemeClr val="tx1"/>
                </a:solidFill>
              </a:rPr>
              <a:t>Give a Cowork or Copilot type tool access to the data and ask questions in plain language; it writes the queries or scripts and returns the answer, for example which procedures TenCare members ask about most.</a:t>
            </a:r>
            <a:endParaRPr lang="en-US" sz="1300" dirty="0"/>
          </a:p>
        </p:txBody>
      </p:sp>
      <p:sp>
        <p:nvSpPr>
          <p:cNvPr id="24" name="Option 5"/>
          <p:cNvSpPr/>
          <p:nvPr/>
        </p:nvSpPr>
        <p:spPr>
          <a:xfrm>
            <a:off x="9607052" y="1600200"/>
            <a:ext cx="2036003" cy="4206240"/>
          </a:xfrm>
          <a:prstGeom prst="roundRect">
            <a:avLst>
              <a:gd name="adj" fmla="val 4491"/>
            </a:avLst>
          </a:prstGeom>
          <a:solidFill>
            <a:schemeClr val="bg1"/>
          </a:solidFill>
          <a:ln w="12700">
            <a:solidFill>
              <a:schemeClr val="accent5"/>
            </a:solidFill>
            <a:prstDash val="solid"/>
          </a:ln>
        </p:spPr>
      </p:sp>
      <p:sp>
        <p:nvSpPr>
          <p:cNvPr id="25" name="Option icon bg 5"/>
          <p:cNvSpPr/>
          <p:nvPr/>
        </p:nvSpPr>
        <p:spPr>
          <a:xfrm>
            <a:off x="9835652" y="1874520"/>
            <a:ext cx="640080" cy="640080"/>
          </a:xfrm>
          <a:prstGeom prst="ellipse">
            <a:avLst/>
          </a:prstGeom>
          <a:solidFill>
            <a:schemeClr val="accent2"/>
          </a:solidFill>
          <a:ln/>
        </p:spPr>
      </p:sp>
      <p:pic>
        <p:nvPicPr>
          <p:cNvPr id="26" name="Image 4" descr="preencoded.png">    </p:cNvPr>
          <p:cNvPicPr>
            <a:picLocks noChangeAspect="1"/>
          </p:cNvPicPr>
          <p:nvPr/>
        </p:nvPicPr>
        <p:blipFill>
          <a:blip r:embed="rId5"/>
          <a:stretch>
            <a:fillRect/>
          </a:stretch>
        </p:blipFill>
        <p:spPr>
          <a:xfrm>
            <a:off x="9991100" y="2029968"/>
            <a:ext cx="329184" cy="329184"/>
          </a:xfrm>
          <a:prstGeom prst="rect">
            <a:avLst/>
          </a:prstGeom>
        </p:spPr>
      </p:pic>
      <p:sp>
        <p:nvSpPr>
          <p:cNvPr id="27" name="Text 20"/>
          <p:cNvSpPr txBox="1"/>
          <p:nvPr/>
        </p:nvSpPr>
        <p:spPr>
          <a:xfrm>
            <a:off x="9835652" y="2624328"/>
            <a:ext cx="1624523" cy="731520"/>
          </a:xfrm>
          <a:prstGeom prst="rect">
            <a:avLst/>
          </a:prstGeom>
          <a:noFill/>
          <a:ln/>
        </p:spPr>
        <p:txBody>
          <a:bodyPr wrap="square" lIns="0" tIns="0" rIns="0" bIns="0" rtlCol="0" anchor="t"/>
          <a:lstStyle/>
          <a:p>
            <a:pPr indent="0" marL="0">
              <a:buNone/>
            </a:pPr>
            <a:r>
              <a:rPr lang="en-US" sz="1400" b="1" dirty="0">
                <a:solidFill>
                  <a:schemeClr val="tx2"/>
                </a:solidFill>
              </a:rPr>
              <a:t>Build a further processing workflow</a:t>
            </a:r>
            <a:endParaRPr lang="en-US" sz="1400" dirty="0"/>
          </a:p>
        </p:txBody>
      </p:sp>
      <p:sp>
        <p:nvSpPr>
          <p:cNvPr id="28" name="Text 21"/>
          <p:cNvSpPr txBox="1"/>
          <p:nvPr/>
        </p:nvSpPr>
        <p:spPr>
          <a:xfrm>
            <a:off x="9835652" y="3474720"/>
            <a:ext cx="1624523" cy="2194560"/>
          </a:xfrm>
          <a:prstGeom prst="rect">
            <a:avLst/>
          </a:prstGeom>
          <a:noFill/>
          <a:ln/>
        </p:spPr>
        <p:txBody>
          <a:bodyPr wrap="square" lIns="0" tIns="0" rIns="0" bIns="0" rtlCol="0" anchor="t"/>
          <a:lstStyle/>
          <a:p>
            <a:pPr indent="0" marL="0">
              <a:buNone/>
            </a:pPr>
            <a:r>
              <a:rPr lang="en-US" sz="1300" dirty="0">
                <a:solidFill>
                  <a:schemeClr val="tx1"/>
                </a:solidFill>
              </a:rPr>
              <a:t>Fund additional automated processing for specific subcategories, for example capturing the procedure code on every benefits call (see R2 on the next slide).</a:t>
            </a:r>
            <a:endParaRPr lang="en-US" sz="1300" dirty="0"/>
          </a:p>
        </p:txBody>
      </p:sp>
      <p:sp>
        <p:nvSpPr>
          <p:cNvPr id="29" name="Text 22"/>
          <p:cNvSpPr txBox="1"/>
          <p:nvPr/>
        </p:nvSpPr>
        <p:spPr>
          <a:xfrm>
            <a:off x="548640" y="5989320"/>
            <a:ext cx="11094415" cy="365760"/>
          </a:xfrm>
          <a:prstGeom prst="rect">
            <a:avLst/>
          </a:prstGeom>
          <a:noFill/>
          <a:ln/>
        </p:spPr>
        <p:txBody>
          <a:bodyPr wrap="square" lIns="0" tIns="0" rIns="0" bIns="0" rtlCol="0" anchor="ctr"/>
          <a:lstStyle/>
          <a:p>
            <a:pPr indent="0" marL="0">
              <a:buNone/>
            </a:pPr>
            <a:r>
              <a:rPr lang="en-US" sz="1400" b="1" dirty="0">
                <a:solidFill>
                  <a:schemeClr val="tx2"/>
                </a:solidFill>
              </a:rPr>
              <a:t>We reassess after R1.5, based on what these options show, before committing to further releases.</a:t>
            </a:r>
            <a:endParaRPr lang="en-US" sz="14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Future direction</a:t>
            </a:r>
            <a:endParaRPr lang="en-US" sz="3200" dirty="0"/>
          </a:p>
        </p:txBody>
      </p:sp>
      <p:sp>
        <p:nvSpPr>
          <p:cNvPr id="3" name="Text 1"/>
          <p:cNvSpPr txBox="1"/>
          <p:nvPr/>
        </p:nvSpPr>
        <p:spPr>
          <a:xfrm>
            <a:off x="548640" y="1005840"/>
            <a:ext cx="10058400" cy="365760"/>
          </a:xfrm>
          <a:prstGeom prst="rect">
            <a:avLst/>
          </a:prstGeom>
          <a:noFill/>
          <a:ln/>
        </p:spPr>
        <p:txBody>
          <a:bodyPr wrap="square" lIns="0" tIns="0" rIns="0" bIns="0" rtlCol="0" anchor="ctr"/>
          <a:lstStyle/>
          <a:p>
            <a:pPr indent="0" marL="0">
              <a:buNone/>
            </a:pPr>
            <a:r>
              <a:rPr lang="en-US" sz="1500" i="1" dirty="0">
                <a:solidFill>
                  <a:schemeClr val="accent4"/>
                </a:solidFill>
              </a:rPr>
              <a:t>Not part of this funding request and not estimated; re-scoped after R1.5</a:t>
            </a:r>
            <a:endParaRPr lang="en-US" sz="1500" dirty="0"/>
          </a:p>
        </p:txBody>
      </p:sp>
      <p:sp>
        <p:nvSpPr>
          <p:cNvPr id="4" name="Future R2"/>
          <p:cNvSpPr/>
          <p:nvPr/>
        </p:nvSpPr>
        <p:spPr>
          <a:xfrm>
            <a:off x="548640" y="1554480"/>
            <a:ext cx="3515258" cy="4709160"/>
          </a:xfrm>
          <a:prstGeom prst="roundRect">
            <a:avLst>
              <a:gd name="adj" fmla="val 2601"/>
            </a:avLst>
          </a:prstGeom>
          <a:solidFill>
            <a:schemeClr val="bg1"/>
          </a:solidFill>
          <a:ln w="12700">
            <a:solidFill>
              <a:schemeClr val="accent4"/>
            </a:solidFill>
            <a:prstDash val="solid"/>
          </a:ln>
        </p:spPr>
      </p:sp>
      <p:sp>
        <p:nvSpPr>
          <p:cNvPr id="5" name="Future icon bg R2"/>
          <p:cNvSpPr/>
          <p:nvPr/>
        </p:nvSpPr>
        <p:spPr>
          <a:xfrm>
            <a:off x="822960" y="1828800"/>
            <a:ext cx="594360" cy="594360"/>
          </a:xfrm>
          <a:prstGeom prst="ellipse">
            <a:avLst/>
          </a:prstGeom>
          <a:solidFill>
            <a:schemeClr val="accent4"/>
          </a:solidFill>
          <a:ln/>
        </p:spPr>
      </p:sp>
      <p:pic>
        <p:nvPicPr>
          <p:cNvPr id="6" name="Image 0" descr="preencoded.png">    </p:cNvPr>
          <p:cNvPicPr>
            <a:picLocks noChangeAspect="1"/>
          </p:cNvPicPr>
          <p:nvPr/>
        </p:nvPicPr>
        <p:blipFill>
          <a:blip r:embed="rId1"/>
          <a:stretch>
            <a:fillRect/>
          </a:stretch>
        </p:blipFill>
        <p:spPr>
          <a:xfrm>
            <a:off x="969264" y="1975104"/>
            <a:ext cx="301752" cy="301752"/>
          </a:xfrm>
          <a:prstGeom prst="rect">
            <a:avLst/>
          </a:prstGeom>
        </p:spPr>
      </p:pic>
      <p:sp>
        <p:nvSpPr>
          <p:cNvPr id="7" name="Text 4"/>
          <p:cNvSpPr txBox="1"/>
          <p:nvPr/>
        </p:nvSpPr>
        <p:spPr>
          <a:xfrm>
            <a:off x="1554480" y="1828800"/>
            <a:ext cx="2326538" cy="320040"/>
          </a:xfrm>
          <a:prstGeom prst="rect">
            <a:avLst/>
          </a:prstGeom>
          <a:noFill/>
          <a:ln/>
        </p:spPr>
        <p:txBody>
          <a:bodyPr wrap="square" lIns="0" tIns="0" rIns="0" bIns="0" rtlCol="0" anchor="ctr"/>
          <a:lstStyle/>
          <a:p>
            <a:pPr indent="0" marL="0">
              <a:buNone/>
            </a:pPr>
            <a:r>
              <a:rPr lang="en-US" sz="1600" b="1" dirty="0">
                <a:solidFill>
                  <a:schemeClr val="accent4"/>
                </a:solidFill>
              </a:rPr>
              <a:t>R2</a:t>
            </a:r>
            <a:endParaRPr lang="en-US" sz="1600" dirty="0"/>
          </a:p>
        </p:txBody>
      </p:sp>
      <p:sp>
        <p:nvSpPr>
          <p:cNvPr id="8" name="Text 5"/>
          <p:cNvSpPr txBox="1"/>
          <p:nvPr/>
        </p:nvSpPr>
        <p:spPr>
          <a:xfrm>
            <a:off x="1554480" y="2121408"/>
            <a:ext cx="2326538" cy="502920"/>
          </a:xfrm>
          <a:prstGeom prst="rect">
            <a:avLst/>
          </a:prstGeom>
          <a:noFill/>
          <a:ln/>
        </p:spPr>
        <p:txBody>
          <a:bodyPr wrap="square" lIns="0" tIns="0" rIns="0" bIns="0" rtlCol="0" anchor="t"/>
          <a:lstStyle/>
          <a:p>
            <a:pPr indent="0" marL="0">
              <a:buNone/>
            </a:pPr>
            <a:r>
              <a:rPr lang="en-US" sz="1400" b="1" dirty="0">
                <a:solidFill>
                  <a:schemeClr val="tx2"/>
                </a:solidFill>
              </a:rPr>
              <a:t>Drill-down detail and dashboard</a:t>
            </a:r>
            <a:endParaRPr lang="en-US" sz="1400" dirty="0"/>
          </a:p>
        </p:txBody>
      </p:sp>
      <p:sp>
        <p:nvSpPr>
          <p:cNvPr id="9" name="Text 6"/>
          <p:cNvSpPr txBox="1"/>
          <p:nvPr/>
        </p:nvSpPr>
        <p:spPr>
          <a:xfrm>
            <a:off x="822960" y="2697480"/>
            <a:ext cx="3012338" cy="1691640"/>
          </a:xfrm>
          <a:prstGeom prst="rect">
            <a:avLst/>
          </a:prstGeom>
          <a:noFill/>
          <a:ln/>
        </p:spPr>
        <p:txBody>
          <a:bodyPr wrap="square" lIns="0" tIns="0" rIns="0" bIns="0" rtlCol="0" anchor="t"/>
          <a:lstStyle/>
          <a:p>
            <a:pPr indent="0" marL="0">
              <a:buNone/>
            </a:pPr>
            <a:r>
              <a:rPr lang="en-US" sz="1200" dirty="0">
                <a:solidFill>
                  <a:schemeClr val="tx1"/>
                </a:solidFill>
              </a:rPr>
              <a:t>For the subcategories chosen after R1.5, AI reviews a sample of calls and suggests what is worth capturing (for example, the procedure code, or whether a dentist list was emailed or read over the phone). Once the business confirms, that detail is captured automatically on new calls, and an interactive dashboard on Snowflake lets people drill from category to subcategory to the detail.</a:t>
            </a:r>
            <a:endParaRPr lang="en-US" sz="1200" dirty="0"/>
          </a:p>
        </p:txBody>
      </p:sp>
      <p:sp>
        <p:nvSpPr>
          <p:cNvPr id="10" name="Text 7"/>
          <p:cNvSpPr txBox="1"/>
          <p:nvPr/>
        </p:nvSpPr>
        <p:spPr>
          <a:xfrm>
            <a:off x="822960" y="4434840"/>
            <a:ext cx="3012338" cy="274320"/>
          </a:xfrm>
          <a:prstGeom prst="rect">
            <a:avLst/>
          </a:prstGeom>
          <a:noFill/>
          <a:ln/>
        </p:spPr>
        <p:txBody>
          <a:bodyPr wrap="square" lIns="0" tIns="0" rIns="0" bIns="0" rtlCol="0" anchor="ctr"/>
          <a:lstStyle/>
          <a:p>
            <a:pPr indent="0" marL="0">
              <a:buNone/>
            </a:pPr>
            <a:r>
              <a:rPr lang="en-US" sz="1300" b="1" dirty="0">
                <a:solidFill>
                  <a:schemeClr val="tx2"/>
                </a:solidFill>
              </a:rPr>
              <a:t>What business users would get</a:t>
            </a:r>
            <a:endParaRPr lang="en-US" sz="1300" dirty="0"/>
          </a:p>
        </p:txBody>
      </p:sp>
      <p:sp>
        <p:nvSpPr>
          <p:cNvPr id="11" name="Text 8"/>
          <p:cNvSpPr txBox="1"/>
          <p:nvPr/>
        </p:nvSpPr>
        <p:spPr>
          <a:xfrm>
            <a:off x="822960" y="4754880"/>
            <a:ext cx="3012338" cy="141732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1"/>
                </a:solidFill>
              </a:rPr>
              <a:t>Drill into the specifics behind a subcategory.</a:t>
            </a:r>
            <a:endParaRPr lang="en-US" sz="1200" dirty="0"/>
          </a:p>
          <a:p>
            <a:pPr marL="342900" indent="-342900">
              <a:spcAft>
                <a:spcPts val="200"/>
              </a:spcAft>
              <a:buSzPct val="100000"/>
              <a:buChar char="•"/>
            </a:pPr>
            <a:r>
              <a:rPr lang="en-US" sz="1200" dirty="0">
                <a:solidFill>
                  <a:schemeClr val="tx1"/>
                </a:solidFill>
              </a:rPr>
              <a:t>An interactive dashboard: last 30, 60 or 90 days, filtered by caller type, group or program.</a:t>
            </a:r>
            <a:endParaRPr lang="en-US" sz="1200" dirty="0"/>
          </a:p>
        </p:txBody>
      </p:sp>
      <p:sp>
        <p:nvSpPr>
          <p:cNvPr id="12" name="Future R3"/>
          <p:cNvSpPr/>
          <p:nvPr/>
        </p:nvSpPr>
        <p:spPr>
          <a:xfrm>
            <a:off x="4338218" y="1554480"/>
            <a:ext cx="3515258" cy="4709160"/>
          </a:xfrm>
          <a:prstGeom prst="roundRect">
            <a:avLst>
              <a:gd name="adj" fmla="val 2601"/>
            </a:avLst>
          </a:prstGeom>
          <a:solidFill>
            <a:schemeClr val="bg1"/>
          </a:solidFill>
          <a:ln w="12700">
            <a:solidFill>
              <a:schemeClr val="accent4"/>
            </a:solidFill>
            <a:prstDash val="solid"/>
          </a:ln>
        </p:spPr>
      </p:sp>
      <p:sp>
        <p:nvSpPr>
          <p:cNvPr id="13" name="Future icon bg R3"/>
          <p:cNvSpPr/>
          <p:nvPr/>
        </p:nvSpPr>
        <p:spPr>
          <a:xfrm>
            <a:off x="4612538" y="1828800"/>
            <a:ext cx="594360" cy="594360"/>
          </a:xfrm>
          <a:prstGeom prst="ellipse">
            <a:avLst/>
          </a:prstGeom>
          <a:solidFill>
            <a:schemeClr val="accent4"/>
          </a:solidFill>
          <a:ln/>
        </p:spPr>
      </p:sp>
      <p:pic>
        <p:nvPicPr>
          <p:cNvPr id="14" name="Image 1" descr="preencoded.png">    </p:cNvPr>
          <p:cNvPicPr>
            <a:picLocks noChangeAspect="1"/>
          </p:cNvPicPr>
          <p:nvPr/>
        </p:nvPicPr>
        <p:blipFill>
          <a:blip r:embed="rId2"/>
          <a:stretch>
            <a:fillRect/>
          </a:stretch>
        </p:blipFill>
        <p:spPr>
          <a:xfrm>
            <a:off x="4758842" y="1975104"/>
            <a:ext cx="301752" cy="301752"/>
          </a:xfrm>
          <a:prstGeom prst="rect">
            <a:avLst/>
          </a:prstGeom>
        </p:spPr>
      </p:pic>
      <p:sp>
        <p:nvSpPr>
          <p:cNvPr id="15" name="Text 11"/>
          <p:cNvSpPr txBox="1"/>
          <p:nvPr/>
        </p:nvSpPr>
        <p:spPr>
          <a:xfrm>
            <a:off x="5344058" y="1828800"/>
            <a:ext cx="2326538" cy="320040"/>
          </a:xfrm>
          <a:prstGeom prst="rect">
            <a:avLst/>
          </a:prstGeom>
          <a:noFill/>
          <a:ln/>
        </p:spPr>
        <p:txBody>
          <a:bodyPr wrap="square" lIns="0" tIns="0" rIns="0" bIns="0" rtlCol="0" anchor="ctr"/>
          <a:lstStyle/>
          <a:p>
            <a:pPr indent="0" marL="0">
              <a:buNone/>
            </a:pPr>
            <a:r>
              <a:rPr lang="en-US" sz="1600" b="1" dirty="0">
                <a:solidFill>
                  <a:schemeClr val="accent4"/>
                </a:solidFill>
              </a:rPr>
              <a:t>R3</a:t>
            </a:r>
            <a:endParaRPr lang="en-US" sz="1600" dirty="0"/>
          </a:p>
        </p:txBody>
      </p:sp>
      <p:sp>
        <p:nvSpPr>
          <p:cNvPr id="16" name="Text 12"/>
          <p:cNvSpPr txBox="1"/>
          <p:nvPr/>
        </p:nvSpPr>
        <p:spPr>
          <a:xfrm>
            <a:off x="5344058" y="2121408"/>
            <a:ext cx="2326538" cy="502920"/>
          </a:xfrm>
          <a:prstGeom prst="rect">
            <a:avLst/>
          </a:prstGeom>
          <a:noFill/>
          <a:ln/>
        </p:spPr>
        <p:txBody>
          <a:bodyPr wrap="square" lIns="0" tIns="0" rIns="0" bIns="0" rtlCol="0" anchor="t"/>
          <a:lstStyle/>
          <a:p>
            <a:pPr indent="0" marL="0">
              <a:buNone/>
            </a:pPr>
            <a:r>
              <a:rPr lang="en-US" sz="1400" b="1" dirty="0">
                <a:solidFill>
                  <a:schemeClr val="tx2"/>
                </a:solidFill>
              </a:rPr>
              <a:t>Trends, chatbot and business-managed categories</a:t>
            </a:r>
            <a:endParaRPr lang="en-US" sz="1400" dirty="0"/>
          </a:p>
        </p:txBody>
      </p:sp>
      <p:sp>
        <p:nvSpPr>
          <p:cNvPr id="17" name="Text 13"/>
          <p:cNvSpPr txBox="1"/>
          <p:nvPr/>
        </p:nvSpPr>
        <p:spPr>
          <a:xfrm>
            <a:off x="4612538" y="2697480"/>
            <a:ext cx="3012338" cy="1691640"/>
          </a:xfrm>
          <a:prstGeom prst="rect">
            <a:avLst/>
          </a:prstGeom>
          <a:noFill/>
          <a:ln/>
        </p:spPr>
        <p:txBody>
          <a:bodyPr wrap="square" lIns="0" tIns="0" rIns="0" bIns="0" rtlCol="0" anchor="t"/>
          <a:lstStyle/>
          <a:p>
            <a:pPr indent="0" marL="0">
              <a:buNone/>
            </a:pPr>
            <a:r>
              <a:rPr lang="en-US" sz="1200" dirty="0">
                <a:solidFill>
                  <a:schemeClr val="tx1"/>
                </a:solidFill>
              </a:rPr>
              <a:t>Compare periods to see what is rising or falling, bring chatbot conversations into the analysis, and give the business a screen to review and approve category changes themselves.</a:t>
            </a:r>
            <a:endParaRPr lang="en-US" sz="1200" dirty="0"/>
          </a:p>
        </p:txBody>
      </p:sp>
      <p:sp>
        <p:nvSpPr>
          <p:cNvPr id="18" name="Text 14"/>
          <p:cNvSpPr txBox="1"/>
          <p:nvPr/>
        </p:nvSpPr>
        <p:spPr>
          <a:xfrm>
            <a:off x="4612538" y="4434840"/>
            <a:ext cx="3012338" cy="274320"/>
          </a:xfrm>
          <a:prstGeom prst="rect">
            <a:avLst/>
          </a:prstGeom>
          <a:noFill/>
          <a:ln/>
        </p:spPr>
        <p:txBody>
          <a:bodyPr wrap="square" lIns="0" tIns="0" rIns="0" bIns="0" rtlCol="0" anchor="ctr"/>
          <a:lstStyle/>
          <a:p>
            <a:pPr indent="0" marL="0">
              <a:buNone/>
            </a:pPr>
            <a:r>
              <a:rPr lang="en-US" sz="1300" b="1" dirty="0">
                <a:solidFill>
                  <a:schemeClr val="tx2"/>
                </a:solidFill>
              </a:rPr>
              <a:t>What business users would get</a:t>
            </a:r>
            <a:endParaRPr lang="en-US" sz="1300" dirty="0"/>
          </a:p>
        </p:txBody>
      </p:sp>
      <p:sp>
        <p:nvSpPr>
          <p:cNvPr id="19" name="Text 15"/>
          <p:cNvSpPr txBox="1"/>
          <p:nvPr/>
        </p:nvSpPr>
        <p:spPr>
          <a:xfrm>
            <a:off x="4612538" y="4754880"/>
            <a:ext cx="3012338" cy="141732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1"/>
                </a:solidFill>
              </a:rPr>
              <a:t>Period-over-period trends, overall or for one group.</a:t>
            </a:r>
            <a:endParaRPr lang="en-US" sz="1200" dirty="0"/>
          </a:p>
          <a:p>
            <a:pPr marL="342900" indent="-342900">
              <a:spcAft>
                <a:spcPts val="200"/>
              </a:spcAft>
              <a:buSzPct val="100000"/>
              <a:buChar char="•"/>
            </a:pPr>
            <a:r>
              <a:rPr lang="en-US" sz="1200" dirty="0">
                <a:solidFill>
                  <a:schemeClr val="tx1"/>
                </a:solidFill>
              </a:rPr>
              <a:t>What members ask the chatbot and whether it answered them.</a:t>
            </a:r>
            <a:endParaRPr lang="en-US" sz="1200" dirty="0"/>
          </a:p>
          <a:p>
            <a:pPr marL="342900" indent="-342900">
              <a:spcAft>
                <a:spcPts val="200"/>
              </a:spcAft>
              <a:buSzPct val="100000"/>
              <a:buChar char="•"/>
            </a:pPr>
            <a:r>
              <a:rPr lang="en-US" sz="1200" dirty="0">
                <a:solidFill>
                  <a:schemeClr val="tx1"/>
                </a:solidFill>
              </a:rPr>
              <a:t>Category changes approved by the business without a feature-team request.</a:t>
            </a:r>
            <a:endParaRPr lang="en-US" sz="1200" dirty="0"/>
          </a:p>
        </p:txBody>
      </p:sp>
      <p:sp>
        <p:nvSpPr>
          <p:cNvPr id="20" name="Future R4"/>
          <p:cNvSpPr/>
          <p:nvPr/>
        </p:nvSpPr>
        <p:spPr>
          <a:xfrm>
            <a:off x="8127797" y="1554480"/>
            <a:ext cx="3515258" cy="4709160"/>
          </a:xfrm>
          <a:prstGeom prst="roundRect">
            <a:avLst>
              <a:gd name="adj" fmla="val 2601"/>
            </a:avLst>
          </a:prstGeom>
          <a:solidFill>
            <a:schemeClr val="bg1"/>
          </a:solidFill>
          <a:ln w="12700">
            <a:solidFill>
              <a:schemeClr val="accent4"/>
            </a:solidFill>
            <a:prstDash val="solid"/>
          </a:ln>
        </p:spPr>
      </p:sp>
      <p:sp>
        <p:nvSpPr>
          <p:cNvPr id="21" name="Future icon bg R4"/>
          <p:cNvSpPr/>
          <p:nvPr/>
        </p:nvSpPr>
        <p:spPr>
          <a:xfrm>
            <a:off x="8402117" y="1828800"/>
            <a:ext cx="594360" cy="594360"/>
          </a:xfrm>
          <a:prstGeom prst="ellipse">
            <a:avLst/>
          </a:prstGeom>
          <a:solidFill>
            <a:schemeClr val="accent4"/>
          </a:solidFill>
          <a:ln/>
        </p:spPr>
      </p:sp>
      <p:pic>
        <p:nvPicPr>
          <p:cNvPr id="22" name="Image 2" descr="preencoded.png">    </p:cNvPr>
          <p:cNvPicPr>
            <a:picLocks noChangeAspect="1"/>
          </p:cNvPicPr>
          <p:nvPr/>
        </p:nvPicPr>
        <p:blipFill>
          <a:blip r:embed="rId3"/>
          <a:stretch>
            <a:fillRect/>
          </a:stretch>
        </p:blipFill>
        <p:spPr>
          <a:xfrm>
            <a:off x="8548421" y="1975104"/>
            <a:ext cx="301752" cy="301752"/>
          </a:xfrm>
          <a:prstGeom prst="rect">
            <a:avLst/>
          </a:prstGeom>
        </p:spPr>
      </p:pic>
      <p:sp>
        <p:nvSpPr>
          <p:cNvPr id="23" name="Text 18"/>
          <p:cNvSpPr txBox="1"/>
          <p:nvPr/>
        </p:nvSpPr>
        <p:spPr>
          <a:xfrm>
            <a:off x="9133637" y="1828800"/>
            <a:ext cx="2326538" cy="320040"/>
          </a:xfrm>
          <a:prstGeom prst="rect">
            <a:avLst/>
          </a:prstGeom>
          <a:noFill/>
          <a:ln/>
        </p:spPr>
        <p:txBody>
          <a:bodyPr wrap="square" lIns="0" tIns="0" rIns="0" bIns="0" rtlCol="0" anchor="ctr"/>
          <a:lstStyle/>
          <a:p>
            <a:pPr indent="0" marL="0">
              <a:buNone/>
            </a:pPr>
            <a:r>
              <a:rPr lang="en-US" sz="1600" b="1" dirty="0">
                <a:solidFill>
                  <a:schemeClr val="accent4"/>
                </a:solidFill>
              </a:rPr>
              <a:t>R4</a:t>
            </a:r>
            <a:endParaRPr lang="en-US" sz="1600" dirty="0"/>
          </a:p>
        </p:txBody>
      </p:sp>
      <p:sp>
        <p:nvSpPr>
          <p:cNvPr id="24" name="Text 19"/>
          <p:cNvSpPr txBox="1"/>
          <p:nvPr/>
        </p:nvSpPr>
        <p:spPr>
          <a:xfrm>
            <a:off x="9133637" y="2121408"/>
            <a:ext cx="2326538" cy="502920"/>
          </a:xfrm>
          <a:prstGeom prst="rect">
            <a:avLst/>
          </a:prstGeom>
          <a:noFill/>
          <a:ln/>
        </p:spPr>
        <p:txBody>
          <a:bodyPr wrap="square" lIns="0" tIns="0" rIns="0" bIns="0" rtlCol="0" anchor="t"/>
          <a:lstStyle/>
          <a:p>
            <a:pPr indent="0" marL="0">
              <a:buNone/>
            </a:pPr>
            <a:r>
              <a:rPr lang="en-US" sz="1400" b="1" dirty="0">
                <a:solidFill>
                  <a:schemeClr val="tx2"/>
                </a:solidFill>
              </a:rPr>
              <a:t>Ask questions of the data</a:t>
            </a:r>
            <a:endParaRPr lang="en-US" sz="1400" dirty="0"/>
          </a:p>
        </p:txBody>
      </p:sp>
      <p:sp>
        <p:nvSpPr>
          <p:cNvPr id="25" name="Text 20"/>
          <p:cNvSpPr txBox="1"/>
          <p:nvPr/>
        </p:nvSpPr>
        <p:spPr>
          <a:xfrm>
            <a:off x="8402117" y="2697480"/>
            <a:ext cx="3012338" cy="1691640"/>
          </a:xfrm>
          <a:prstGeom prst="rect">
            <a:avLst/>
          </a:prstGeom>
          <a:noFill/>
          <a:ln/>
        </p:spPr>
        <p:txBody>
          <a:bodyPr wrap="square" lIns="0" tIns="0" rIns="0" bIns="0" rtlCol="0" anchor="t"/>
          <a:lstStyle/>
          <a:p>
            <a:pPr indent="0" marL="0">
              <a:buNone/>
            </a:pPr>
            <a:r>
              <a:rPr lang="en-US" sz="1200" dirty="0">
                <a:solidFill>
                  <a:schemeClr val="tx1"/>
                </a:solidFill>
              </a:rPr>
              <a:t>Ask questions in plain language and get answers from the data, plus keyword search and routing analysis. Where existing tools (Snowflake, Power BI, Tableau, Cowork type assistants) already do this, we use them rather than build our own.</a:t>
            </a:r>
            <a:endParaRPr lang="en-US" sz="1200" dirty="0"/>
          </a:p>
        </p:txBody>
      </p:sp>
      <p:sp>
        <p:nvSpPr>
          <p:cNvPr id="26" name="Text 21"/>
          <p:cNvSpPr txBox="1"/>
          <p:nvPr/>
        </p:nvSpPr>
        <p:spPr>
          <a:xfrm>
            <a:off x="8402117" y="4434840"/>
            <a:ext cx="3012338" cy="274320"/>
          </a:xfrm>
          <a:prstGeom prst="rect">
            <a:avLst/>
          </a:prstGeom>
          <a:noFill/>
          <a:ln/>
        </p:spPr>
        <p:txBody>
          <a:bodyPr wrap="square" lIns="0" tIns="0" rIns="0" bIns="0" rtlCol="0" anchor="ctr"/>
          <a:lstStyle/>
          <a:p>
            <a:pPr indent="0" marL="0">
              <a:buNone/>
            </a:pPr>
            <a:r>
              <a:rPr lang="en-US" sz="1300" b="1" dirty="0">
                <a:solidFill>
                  <a:schemeClr val="tx2"/>
                </a:solidFill>
              </a:rPr>
              <a:t>What business users would get</a:t>
            </a:r>
            <a:endParaRPr lang="en-US" sz="1300" dirty="0"/>
          </a:p>
        </p:txBody>
      </p:sp>
      <p:sp>
        <p:nvSpPr>
          <p:cNvPr id="27" name="Text 22"/>
          <p:cNvSpPr txBox="1"/>
          <p:nvPr/>
        </p:nvSpPr>
        <p:spPr>
          <a:xfrm>
            <a:off x="8402117" y="4754880"/>
            <a:ext cx="3012338" cy="141732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1"/>
                </a:solidFill>
              </a:rPr>
              <a:t>Plain-language questions, for example "what were GM members calling about last month?"</a:t>
            </a:r>
            <a:endParaRPr lang="en-US" sz="1200" dirty="0"/>
          </a:p>
          <a:p>
            <a:pPr marL="342900" indent="-342900">
              <a:spcAft>
                <a:spcPts val="200"/>
              </a:spcAft>
              <a:buSzPct val="100000"/>
              <a:buChar char="•"/>
            </a:pPr>
            <a:r>
              <a:rPr lang="en-US" sz="1200" dirty="0">
                <a:solidFill>
                  <a:schemeClr val="tx1"/>
                </a:solidFill>
              </a:rPr>
              <a:t>Keyword search over a date range.</a:t>
            </a:r>
            <a:endParaRPr lang="en-US" sz="1200" dirty="0"/>
          </a:p>
          <a:p>
            <a:pPr marL="342900" indent="-342900">
              <a:spcAft>
                <a:spcPts val="200"/>
              </a:spcAft>
              <a:buSzPct val="100000"/>
              <a:buChar char="•"/>
            </a:pPr>
            <a:r>
              <a:rPr lang="en-US" sz="1200" dirty="0">
                <a:solidFill>
                  <a:schemeClr val="tx1"/>
                </a:solidFill>
              </a:rPr>
              <a:t>Counts of calls that arrived on the wrong queue or were meant for another Delta Dental plan.</a:t>
            </a:r>
            <a:endParaRPr lang="en-US" sz="12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Call Analysis DDMI">
  <a:themeElements>
    <a:clrScheme name="Call Analysis DDMI">
      <a:dk1>
        <a:srgbClr val="1C2B2A"/>
      </a:dk1>
      <a:lt1>
        <a:srgbClr val="FFFFFF"/>
      </a:lt1>
      <a:dk2>
        <a:srgbClr val="0B5A3A"/>
      </a:dk2>
      <a:lt2>
        <a:srgbClr val="EEF6F1"/>
      </a:lt2>
      <a:accent1>
        <a:srgbClr val="00843D"/>
      </a:accent1>
      <a:accent2>
        <a:srgbClr val="0C2D48"/>
      </a:accent2>
      <a:accent3>
        <a:srgbClr val="7AC143"/>
      </a:accent3>
      <a:accent4>
        <a:srgbClr val="6B7280"/>
      </a:accent4>
      <a:accent5>
        <a:srgbClr val="DCEFE3"/>
      </a:accent5>
      <a:accent6>
        <a:srgbClr val="F3F4F6"/>
      </a:accent6>
      <a:hlink>
        <a:srgbClr val="00843D"/>
      </a:hlink>
      <a:folHlink>
        <a:srgbClr val="6B7280"/>
      </a:folHlink>
    </a:clrScheme>
    <a:fontScheme name="Call Analysis DDM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Call Analysis - what the business gets</dc:title>
  <dc:subject>PptxGenJS Presentation</dc:subject>
  <dc:creator>PptxGenJS</dc:creator>
  <cp:lastModifiedBy>PptxGenJS</cp:lastModifiedBy>
  <cp:revision>1</cp:revision>
  <dcterms:created xsi:type="dcterms:W3CDTF">2026-10-06T16:22:39Z</dcterms:created>
  <dcterms:modified xsi:type="dcterms:W3CDTF">2026-10-06T16:22:40Z</dcterms:modified>
</cp:coreProperties>
</file>